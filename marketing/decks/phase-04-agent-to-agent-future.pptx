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ac4d2abb94dba" /><Relationship Type="http://schemas.openxmlformats.org/officeDocument/2006/relationships/extended-properties" Target="/docProps/app.xml" Id="R222b3bf445234090" /><Relationship Type="http://schemas.openxmlformats.org/officeDocument/2006/relationships/officeDocument" Target="/ppt/presentation.xml" Id="Rae957ec5a6b0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8d34c00a8c4f7b"/>
  </p:sldMasterIdLst>
  <p:notesMasterIdLst>
    <p:notesMasterId xmlns:r="http://schemas.openxmlformats.org/officeDocument/2006/relationships" r:id="R29e3a6f47b184920"/>
  </p:notesMasterIdLst>
  <p:sldIdLst>
    <p:sldId xmlns:r="http://schemas.openxmlformats.org/officeDocument/2006/relationships" id="256" r:id="Rec23c7c42f564963"/>
    <p:sldId xmlns:r="http://schemas.openxmlformats.org/officeDocument/2006/relationships" id="257" r:id="R79cb1c69a8e6437e"/>
    <p:sldId xmlns:r="http://schemas.openxmlformats.org/officeDocument/2006/relationships" id="258" r:id="R8d817944c69e4248"/>
    <p:sldId xmlns:r="http://schemas.openxmlformats.org/officeDocument/2006/relationships" id="259" r:id="R9a76a146d40f48d1"/>
    <p:sldId xmlns:r="http://schemas.openxmlformats.org/officeDocument/2006/relationships" id="260" r:id="R6dcd3f44901e4057"/>
    <p:sldId xmlns:r="http://schemas.openxmlformats.org/officeDocument/2006/relationships" id="261" r:id="Ra8dac5a1ced042a4"/>
    <p:sldId xmlns:r="http://schemas.openxmlformats.org/officeDocument/2006/relationships" id="262" r:id="R3fafa19a1fd642b9"/>
    <p:sldId xmlns:r="http://schemas.openxmlformats.org/officeDocument/2006/relationships" id="263" r:id="R0075517ffa2a4d52"/>
    <p:sldId xmlns:r="http://schemas.openxmlformats.org/officeDocument/2006/relationships" id="264" r:id="R8f131c9a39e24d9d"/>
    <p:sldId xmlns:r="http://schemas.openxmlformats.org/officeDocument/2006/relationships" id="265" r:id="R87bf877d1def4fd6"/>
    <p:sldId xmlns:r="http://schemas.openxmlformats.org/officeDocument/2006/relationships" id="266" r:id="Rce76f90034f54df3"/>
    <p:sldId xmlns:r="http://schemas.openxmlformats.org/officeDocument/2006/relationships" id="267" r:id="R9187a1bb8b314ff3"/>
    <p:sldId xmlns:r="http://schemas.openxmlformats.org/officeDocument/2006/relationships" id="268" r:id="Ra7609bd5db2b4a5b"/>
    <p:sldId xmlns:r="http://schemas.openxmlformats.org/officeDocument/2006/relationships" id="269" r:id="Rffb83240a0314b70"/>
    <p:sldId xmlns:r="http://schemas.openxmlformats.org/officeDocument/2006/relationships" id="270" r:id="R3107b42aab254cc8"/>
    <p:sldId xmlns:r="http://schemas.openxmlformats.org/officeDocument/2006/relationships" id="271" r:id="R077b4de2decc47cf"/>
    <p:sldId xmlns:r="http://schemas.openxmlformats.org/officeDocument/2006/relationships" id="272" r:id="R3f1ac92b01c1454f"/>
    <p:sldId xmlns:r="http://schemas.openxmlformats.org/officeDocument/2006/relationships" id="273" r:id="R33abe2d247704534"/>
    <p:sldId xmlns:r="http://schemas.openxmlformats.org/officeDocument/2006/relationships" id="274" r:id="R2f4fd0d305314264"/>
    <p:sldId xmlns:r="http://schemas.openxmlformats.org/officeDocument/2006/relationships" id="275" r:id="Rd1e3c4118f344175"/>
    <p:sldId xmlns:r="http://schemas.openxmlformats.org/officeDocument/2006/relationships" id="276" r:id="Rf21b91f3f6de4ff7"/>
    <p:sldId xmlns:r="http://schemas.openxmlformats.org/officeDocument/2006/relationships" id="277" r:id="R2622a11759d04d8c"/>
    <p:sldId xmlns:r="http://schemas.openxmlformats.org/officeDocument/2006/relationships" id="278" r:id="Rb568964de7b94aff"/>
    <p:sldId xmlns:r="http://schemas.openxmlformats.org/officeDocument/2006/relationships" id="279" r:id="Re17f88ffba6245e4"/>
    <p:sldId xmlns:r="http://schemas.openxmlformats.org/officeDocument/2006/relationships" id="280" r:id="R5ca4713716374a93"/>
    <p:sldId xmlns:r="http://schemas.openxmlformats.org/officeDocument/2006/relationships" id="281" r:id="R88029d2917ef462b"/>
    <p:sldId xmlns:r="http://schemas.openxmlformats.org/officeDocument/2006/relationships" id="282" r:id="Reda2f0fa003047cd"/>
    <p:sldId xmlns:r="http://schemas.openxmlformats.org/officeDocument/2006/relationships" id="283" r:id="R8d64b26262214ed3"/>
    <p:sldId xmlns:r="http://schemas.openxmlformats.org/officeDocument/2006/relationships" id="284" r:id="Re7b6882c3cfc41ca"/>
    <p:sldId xmlns:r="http://schemas.openxmlformats.org/officeDocument/2006/relationships" id="285" r:id="Rd98820eeb6b04478"/>
    <p:sldId xmlns:r="http://schemas.openxmlformats.org/officeDocument/2006/relationships" id="286" r:id="R0bdc663102074189"/>
    <p:sldId xmlns:r="http://schemas.openxmlformats.org/officeDocument/2006/relationships" id="287" r:id="R40b9590d7762439e"/>
    <p:sldId xmlns:r="http://schemas.openxmlformats.org/officeDocument/2006/relationships" id="288" r:id="R276a70ff20d74a79"/>
    <p:sldId xmlns:r="http://schemas.openxmlformats.org/officeDocument/2006/relationships" id="289" r:id="R9e29757849b34fb9"/>
    <p:sldId xmlns:r="http://schemas.openxmlformats.org/officeDocument/2006/relationships" id="290" r:id="R67cf6037432c4bf3"/>
    <p:sldId xmlns:r="http://schemas.openxmlformats.org/officeDocument/2006/relationships" id="291" r:id="Re34621b07d2e4a62"/>
    <p:sldId xmlns:r="http://schemas.openxmlformats.org/officeDocument/2006/relationships" id="292" r:id="R85ee994c921344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3c7e86a38d4146" /><Relationship Type="http://schemas.openxmlformats.org/officeDocument/2006/relationships/slideMaster" Target="/ppt/slideMasters/slideMaster1.xml" Id="R078d34c00a8c4f7b" /><Relationship Type="http://schemas.openxmlformats.org/officeDocument/2006/relationships/notesMaster" Target="/ppt/notesMasters/notesMaster1.xml" Id="R29e3a6f47b184920" /><Relationship Type="http://schemas.openxmlformats.org/officeDocument/2006/relationships/presProps" Target="/ppt/presProps.xml" Id="R93eb750947d44b3a" /><Relationship Type="http://schemas.openxmlformats.org/officeDocument/2006/relationships/tableStyles" Target="/ppt/tableStyles.xml" Id="Rf0d43889f31f4301" /><Relationship Type="http://schemas.openxmlformats.org/officeDocument/2006/relationships/slide" Target="/ppt/slides/slide1.xml" Id="Rec23c7c42f564963" /><Relationship Type="http://schemas.openxmlformats.org/officeDocument/2006/relationships/slide" Target="/ppt/slides/slide2.xml" Id="R79cb1c69a8e6437e" /><Relationship Type="http://schemas.openxmlformats.org/officeDocument/2006/relationships/slide" Target="/ppt/slides/slide3.xml" Id="R8d817944c69e4248" /><Relationship Type="http://schemas.openxmlformats.org/officeDocument/2006/relationships/slide" Target="/ppt/slides/slide4.xml" Id="R9a76a146d40f48d1" /><Relationship Type="http://schemas.openxmlformats.org/officeDocument/2006/relationships/slide" Target="/ppt/slides/slide5.xml" Id="R6dcd3f44901e4057" /><Relationship Type="http://schemas.openxmlformats.org/officeDocument/2006/relationships/slide" Target="/ppt/slides/slide6.xml" Id="Ra8dac5a1ced042a4" /><Relationship Type="http://schemas.openxmlformats.org/officeDocument/2006/relationships/slide" Target="/ppt/slides/slide7.xml" Id="R3fafa19a1fd642b9" /><Relationship Type="http://schemas.openxmlformats.org/officeDocument/2006/relationships/slide" Target="/ppt/slides/slide8.xml" Id="R0075517ffa2a4d52" /><Relationship Type="http://schemas.openxmlformats.org/officeDocument/2006/relationships/slide" Target="/ppt/slides/slide9.xml" Id="R8f131c9a39e24d9d" /><Relationship Type="http://schemas.openxmlformats.org/officeDocument/2006/relationships/slide" Target="/ppt/slides/slide10.xml" Id="R87bf877d1def4fd6" /><Relationship Type="http://schemas.openxmlformats.org/officeDocument/2006/relationships/slide" Target="/ppt/slides/slide11.xml" Id="Rce76f90034f54df3" /><Relationship Type="http://schemas.openxmlformats.org/officeDocument/2006/relationships/slide" Target="/ppt/slides/slide12.xml" Id="R9187a1bb8b314ff3" /><Relationship Type="http://schemas.openxmlformats.org/officeDocument/2006/relationships/slide" Target="/ppt/slides/slide13.xml" Id="Ra7609bd5db2b4a5b" /><Relationship Type="http://schemas.openxmlformats.org/officeDocument/2006/relationships/slide" Target="/ppt/slides/slide14.xml" Id="Rffb83240a0314b70" /><Relationship Type="http://schemas.openxmlformats.org/officeDocument/2006/relationships/slide" Target="/ppt/slides/slide15.xml" Id="R3107b42aab254cc8" /><Relationship Type="http://schemas.openxmlformats.org/officeDocument/2006/relationships/slide" Target="/ppt/slides/slide16.xml" Id="R077b4de2decc47cf" /><Relationship Type="http://schemas.openxmlformats.org/officeDocument/2006/relationships/slide" Target="/ppt/slides/slide17.xml" Id="R3f1ac92b01c1454f" /><Relationship Type="http://schemas.openxmlformats.org/officeDocument/2006/relationships/slide" Target="/ppt/slides/slide18.xml" Id="R33abe2d247704534" /><Relationship Type="http://schemas.openxmlformats.org/officeDocument/2006/relationships/slide" Target="/ppt/slides/slide19.xml" Id="R2f4fd0d305314264" /><Relationship Type="http://schemas.openxmlformats.org/officeDocument/2006/relationships/slide" Target="/ppt/slides/slide20.xml" Id="Rd1e3c4118f344175" /><Relationship Type="http://schemas.openxmlformats.org/officeDocument/2006/relationships/slide" Target="/ppt/slides/slide21.xml" Id="Rf21b91f3f6de4ff7" /><Relationship Type="http://schemas.openxmlformats.org/officeDocument/2006/relationships/slide" Target="/ppt/slides/slide22.xml" Id="R2622a11759d04d8c" /><Relationship Type="http://schemas.openxmlformats.org/officeDocument/2006/relationships/slide" Target="/ppt/slides/slide23.xml" Id="Rb568964de7b94aff" /><Relationship Type="http://schemas.openxmlformats.org/officeDocument/2006/relationships/slide" Target="/ppt/slides/slide24.xml" Id="Re17f88ffba6245e4" /><Relationship Type="http://schemas.openxmlformats.org/officeDocument/2006/relationships/slide" Target="/ppt/slides/slide25.xml" Id="R5ca4713716374a93" /><Relationship Type="http://schemas.openxmlformats.org/officeDocument/2006/relationships/slide" Target="/ppt/slides/slide26.xml" Id="R88029d2917ef462b" /><Relationship Type="http://schemas.openxmlformats.org/officeDocument/2006/relationships/slide" Target="/ppt/slides/slide27.xml" Id="Reda2f0fa003047cd" /><Relationship Type="http://schemas.openxmlformats.org/officeDocument/2006/relationships/slide" Target="/ppt/slides/slide28.xml" Id="R8d64b26262214ed3" /><Relationship Type="http://schemas.openxmlformats.org/officeDocument/2006/relationships/slide" Target="/ppt/slides/slide29.xml" Id="Re7b6882c3cfc41ca" /><Relationship Type="http://schemas.openxmlformats.org/officeDocument/2006/relationships/slide" Target="/ppt/slides/slide30.xml" Id="Rd98820eeb6b04478" /><Relationship Type="http://schemas.openxmlformats.org/officeDocument/2006/relationships/slide" Target="/ppt/slides/slide31.xml" Id="R0bdc663102074189" /><Relationship Type="http://schemas.openxmlformats.org/officeDocument/2006/relationships/slide" Target="/ppt/slides/slide32.xml" Id="R40b9590d7762439e" /><Relationship Type="http://schemas.openxmlformats.org/officeDocument/2006/relationships/slide" Target="/ppt/slides/slide33.xml" Id="R276a70ff20d74a79" /><Relationship Type="http://schemas.openxmlformats.org/officeDocument/2006/relationships/slide" Target="/ppt/slides/slide34.xml" Id="R9e29757849b34fb9" /><Relationship Type="http://schemas.openxmlformats.org/officeDocument/2006/relationships/slide" Target="/ppt/slides/slide35.xml" Id="R67cf6037432c4bf3" /><Relationship Type="http://schemas.openxmlformats.org/officeDocument/2006/relationships/slide" Target="/ppt/slides/slide36.xml" Id="Re34621b07d2e4a62" /><Relationship Type="http://schemas.openxmlformats.org/officeDocument/2006/relationships/slide" Target="/ppt/slides/slide37.xml" Id="R85ee994c9213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5d6c9c7a0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7616f77904c1a" /><Relationship Type="http://schemas.openxmlformats.org/officeDocument/2006/relationships/notesMaster" Target="/ppt/notesMasters/notesMaster1.xml" Id="R6c75d5981188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4e96246e14365" /><Relationship Type="http://schemas.openxmlformats.org/officeDocument/2006/relationships/notesMaster" Target="/ppt/notesMasters/notesMaster1.xml" Id="R7bb6add6e4994e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7ff99372874b16" /><Relationship Type="http://schemas.openxmlformats.org/officeDocument/2006/relationships/notesMaster" Target="/ppt/notesMasters/notesMaster1.xml" Id="R6464e625ccf542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310511ae048b1" /><Relationship Type="http://schemas.openxmlformats.org/officeDocument/2006/relationships/notesMaster" Target="/ppt/notesMasters/notesMaster1.xml" Id="Ra44b27c6355542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965a39dc0448e" /><Relationship Type="http://schemas.openxmlformats.org/officeDocument/2006/relationships/notesMaster" Target="/ppt/notesMasters/notesMaster1.xml" Id="Rfbe92605ac44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0bad9f114942c5" /><Relationship Type="http://schemas.openxmlformats.org/officeDocument/2006/relationships/notesMaster" Target="/ppt/notesMasters/notesMaster1.xml" Id="R1372ff94149f4f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0d7b122df4289" /><Relationship Type="http://schemas.openxmlformats.org/officeDocument/2006/relationships/notesMaster" Target="/ppt/notesMasters/notesMaster1.xml" Id="R460fb29056ce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df952b1314350" /><Relationship Type="http://schemas.openxmlformats.org/officeDocument/2006/relationships/notesMaster" Target="/ppt/notesMasters/notesMaster1.xml" Id="R1fb27b175df5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d4db919ccd4ab2" /><Relationship Type="http://schemas.openxmlformats.org/officeDocument/2006/relationships/notesMaster" Target="/ppt/notesMasters/notesMaster1.xml" Id="Rfffde72e71d343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847df66f7041ba" /><Relationship Type="http://schemas.openxmlformats.org/officeDocument/2006/relationships/notesMaster" Target="/ppt/notesMasters/notesMaster1.xml" Id="R6104f69bc8824d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53eeca8324f6d" /><Relationship Type="http://schemas.openxmlformats.org/officeDocument/2006/relationships/notesMaster" Target="/ppt/notesMasters/notesMaster1.xml" Id="Re6971509dfd948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f0c1d02c0743cc" /><Relationship Type="http://schemas.openxmlformats.org/officeDocument/2006/relationships/notesMaster" Target="/ppt/notesMasters/notesMaster1.xml" Id="Re08be75f618c41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b9493d02f44c0b" /><Relationship Type="http://schemas.openxmlformats.org/officeDocument/2006/relationships/notesMaster" Target="/ppt/notesMasters/notesMaster1.xml" Id="R56e3b6383e164a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574979cbf44c71" /><Relationship Type="http://schemas.openxmlformats.org/officeDocument/2006/relationships/notesMaster" Target="/ppt/notesMasters/notesMaster1.xml" Id="R06b67589b60a42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20ed14498c4806" /><Relationship Type="http://schemas.openxmlformats.org/officeDocument/2006/relationships/notesMaster" Target="/ppt/notesMasters/notesMaster1.xml" Id="R8364f147086d42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06f8d8abdd4b9a" /><Relationship Type="http://schemas.openxmlformats.org/officeDocument/2006/relationships/notesMaster" Target="/ppt/notesMasters/notesMaster1.xml" Id="Rcb6231f8237f47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79c3600c414f84" /><Relationship Type="http://schemas.openxmlformats.org/officeDocument/2006/relationships/notesMaster" Target="/ppt/notesMasters/notesMaster1.xml" Id="R4ddc12af223a4c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123a554e99421b" /><Relationship Type="http://schemas.openxmlformats.org/officeDocument/2006/relationships/notesMaster" Target="/ppt/notesMasters/notesMaster1.xml" Id="R9f2cefd1f41045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82a3d7e51d4394" /><Relationship Type="http://schemas.openxmlformats.org/officeDocument/2006/relationships/notesMaster" Target="/ppt/notesMasters/notesMaster1.xml" Id="Re7f1c5f6f76b4f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bf3e6e36c647b8" /><Relationship Type="http://schemas.openxmlformats.org/officeDocument/2006/relationships/notesMaster" Target="/ppt/notesMasters/notesMaster1.xml" Id="R5f215df8a83345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be9f74f8224222" /><Relationship Type="http://schemas.openxmlformats.org/officeDocument/2006/relationships/notesMaster" Target="/ppt/notesMasters/notesMaster1.xml" Id="R56ece1c5dc884f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802d09d4284afa" /><Relationship Type="http://schemas.openxmlformats.org/officeDocument/2006/relationships/notesMaster" Target="/ppt/notesMasters/notesMaster1.xml" Id="R17cd119548dd43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5e376635ed447a" /><Relationship Type="http://schemas.openxmlformats.org/officeDocument/2006/relationships/notesMaster" Target="/ppt/notesMasters/notesMaster1.xml" Id="Rfe6200ea733e42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4c6275134349be" /><Relationship Type="http://schemas.openxmlformats.org/officeDocument/2006/relationships/notesMaster" Target="/ppt/notesMasters/notesMaster1.xml" Id="Re38e96af59c44c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4c158e8eb94360" /><Relationship Type="http://schemas.openxmlformats.org/officeDocument/2006/relationships/notesMaster" Target="/ppt/notesMasters/notesMaster1.xml" Id="Rd9354c29f72244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8d37ca0e39411c" /><Relationship Type="http://schemas.openxmlformats.org/officeDocument/2006/relationships/notesMaster" Target="/ppt/notesMasters/notesMaster1.xml" Id="Rfb825800f8ee46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729cf4ce87404a" /><Relationship Type="http://schemas.openxmlformats.org/officeDocument/2006/relationships/notesMaster" Target="/ppt/notesMasters/notesMaster1.xml" Id="R1aa2d07991f64f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ea0932ccc84b85" /><Relationship Type="http://schemas.openxmlformats.org/officeDocument/2006/relationships/notesMaster" Target="/ppt/notesMasters/notesMaster1.xml" Id="R0cc72015f2c54de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0bb40cd9b94388" /><Relationship Type="http://schemas.openxmlformats.org/officeDocument/2006/relationships/notesMaster" Target="/ppt/notesMasters/notesMaster1.xml" Id="R888c4dd0831a45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8fe0024cec40d6" /><Relationship Type="http://schemas.openxmlformats.org/officeDocument/2006/relationships/notesMaster" Target="/ppt/notesMasters/notesMaster1.xml" Id="R79ebaa80177347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b360783d7447a1" /><Relationship Type="http://schemas.openxmlformats.org/officeDocument/2006/relationships/notesMaster" Target="/ppt/notesMasters/notesMaster1.xml" Id="R845f026793ff4cf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11c09515e854b8f" /><Relationship Type="http://schemas.openxmlformats.org/officeDocument/2006/relationships/notesMaster" Target="/ppt/notesMasters/notesMaster1.xml" Id="R16106eebb0454a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cfb89a110a4034" /><Relationship Type="http://schemas.openxmlformats.org/officeDocument/2006/relationships/notesMaster" Target="/ppt/notesMasters/notesMaster1.xml" Id="R3ef8263355f34d9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33fccbf3c44721" /><Relationship Type="http://schemas.openxmlformats.org/officeDocument/2006/relationships/notesMaster" Target="/ppt/notesMasters/notesMaster1.xml" Id="Rd0382e869a224a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ac4b7a32fb4a92" /><Relationship Type="http://schemas.openxmlformats.org/officeDocument/2006/relationships/notesMaster" Target="/ppt/notesMasters/notesMaster1.xml" Id="R9a246a97db164c8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4e897dde9749a2" /><Relationship Type="http://schemas.openxmlformats.org/officeDocument/2006/relationships/notesMaster" Target="/ppt/notesMasters/notesMaster1.xml" Id="R6acdd6d0a31f4f7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25d4facfed44283" /><Relationship Type="http://schemas.openxmlformats.org/officeDocument/2006/relationships/notesMaster" Target="/ppt/notesMasters/notesMaster1.xml" Id="R6aed49672103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This phase is about a change in how companies are reached. Websites made companies reachable by people. Agent interfaces will make companies reachable by software acting for those people and for other companies.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If a customer’s agent arrived at your company tomorrow, what could it actually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Before protocols, make the visitor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Give learners the map before the details. The flow begins with a business change, then distinguishes tools from agents, then reaches markets and protocols, and ends in a working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Start with the visitor.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Do not define protocols yet. Establish the business change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would an outside agent want from your company?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Compare today’s human visit with tomorrow’s agent visit.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 person can tolerate presentation chrome and ambiguity. They translate the website into a request, and an employee supplies missing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Where does your website depend on a human to interpret or complete the process?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replace the visitor with an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outside agent needs a machine-readable front door. The company agent needs controlled access to company systems and a clear authority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should an outside agent be able to discover without talking to a person?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Begin with the smallest useful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Content negotiation is the easy first move. Return Markdown or structured data with provenance, timestamps, policies, price, and the next allowed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page or process at your company should have a clean agent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But readable information is not yet a business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 document endpoint lets an agent read. A company agent can participate in a continuing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column describes your current website?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distinguish a capability from an independent 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protocol distinction becomes easy when you start with the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Show the MCP example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MCP connects an AI application to tools, data, prompts, and resources. The host remains the controller of the broader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other company capabilities fit this pattern?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compare delegated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A2A connects independent agentic applications. One agent delegates a goal; the remote agent decides how to work and may maintain a longer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If the remote system chooses how to complete the goal, does it feel like a tool or a counterparty?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State the durable distinction.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- https://a2a-protocol.org/latest/topics/key-concepts/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Do not teach one-way versus two-way. MCP includes notifications, elicitation, sampling, and streaming. Teach capability invocation versus delegated agency.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Put agents on both sides of a real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Employment makes identity, evidence, consent, attention, and human escalation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Start with the two representatives.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personal agent carries goals and evidence. The company agent carries opportunities and policy. Both must be authorized, limited,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could each agent do automatically, and what requires a human?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Walk through a good-fit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This is not scattershot submission. The agents qualify the relationship, request evidence, and escalate only after a substantive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evidence should a company request before spending a recruiter’s time?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Contrast this with closed-platform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LinkedIn and Indeed restrict forms of unauthorized automation. Those policies illustrate why an agent-native market must be built deliberately rather than reached through prohibited scraping.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protections from today’s platforms should an agent-native market preserve?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expose the attention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https://www.linkedin.com/help/linkedin/answer/a1341387</a:t>
            </a:r>
          </a:p>
          <a:p xmlns:a="http://schemas.openxmlformats.org/drawingml/2006/main">
            <a:r>
              <a:t>- https://docs.indeed.com/legal-terms/developer-agreement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number is an example of scattershot behavior, not a measured industry statistic. The economic point is that near-zero sending cost transfers filtering cost to recipients.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should happen to an agent that repeatedly sends low-fit requests?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Define what good behavior means.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Do not score only activity or response rate. Market conditions matter. Focus on relevance, evidence, respect for boundaries, and recipient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signal is hardest to game?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Attach reputation to the right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 bad configuration should be correctable without permanently branding a human. A provider enabling systematic abuse should not escape accountability by rotating agent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Whose reputation changes in each failure scenario?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Move from employment to ordinary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Employment is not special. The same delegated relationship appears in billing, procurement, support, and fulfillment.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Read the vendor dialogue.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Read this aloud. The exchange includes identity, context, evidence, policy, commitments, payment, ordering, and fulfillment.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lines are information, delegated work, authorization, payment, evidence, or commitment?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Show the relationship behind the dialogue.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A2A carries part of the work relationship. It does not solve every layer. The business must still design identity, authority, transaction rules,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give each protocol one clear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audience now has enough context for the acronyms to mean something.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Start with the full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Give each acronym one job. They are complementary rather than competing standards.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Zoom into A2A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https://github.com/google-agentic-commerce/AP2</a:t>
            </a:r>
          </a:p>
          <a:p xmlns:a="http://schemas.openxmlformats.org/drawingml/2006/main">
            <a:r>
              <a:t>- https://docs.cdp.coinbase.com/x402/core-concepts/how-it-works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A2A standardizes discovery through Agent Cards and communication through messages and tasks. A task can maintain state and return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fields would your company put in its public Agent Card?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Show the task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https://a2a-protocol.org/latest/topics/agent-discovery/</a:t>
            </a:r>
          </a:p>
          <a:p xmlns:a="http://schemas.openxmlformats.org/drawingml/2006/main">
            <a:r>
              <a:t>- https://a2a-protocol.org/latest/topics/key-concepts/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A2A supports messages, tasks, state, streaming, polling, and push-style updates depending on binding and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Where might a human need to enter this lifecycle?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Show the internal tool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https://a2a-protocol.org/latest/topics/key-concepts/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An A2A agent will often use MCP internally. The protocols solve different layers and commonly appear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separate authorization from payment.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AP2-style mandates prove delegated intent and limits. x402 is an HTTP-native payment handshake. x402 is one possible settlement rail; authorization can sit above many rails.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layer should block a $500 purchase when the wallet can pay but the mandate allows only $100?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Make the payment flow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https://github.com/google-agentic-commerce/AP2</a:t>
            </a:r>
          </a:p>
          <a:p xmlns:a="http://schemas.openxmlformats.org/drawingml/2006/main">
            <a:r>
              <a:t>- https://developers.googleblog.com/en/developers-guide-to-ai-agent-protocols/</a:t>
            </a:r>
          </a:p>
          <a:p xmlns:a="http://schemas.openxmlformats.org/drawingml/2006/main">
            <a:r>
              <a:t>- https://docs.cdp.coinbase.com/x402/core-concepts/how-it-works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Narrate the request, 402 challenge, authorization decision, signed retry, and returned resource. In our demo, the proof and settlement are mocked.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Show how the human remains in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https://docs.cdp.coinbase.com/x402/core-concepts/how-it-works</a:t>
            </a:r>
          </a:p>
          <a:p xmlns:a="http://schemas.openxmlformats.org/drawingml/2006/main">
            <a:r>
              <a:t>- https://github.com/google-agentic-commerce/AP2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AG-UI is the human-facing event layer in this curriculum. The principle matters even if the implementation uses a different event transport: show work, state, errors, and intervention.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must a human be able to stop?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connect the layers to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protocol discussion now has a concrete system to attach 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Introduce the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Name the five processes and their boundaries. Independent ports make failure and communication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service represents the user, and which represents a paid vendor?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Begin with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An Agent Card is a machine-readable business card. Discovery is not magical internet search; the client still needs a strategy for finding candidate domains or registries.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claim in an Agent Card would you want independently verified?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Send the dinner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https://a2a-protocol.org/latest/topics/agent-discovery/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orchestrator delegates pieces of the goal. Look for structured task messages, not just labels in the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constraints must remain attached to every delegated task?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The booking agent reaches a paid resource.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Stop at the 402. Ask whether the user authorized this purpose and amount. Then make clear that the demo generates mock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should happen if the mandate is expired or already spent?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Inspect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 raw exchange is the evidence. Identify source, target, method, parameters, state, result, authorization, and payment challenge.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If the UI said payment succeeded but there were no 402 and retry events, would you believe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Transfer the model to the learner’s company.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These questions are the production design checklist. Protocol selection comes after the business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Which one is currently least clear at your company?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Choose a narrow first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Close by asking every learner to complete the sentence. Prefer a reversible, observable capability such as invoice status, quote request, candidate qualification, support intake, scheduling, or order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</a:t>
            </a:r>
          </a:p>
          <a:p xmlns:a="http://schemas.openxmlformats.org/drawingml/2006/main">
            <a:r>
              <a:t>What should your company build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https://a2a-protocol.org/latest/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54791a4b140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3dcf960c843a4" /><Relationship Type="http://schemas.openxmlformats.org/officeDocument/2006/relationships/slideLayout" Target="/ppt/slideLayouts/slideLayout1.xml" Id="R556ffbb976e9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6ffbb976e9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a5624b484841" /><Relationship Type="http://schemas.openxmlformats.org/officeDocument/2006/relationships/notesSlide" Target="/ppt/notesSlides/notesSlide1.xml" Id="Rcb2cfeaf34c7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c6b48f834789" /><Relationship Type="http://schemas.openxmlformats.org/officeDocument/2006/relationships/notesSlide" Target="/ppt/notesSlides/notesSlide2.xml" Id="R589457a6d5e5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497e53f14886" /><Relationship Type="http://schemas.openxmlformats.org/officeDocument/2006/relationships/notesSlide" Target="/ppt/notesSlides/notesSlide3.xml" Id="R00b3535ffa40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6ab568ed4a6a" /><Relationship Type="http://schemas.openxmlformats.org/officeDocument/2006/relationships/notesSlide" Target="/ppt/notesSlides/notesSlide4.xml" Id="Reed2f916d5c54b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250bc21d4c8b" /><Relationship Type="http://schemas.openxmlformats.org/officeDocument/2006/relationships/notesSlide" Target="/ppt/notesSlides/notesSlide5.xml" Id="R36f5af0e27ee4b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0de1536024e61" /><Relationship Type="http://schemas.openxmlformats.org/officeDocument/2006/relationships/notesSlide" Target="/ppt/notesSlides/notesSlide6.xml" Id="R45bb234246e7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cabf38df4d27" /><Relationship Type="http://schemas.openxmlformats.org/officeDocument/2006/relationships/notesSlide" Target="/ppt/notesSlides/notesSlide7.xml" Id="Reff9aff84290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5341f84bb4c65" /><Relationship Type="http://schemas.openxmlformats.org/officeDocument/2006/relationships/notesSlide" Target="/ppt/notesSlides/notesSlide8.xml" Id="Rfd52c40ab3ef40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8425bede34298" /><Relationship Type="http://schemas.openxmlformats.org/officeDocument/2006/relationships/notesSlide" Target="/ppt/notesSlides/notesSlide9.xml" Id="R7d48893a5d9c4d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c0f93ff74e09" /><Relationship Type="http://schemas.openxmlformats.org/officeDocument/2006/relationships/notesSlide" Target="/ppt/notesSlides/notesSlide10.xml" Id="Re964bb42392847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3ec1fb43b4cc7" /><Relationship Type="http://schemas.openxmlformats.org/officeDocument/2006/relationships/notesSlide" Target="/ppt/notesSlides/notesSlide11.xml" Id="Reb2edf701e8448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1c7e40a08490e" /><Relationship Type="http://schemas.openxmlformats.org/officeDocument/2006/relationships/notesSlide" Target="/ppt/notesSlides/notesSlide12.xml" Id="R1e95b674e6f049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4d8e5e91249b0" /><Relationship Type="http://schemas.openxmlformats.org/officeDocument/2006/relationships/notesSlide" Target="/ppt/notesSlides/notesSlide13.xml" Id="Rd3bb22c1242841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d7a9f5e542c4" /><Relationship Type="http://schemas.openxmlformats.org/officeDocument/2006/relationships/notesSlide" Target="/ppt/notesSlides/notesSlide14.xml" Id="Rf032fe19b3a841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adbdbc0194df3" /><Relationship Type="http://schemas.openxmlformats.org/officeDocument/2006/relationships/notesSlide" Target="/ppt/notesSlides/notesSlide15.xml" Id="Rb8b2dc0483aa47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68a08101a4f7c" /><Relationship Type="http://schemas.openxmlformats.org/officeDocument/2006/relationships/notesSlide" Target="/ppt/notesSlides/notesSlide16.xml" Id="R11a70cc9653042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e80fcce3646cf" /><Relationship Type="http://schemas.openxmlformats.org/officeDocument/2006/relationships/notesSlide" Target="/ppt/notesSlides/notesSlide17.xml" Id="Ra6883188f46242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f803850745c1" /><Relationship Type="http://schemas.openxmlformats.org/officeDocument/2006/relationships/notesSlide" Target="/ppt/notesSlides/notesSlide18.xml" Id="Rfec2bcce543a48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632ed74954d3c" /><Relationship Type="http://schemas.openxmlformats.org/officeDocument/2006/relationships/notesSlide" Target="/ppt/notesSlides/notesSlide19.xml" Id="R390b83f46c194b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94a12b6504eec" /><Relationship Type="http://schemas.openxmlformats.org/officeDocument/2006/relationships/notesSlide" Target="/ppt/notesSlides/notesSlide20.xml" Id="R13aff80247ab44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6e91763e94369" /><Relationship Type="http://schemas.openxmlformats.org/officeDocument/2006/relationships/notesSlide" Target="/ppt/notesSlides/notesSlide21.xml" Id="R3fffca35ec5f4c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5d7f7b72448ae" /><Relationship Type="http://schemas.openxmlformats.org/officeDocument/2006/relationships/notesSlide" Target="/ppt/notesSlides/notesSlide22.xml" Id="Rd3e55910d1f149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d2ad8072044fd" /><Relationship Type="http://schemas.openxmlformats.org/officeDocument/2006/relationships/notesSlide" Target="/ppt/notesSlides/notesSlide23.xml" Id="R7d77ffec8d5c41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0083fa6854751" /><Relationship Type="http://schemas.openxmlformats.org/officeDocument/2006/relationships/notesSlide" Target="/ppt/notesSlides/notesSlide24.xml" Id="Rb6072a12270b43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7068317914c5f" /><Relationship Type="http://schemas.openxmlformats.org/officeDocument/2006/relationships/notesSlide" Target="/ppt/notesSlides/notesSlide25.xml" Id="R7c62adb1eee340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83f588cc84677" /><Relationship Type="http://schemas.openxmlformats.org/officeDocument/2006/relationships/notesSlide" Target="/ppt/notesSlides/notesSlide26.xml" Id="R5afc81878036455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18af8a6954f8d" /><Relationship Type="http://schemas.openxmlformats.org/officeDocument/2006/relationships/notesSlide" Target="/ppt/notesSlides/notesSlide27.xml" Id="Rea78dd0926fc45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f506a1dae4cd1" /><Relationship Type="http://schemas.openxmlformats.org/officeDocument/2006/relationships/notesSlide" Target="/ppt/notesSlides/notesSlide28.xml" Id="Rb175e569f01c47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1f4d607194b22" /><Relationship Type="http://schemas.openxmlformats.org/officeDocument/2006/relationships/notesSlide" Target="/ppt/notesSlides/notesSlide29.xml" Id="Rbb03045f4ad54e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b6b3a47d249d5" /><Relationship Type="http://schemas.openxmlformats.org/officeDocument/2006/relationships/notesSlide" Target="/ppt/notesSlides/notesSlide30.xml" Id="R0c4320df572e42b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c9f1bcc2545a8" /><Relationship Type="http://schemas.openxmlformats.org/officeDocument/2006/relationships/notesSlide" Target="/ppt/notesSlides/notesSlide31.xml" Id="R1dfe2c0f2d46465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b79b37d9c4557" /><Relationship Type="http://schemas.openxmlformats.org/officeDocument/2006/relationships/notesSlide" Target="/ppt/notesSlides/notesSlide32.xml" Id="R3ebd30995ac04e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fca4aad24410f" /><Relationship Type="http://schemas.openxmlformats.org/officeDocument/2006/relationships/notesSlide" Target="/ppt/notesSlides/notesSlide33.xml" Id="R2296ef33e11049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4d2e4a22b4b2e" /><Relationship Type="http://schemas.openxmlformats.org/officeDocument/2006/relationships/notesSlide" Target="/ppt/notesSlides/notesSlide34.xml" Id="R1ec095594f58466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4dab7c4a44283" /><Relationship Type="http://schemas.openxmlformats.org/officeDocument/2006/relationships/notesSlide" Target="/ppt/notesSlides/notesSlide35.xml" Id="R7b7a5c3da66e4f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6204384d4ab2" /><Relationship Type="http://schemas.openxmlformats.org/officeDocument/2006/relationships/notesSlide" Target="/ppt/notesSlides/notesSlide36.xml" Id="R3a3f16370284416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a70521f744e2b" /><Relationship Type="http://schemas.openxmlformats.org/officeDocument/2006/relationships/notesSlide" Target="/ppt/notesSlides/notesSlide37.xml" Id="R08449b0d13b0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FE521-86BE-4BB3-A3CF-D0197FC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7A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7A7FF"/>
                </a:solidFill>
                <a:latin typeface="Aptos"/>
                <a:ea typeface="Aptos"/>
                <a:cs typeface="Aptos"/>
              </a:rPr>
              <a:t>PHASE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2663E-4BD8-4140-B51D-26177D96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companies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talking to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127C8-203D-4C6F-B826-F54466C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4D0E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4D0E0"/>
                </a:solidFill>
                <a:latin typeface="Aptos"/>
                <a:ea typeface="Aptos"/>
                <a:cs typeface="Aptos"/>
              </a:rPr>
              <a:t>A practical introduction to agent-to-agent business, protocols, trust, and the systems every development team will need to design.</a:t>
            </a:r>
          </a:p>
        </p:txBody>
      </p:sp>
    </p:spTree>
    <p:extLst>
      <p:ext uri="{BB962C8B-B14F-4D97-AF65-F5344CB8AC3E}">
        <p14:creationId xmlns:p14="http://schemas.microsoft.com/office/powerpoint/2010/main" val="251323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81252-3851-4786-8898-FADD5E5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B9417-F385-4C6E-A9D8-3BC34636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1484F-A12D-46E8-B352-DF3A81B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Here is the story we are going to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A0E8-123A-4CF6-A282-CB26BD4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95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AE259-E420-435B-8858-AB39250F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62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new visitor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DCFD-3138-4805-B2C3-DA7734E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An agent arrives instead of a person.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D913B-64DA-43AE-BEB2-E4943E34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9989D-AE6C-49D0-8D73-926F1085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Tool or actor?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3896-390F-4BDA-8676-4AD61DB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MCP and A2A solve different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39143-E813-4CEF-B3E6-C61B252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95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F04B0-F615-4E08-8F19-44CEFB9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38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markets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866A8-1B91-4F15-94D8-F0CDB1B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385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Jobs, vendors, customers, and attention.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FE69E-61FB-4140-B28E-04A3CFAF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95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0B884-B871-4473-9421-2D594B5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76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Trust 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24F72-1D38-4324-886C-B28EF38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Authority, payment, reputation, and visibility.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473B3-DBA2-4B06-A8DD-59F2815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95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3915B-E063-4B84-A84E-28CE15E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14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Working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FEE4F-15A7-41CA-9995-77A0A681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149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Discover, Ask, Pay, and Explore the wire.</a:t>
            </a:r>
          </a:p>
        </p:txBody>
      </p:sp>
    </p:spTree>
    <p:extLst>
      <p:ext uri="{BB962C8B-B14F-4D97-AF65-F5344CB8AC3E}">
        <p14:creationId xmlns:p14="http://schemas.microsoft.com/office/powerpoint/2010/main" val="735026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F3965-D98F-4B62-AACF-B7618B2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7A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7A7FF"/>
                </a:solidFill>
                <a:latin typeface="Aptos"/>
                <a:ea typeface="Aptos"/>
                <a:cs typeface="Aptos"/>
              </a:rPr>
              <a:t>SECTION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53BBB-89E9-4A03-AF87-E13C4252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new visitor is coming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9AB19-654C-44E2-AD05-C56A60F0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What changes when an agent—not a person—arrives at the company?</a:t>
            </a:r>
          </a:p>
        </p:txBody>
      </p:sp>
    </p:spTree>
    <p:extLst>
      <p:ext uri="{BB962C8B-B14F-4D97-AF65-F5344CB8AC3E}">
        <p14:creationId xmlns:p14="http://schemas.microsoft.com/office/powerpoint/2010/main" val="1294453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2E4E2-25D2-4E4D-A2EE-0E3CAF86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CEE2F-44BE-4966-BB38-492A283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5CE9-F267-48B0-9895-4F489BB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Today, a person translates your website into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C2A7C-702C-4220-B5CA-BD3C750B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762250" cy="31432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F565-1B1C-44D8-8D29-406446E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 visitor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EE8D9-675B-40E5-BD3A-76920133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305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Reads pages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Interprets branding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Fills forms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Calls or emails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Remembers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5169-CBAE-4786-AA9D-F5D7DFA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33750"/>
            <a:ext cx="762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24631-0A24-4F0C-ABBE-7D7CE4C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857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FFDEC-DE0A-4B3B-9B96-04A74902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Company website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83D2A-3B94-4405-820B-C0E3AC9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Navigation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Marketing copy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Documents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Forms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Contact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3B44E-CE63-40B7-9987-3AA478A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762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5F363-BB17-4F26-9570-CB274516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952750" cy="3143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1EAD0-89BC-429B-AEAC-2FED30F8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 employee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72216-B7AE-4B8E-A5E2-449CBD8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95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Qualifies request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Answers questions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Applies policy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Makes commitments</a:t>
            </a:r>
          </a:p>
        </p:txBody>
      </p:sp>
    </p:spTree>
    <p:extLst>
      <p:ext uri="{BB962C8B-B14F-4D97-AF65-F5344CB8AC3E}">
        <p14:creationId xmlns:p14="http://schemas.microsoft.com/office/powerpoint/2010/main" val="516662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DFE7B-C824-4AE5-93DD-A16817FD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071AF-2021-4CE0-9493-401FB7C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1E1C-A4D4-4C32-93F3-D29D816D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Soon, an agent will expect a company it can understand and engage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75EE1-37E3-463C-9ACF-BD05E61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857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CC404-E127-4E7A-A189-583ADE0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Customer’s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A6568-9FE3-4274-8425-FD76EB6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400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Represents a person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Carries goals and constraints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Expects structured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400D3-5602-4DF3-B433-DC8052A8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762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87707-2C24-4290-A110-90BA3FC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3048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3571B-D0F9-4725-B9D1-B164DE9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05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Company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4ED1D-A7F0-4D2C-873A-0E0726A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25908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Publishes capabilities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Qualifies requests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Maintains task state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Applies policy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Escalates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8D52C-52C4-4C71-A617-00DDD42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714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806AC-FBAC-41F8-AEF2-DA9C3D3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714625" cy="28575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1D799-A297-45B4-A490-2BECE0DF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05050"/>
            <a:ext cx="225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Company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96C73-498C-4F62-A7C5-DE83BA8C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62250"/>
            <a:ext cx="225742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CRM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Inventory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Billing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Support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</p:spTree>
    <p:extLst>
      <p:ext uri="{BB962C8B-B14F-4D97-AF65-F5344CB8AC3E}">
        <p14:creationId xmlns:p14="http://schemas.microsoft.com/office/powerpoint/2010/main" val="2037745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A858A-869D-44BA-A23A-B8051EB0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0161D-9A65-49F9-ABD5-29489F9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F05A7-1F9D-4398-9A50-E56A3030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first rung: give agents clean facts instead of page chrome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3D48C-BD77-4A89-A40C-B6070D6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FE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0B2C-1DC2-4478-870B-D990AE5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78151-6721-42CA-9C30-48FCA250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 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93D45-D5EE-4ACD-8579-F478343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Navigation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Hero copy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Cookie banner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Calls to action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Hidden timestamps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B438-6728-4DC4-ADF8-4A53804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95F17-9F7C-4C5E-B876-D14D74C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# Product: Widget 24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Price: $18.00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Available: 220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Updated: 2026-07-27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Policy: Net 30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Action: request_quote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7A84E-3B00-4DE6-8383-BDE1A6F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Useful result: the agent can read the company accurately.</a:t>
            </a:r>
          </a:p>
        </p:txBody>
      </p:sp>
    </p:spTree>
    <p:extLst>
      <p:ext uri="{BB962C8B-B14F-4D97-AF65-F5344CB8AC3E}">
        <p14:creationId xmlns:p14="http://schemas.microsoft.com/office/powerpoint/2010/main" val="1190886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5855C-2357-4E95-AE23-FC310EC3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E8448-FF8F-422B-AF66-12E76D3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03FFB-141F-4CAF-B1BB-8C70793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Reading the company is not the same as working with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AFE6-FAA8-4E38-BA62-EE69E893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2CFEA-72B5-4BCD-9FE8-626DF328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43EB6-122E-401C-9EC7-6783C2EF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Agent-readable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E8E47-E740-47D8-A29B-4BDE735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agent can: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find facts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compare products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discover contact paths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understand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D0908-D780-4461-BB22-AC27D3B2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Agent-operable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3BA8A-857E-426D-B4B0-000DEF0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company can: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ask qualifying questions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maintain a task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negotiate within policy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commit or decline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escalate to a human</a:t>
            </a:r>
          </a:p>
        </p:txBody>
      </p:sp>
    </p:spTree>
    <p:extLst>
      <p:ext uri="{BB962C8B-B14F-4D97-AF65-F5344CB8AC3E}">
        <p14:creationId xmlns:p14="http://schemas.microsoft.com/office/powerpoint/2010/main" val="1687525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F2B3E-947D-4B10-A0E6-084687E8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SECTION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8014B-9798-4BED-954F-A2880CF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 the other side a tool or an actor?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9A94C-7E1A-4B85-8C99-6979C9F3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This is the clearest way to understand MCP versus A2A.</a:t>
            </a:r>
          </a:p>
        </p:txBody>
      </p:sp>
    </p:spTree>
    <p:extLst>
      <p:ext uri="{BB962C8B-B14F-4D97-AF65-F5344CB8AC3E}">
        <p14:creationId xmlns:p14="http://schemas.microsoft.com/office/powerpoint/2010/main" val="1074595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EB8C1-5FDC-4360-84BF-9F090F40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E2627-E7BA-4475-9783-E0ED2C4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CE265-78E9-412B-9195-2B75669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example: “Read my unread email”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8AA19-3F64-454F-B572-7B12E2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2385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8B501-8290-4806-800D-F463E7D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My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54536-50FC-4C03-BB7A-0730C43C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781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Controls the workflow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Chooses a capability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Supplies structured arguments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29EC9-4632-45C9-9FC3-8E2BDED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8D503-E73A-45A5-864B-0213766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32385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4B0DA-F227-4784-8CC5-31E6E98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Email MCP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D61C9-BC14-4734-A286-0BBD393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781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Exposes tools and resources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Executes a bounded operation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Returns structured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E76A4-699D-42F0-B034-558537E5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The email system is a capability inside my agent’s workflow.</a:t>
            </a:r>
          </a:p>
        </p:txBody>
      </p:sp>
    </p:spTree>
    <p:extLst>
      <p:ext uri="{BB962C8B-B14F-4D97-AF65-F5344CB8AC3E}">
        <p14:creationId xmlns:p14="http://schemas.microsoft.com/office/powerpoint/2010/main" val="760506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D2630-5037-4E89-98D4-68093BE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A984C-3ECF-4E75-928D-CDD14A5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CE3B9-6DCA-47AD-8644-F381415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A2A example: “Find a qualified candidate and return with evidence”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F794A-5CEB-4BCE-A1B7-FE537E1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04800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09E64-89EC-492E-BD33-698E3F93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05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Hiring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65231-8F76-40F5-8FE7-AEEC044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2590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Delegates an outcome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Does not need the other agent’s internal tools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Tracks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19161-0B12-49AF-AA25-4F477ACD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14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E3903-12B3-4D01-B152-5BF171C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33375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F8EA-3C79-4E07-94E1-60777F5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Patron company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43DF9-DAB2-4716-AEA5-7504303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28765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Accepts the goal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Plans its own work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Asks questions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Maintains task state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Returns 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3910E-A821-4559-95EA-95B3F49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45570-C255-4DF4-A0F6-10ED756D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81250" cy="2476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D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43A76-5C35-4682-88CE-2739F69D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43175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Its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3DC47-68ED-423B-B0E0-167DE85A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0375"/>
            <a:ext cx="1924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Jobs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Policies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E7175-71A7-4618-937A-3D24A00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The remote system is a counterparty—not merely a function.</a:t>
            </a:r>
          </a:p>
        </p:txBody>
      </p:sp>
    </p:spTree>
    <p:extLst>
      <p:ext uri="{BB962C8B-B14F-4D97-AF65-F5344CB8AC3E}">
        <p14:creationId xmlns:p14="http://schemas.microsoft.com/office/powerpoint/2010/main" val="565599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1623E-BBFF-4CA9-9C82-C530BC6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050C-64C0-44CF-B9FB-B7B84BF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E2AFB-9359-4EBC-8F71-F48AF327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durable distinction is capability versus delegated agency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5412-519F-4432-A18B-2190998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EDE9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772E-6D7E-4909-BC84-F30C270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CFF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4886A-3860-4CC0-8886-8E8BA6B6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equips the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5188B-7145-4625-89EB-0F13C44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it for tools, APIs, files, databases, email, calendars, prompts, and resources.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controlling host owns the larger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BB047-1280-4E2C-A45C-32F92E5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A2A connects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357E7-9733-4E89-BAF8-6B2EF2F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it when independent actors discover each other, delegate goals, exchange messages, maintain task state, and return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36B3D-A06D-4077-AA32-686616D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MCP can be bidirectional. A2A is not simply “two-way MCP.”</a:t>
            </a:r>
          </a:p>
        </p:txBody>
      </p:sp>
    </p:spTree>
    <p:extLst>
      <p:ext uri="{BB962C8B-B14F-4D97-AF65-F5344CB8AC3E}">
        <p14:creationId xmlns:p14="http://schemas.microsoft.com/office/powerpoint/2010/main" val="276423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883F4-E3AB-4664-BA28-BB26E005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SECTION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B1884-4580-4613-AC74-E3504A1C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Put agents on both sides of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EB625-7BB8-4827-BE89-300B9C7F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Patron AI makes the future concrete: a personal agent meets a company agent.</a:t>
            </a:r>
          </a:p>
        </p:txBody>
      </p:sp>
    </p:spTree>
    <p:extLst>
      <p:ext uri="{BB962C8B-B14F-4D97-AF65-F5344CB8AC3E}">
        <p14:creationId xmlns:p14="http://schemas.microsoft.com/office/powerpoint/2010/main" val="918453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96F3D-04CB-4983-BD3C-8443141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D3841-604F-437E-B99B-9F56405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4828-AAA6-41E7-A084-D6A15A8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Patron AI begins with two authorized representatives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E4113-CC7E-4CC8-A39B-94CD64E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714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6595A-018C-4E20-A607-E4F1EB40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Candidate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50D07-2A70-4C9A-96C3-4FF822E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2575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Goals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Location and compensation constraints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Skills and evidence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Communication mandate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Human escalation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777B0-FF5B-4552-90EF-3201E132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1714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D991D-ADED-4242-9489-A3330630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714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83F0A-55E8-45F1-80A7-2CA290B2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Company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C694D-DD4C-40EF-A928-676F570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32575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Open opportunities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Qualification policy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Permitted disclosures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Evidence requests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Human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A20B1-CEEC-43D2-94AB-3198D2EF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agents represent a principal. Neither should have unlimited authority.</a:t>
            </a:r>
          </a:p>
        </p:txBody>
      </p:sp>
    </p:spTree>
    <p:extLst>
      <p:ext uri="{BB962C8B-B14F-4D97-AF65-F5344CB8AC3E}">
        <p14:creationId xmlns:p14="http://schemas.microsoft.com/office/powerpoint/2010/main" val="785520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9269D-54C0-4721-AA64-5AE05C46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9ACA1-EDBD-44EC-A5B3-465329A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F41BF-FE0A-42BF-A1F5-7690862C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good agent qualifies before it asks for human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550DF-E6B1-4BFA-8C1A-EA37CD7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F8DE1-7862-4324-8A55-B05349A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Candidate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8E70F-DB54-49F7-9373-ED07E83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“Does this role satisfy remote, compensation, and stack constraints?”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F2BA-BE82-491D-8688-16E0539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C05-4252-44EC-B305-D26E4944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76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Company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BBBDD-DEEA-4931-B605-F377B6CC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“Yes. Provide evidence for the required production experience.”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0328B-4FF3-4741-8469-64536F5B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65DB2-9ECB-4F25-B18B-1F3FE4C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Candidate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3F43C-DE4F-4FEB-B382-0A99BAE9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“Here are two verifiable projects and the candidate’s authorization to proceed.”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E8F1C-C190-4BD8-9CE4-A26495A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38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C01D3-D7D3-421F-8EE4-8253020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76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Company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DE7B3-11FE-4F56-BF43-44EF413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7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“This is a strong match. I will ask a recruiter to review it.”</a:t>
            </a:r>
          </a:p>
        </p:txBody>
      </p:sp>
    </p:spTree>
    <p:extLst>
      <p:ext uri="{BB962C8B-B14F-4D97-AF65-F5344CB8AC3E}">
        <p14:creationId xmlns:p14="http://schemas.microsoft.com/office/powerpoint/2010/main" val="51588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997ED-EA76-4E3A-A1B6-AD82D7FC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A6C57-DDFA-4DBC-B62C-AC3F5AA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42C7A-6200-42FD-90B6-193AE71C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Patron AI is not a better scraper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3286-6680-4C38-BC69-12B5899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FE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50570-2063-485A-A1F5-EA425CB1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99242-F8BD-4C22-B892-D0868B77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Unauthorized 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ADC90-D005-4FB3-A3EB-823057FC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Scrapes closed platforms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Automates messages without permission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Circumvents product limits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Creates privacy and spam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F5E1F-979B-4589-98BA-196A094B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Agent-native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F8F7B-6135-4CC6-A1BC-CDAE1C34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Publishes supported interfaces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Authenticates representation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Defines recipient controls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Tracks reputation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Provides correction and appeals</a:t>
            </a:r>
          </a:p>
        </p:txBody>
      </p:sp>
    </p:spTree>
    <p:extLst>
      <p:ext uri="{BB962C8B-B14F-4D97-AF65-F5344CB8AC3E}">
        <p14:creationId xmlns:p14="http://schemas.microsoft.com/office/powerpoint/2010/main" val="13966906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166E7-A022-4DFE-A061-F452F50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14CA9-9F9A-4A73-A372-47C68333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9D257-0DA7-4307-B995-052DCDE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sending becomes free, attention becomes the scarce resource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B11C1-AAB2-4C24-BB3B-3A1D563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480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98ABE-3B44-44B7-888B-9C0C213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applications 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C049B-BF2D-4817-8932-7311596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428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0A51-AAA6-42CC-908E-42A9B47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01BF5-80FD-4488-A9E8-3E03E78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employer inbox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39710-36A2-422B-BA6B-41B1DBE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5717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DD69A-945C-4FAF-A67C-B618DE5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hidden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897FC-67B2-4205-A7BA-C6845158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21145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Every low-fit request moves filtering work from the sender to the recipient.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3BC93-CF7B-4B53-98C5-85B179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healthy market rewards fit—not fan-out.</a:t>
            </a:r>
          </a:p>
        </p:txBody>
      </p:sp>
    </p:spTree>
    <p:extLst>
      <p:ext uri="{BB962C8B-B14F-4D97-AF65-F5344CB8AC3E}">
        <p14:creationId xmlns:p14="http://schemas.microsoft.com/office/powerpoint/2010/main" val="440226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6B62E-C6F6-4B24-967F-092AB7F3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1957-6307-4498-A6DF-BC58A70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87ED4-0C73-4072-A068-E142053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Measure whether the agent creates useful matches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4B7D6-DF1F-4BC2-AC32-8636BC6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143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E8322-5BB1-4369-B1E3-B61074E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396BA-CC88-4F40-ABFD-46F7109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Targets satisfy declared constraints and show company-specific inspection.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51169-04E9-4BD6-A9FB-9D86738D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143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C21B6-4765-4E58-A17A-FF2E25F5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70E9C-62D0-4BEC-94DA-44287977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Claims are specific, authorized, and supported—not generic generated prose.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F072-B6F1-452F-AB3F-B367096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143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8BE95-C3A1-40C8-A139-D82E15F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8F8D2-CA21-4525-A9DA-B76BDB71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agent honors declines, cooldowns, duplicates, and contact boundaries.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4EB5E-469F-4B71-86E3-ECC73FFF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143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EDE9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E11E6-68F2-4E8E-B0A5-DA2464F8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FBDE0-CA17-4739-919F-0053F30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Responses and positive outcomes are interpreted in market context.</a:t>
            </a:r>
          </a:p>
        </p:txBody>
      </p:sp>
    </p:spTree>
    <p:extLst>
      <p:ext uri="{BB962C8B-B14F-4D97-AF65-F5344CB8AC3E}">
        <p14:creationId xmlns:p14="http://schemas.microsoft.com/office/powerpoint/2010/main" val="4308345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249E4-48C8-49CE-A628-F80DBD5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A88E8-ACB3-4F1F-B101-29BC459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77D4D-BB39-48CF-BD4A-F57C969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 not collapse every mistake onto the human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09CE5-53CD-4FC2-8627-1BAEDDC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F2BCB-6EE6-4119-BFB5-6B0CD51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2416B-1E0F-4EFD-87AD-296A52F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person or company represented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3ECBC-D40B-4C7F-84BC-95B10442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22F8B-672B-4B43-8310-FE28840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Agent instance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9AB76-EC2A-4B6B-90E4-D924B2B1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configuration and its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CDEDE-9334-4CF1-A6D8-952FA28B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D5A41-D324-48CA-9968-C14D67BF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381C9-9FE3-48DA-907A-DE0BFF6A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software operator enabling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5A09A-070B-4986-B84C-C643509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BB64D-B575-46B4-9127-1163EA52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F0760-6F33-42C9-9DBB-DAC32EA1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credentials and evidence in this exchange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4C375-1ECD-47BF-AC24-8DFC296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Correctable configuration errors and systematic provider abuse are not the same thing.</a:t>
            </a:r>
          </a:p>
        </p:txBody>
      </p:sp>
    </p:spTree>
    <p:extLst>
      <p:ext uri="{BB962C8B-B14F-4D97-AF65-F5344CB8AC3E}">
        <p14:creationId xmlns:p14="http://schemas.microsoft.com/office/powerpoint/2010/main" val="1987574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D1B4B-2373-47D2-B1F0-DE6B1EA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SECTION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BAFE7-4643-457B-A8A4-C19A3D83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same pattern appears between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83A10-54BB-4AE4-8414-9D25316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A buyer agent and supplier agent can maintain an ordinary business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1374201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085C4-B2BD-45C7-A6EF-C49A8CB2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53D44-2E6F-46B7-95AA-949D2939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27A5B-212A-4B5A-84D4-E04E356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vendor conversation carries the relationship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1279F-BCCC-4549-A89F-78B6DA13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SUPPLIER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055C-5F5F-49D6-92CB-A22EC685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430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Your invoice is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EE3E4-93E2-4535-BCE2-5CC3AAD2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1E183-220A-479F-8499-23276FA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240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it match purchase order 4817?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F85D1-5896-4BC7-BC96-CEFF228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SUPPLIER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0A2EC-83B2-43D9-BE77-AF69B5F3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Yes. Here is the line-item and delivery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7BC09-F4D3-489C-B26A-0EF7742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83A41-D743-473A-8E99-AE60C84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is within policy. Submit it for payment.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6F61D-AD40-4409-8120-5520B27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02F50-0B3A-4BF2-8075-4C4E0EE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 also need ten replacement widgets by Friday.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066EA-E986-4E21-B730-CF315D2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SUPPLIER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FF9E6-977D-4749-9AA6-67FD48E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Here are two compliant options.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B4580-8EF2-44B1-92A1-D513F6C9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5FB6C-1A59-42A9-B372-0AE73FF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Order the approved option.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7262D-AB71-4862-B3A7-3514279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238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SUPPLIER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D9011-11A8-40C8-9B77-02196C91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022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Your widgets are on the way.</a:t>
            </a:r>
          </a:p>
        </p:txBody>
      </p:sp>
    </p:spTree>
    <p:extLst>
      <p:ext uri="{BB962C8B-B14F-4D97-AF65-F5344CB8AC3E}">
        <p14:creationId xmlns:p14="http://schemas.microsoft.com/office/powerpoint/2010/main" val="5147559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0D76A-1802-4E5D-A676-9901EEA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8C37B-7E46-4D08-9258-C8AA1991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CBD00-49D8-4C0C-816E-D170A360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business relationship has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B8641-1BC9-4FE7-9D20-5EC9D11B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F76E4-E9D2-470F-946B-AE53A0B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D7A2-3DFB-468A-A87C-9D9D70D1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Who does each agent represent?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860C1-CA71-4BFB-AC36-F3564C5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93154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0D853-9D6E-4EBA-8CCA-75B1B967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47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6AAD-6A24-4927-BF29-A14F8DBD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may each agent promise or spend?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8DA0F-61D3-4537-8402-BFB0A8D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71850"/>
            <a:ext cx="88201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CFF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E9044-B4E9-41E6-A641-F2BE9D6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F6CD9-011D-4DF0-9E63-8F75FFE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goal, state, evidence, and result are exchanged?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1AE8D-DCE8-4B82-8823-2338300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83248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CF09D-811B-417D-B05C-C62A8C4D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00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78C01-215E-4E7C-A54B-FCA8E37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585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are price, payment, and fulfillment handled?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4447D-CB4E-4BD6-8C86-1DBAC02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24450"/>
            <a:ext cx="78295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EDE9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3B4B8-B671-4A7D-8347-0C90E7C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76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746B1-33CA-4488-8460-12DE41B8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Who corrects mistakes and resolves disputes?</a:t>
            </a:r>
          </a:p>
        </p:txBody>
      </p:sp>
    </p:spTree>
    <p:extLst>
      <p:ext uri="{BB962C8B-B14F-4D97-AF65-F5344CB8AC3E}">
        <p14:creationId xmlns:p14="http://schemas.microsoft.com/office/powerpoint/2010/main" val="13130854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7D8D1-7CE4-42DE-AA62-D49AE2E9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B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4B5FD"/>
                </a:solidFill>
                <a:latin typeface="Aptos"/>
                <a:ea typeface="Aptos"/>
                <a:cs typeface="Aptos"/>
              </a:rPr>
              <a:t>SECTION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4B51E-F7DA-40C2-875F-B3E3A7E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 the protocol names have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03AB1-FA54-4703-B715-4E3E04F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Each protocol addresses a different question in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4747847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0A577-F218-4274-8C07-447D26ED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AB48F-7EDA-46D1-A66C-D488D6FF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79E49-1243-427F-B191-DF3FB2D5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Five protocols make one interaction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062F-F074-4FBB-BEE7-B258E2DD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000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13333"/>
            </a:srgbClr>
          </a:solidFill>
          <a:ln xmlns:a="http://schemas.openxmlformats.org/drawingml/2006/main" w="14288">
            <a:solidFill>
              <a:srgbClr val="0891B2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A2A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CAE5E-243B-4FA7-93F1-C4F1181F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Agent ↔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7E195-9736-4E2C-AF8E-2AC35DA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478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Discover and delegate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A4C2-8BE7-4DFC-8EA3-5A970750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00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13333"/>
            </a:srgbClr>
          </a:solidFill>
          <a:ln xmlns:a="http://schemas.openxmlformats.org/drawingml/2006/main" w="14288">
            <a:solidFill>
              <a:srgbClr val="7C3AED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B2FCF-444C-49E5-BD48-33878F02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4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Agent ↔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0C355-0ABB-4D48-A92E-7E455D08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050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data and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170AE-4683-4E9D-A4AA-7B525AA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00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14288">
            <a:solidFill>
              <a:srgbClr val="D97706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D76B3-B41D-453D-85AB-4385C71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Human → purchase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BF48E-C449-4521-8875-062A864F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623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415BD-6E4B-4C99-ABB8-F2DE7BB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000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>
              <a:alpha val="13333"/>
            </a:srgbClr>
          </a:solidFill>
          <a:ln xmlns:a="http://schemas.openxmlformats.org/drawingml/2006/main" w="14288">
            <a:solidFill>
              <a:srgbClr val="15803D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x402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CB0B2-B65B-4C73-A000-3A72E493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38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Client ↔ paid HTTP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F113E-9B46-4680-899C-B56C6DF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 and settle 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AC3CE-F528-42E4-AB42-BE95CFE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001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14288">
            <a:solidFill>
              <a:srgbClr val="2563EB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AG-UI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D82CB-8F61-4BC2-A99B-4CC3D50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Agents → human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6E4EB-A643-48B9-B391-E6030CD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768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Stream progress and state</a:t>
            </a:r>
          </a:p>
        </p:txBody>
      </p:sp>
    </p:spTree>
    <p:extLst>
      <p:ext uri="{BB962C8B-B14F-4D97-AF65-F5344CB8AC3E}">
        <p14:creationId xmlns:p14="http://schemas.microsoft.com/office/powerpoint/2010/main" val="13090497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96FD8-400B-46FD-921F-EA24B9A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11604-484B-40DF-889B-E232F322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BF3A8-7AB2-4A9D-AD84-FBAFBE7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A2A answers: who can help, and how do we manage the work?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F04C-F3F6-4741-970B-C136277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3048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6B8FD-A36B-46C6-A57D-BFDC131E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F0AD-3084-4CDA-91F7-10025CE1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4003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Name and provider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Service endpoint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Authentication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Capabilities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Skills and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D919F-15A8-481B-AEDB-41EFD67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26640-90F4-4782-911F-630748DB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2857500" cy="3048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32583-7E89-4195-84B6-8973E9A9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098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Delegated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17576-6B07-44F5-9CDA-A67339A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67000"/>
            <a:ext cx="24003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Goal or message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Context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Task identifier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Current state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B1C7E-2BE4-467E-8DC4-D5BBAC1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7D967-1E01-4FAF-B352-A64AE52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190750" cy="3048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828F0-D525-4F10-B015-2E54D82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2CEF0-7A2C-40B3-B768-3CA87026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17335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Completed artifact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Failure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Input required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Progress stream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Follow-up context</a:t>
            </a:r>
          </a:p>
        </p:txBody>
      </p:sp>
    </p:spTree>
    <p:extLst>
      <p:ext uri="{BB962C8B-B14F-4D97-AF65-F5344CB8AC3E}">
        <p14:creationId xmlns:p14="http://schemas.microsoft.com/office/powerpoint/2010/main" val="18097059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43CA1-39E8-4B8F-853B-37783C41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C6D18-C5B9-4FF4-A778-6440B32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CC248-B135-44C1-A934-728967FB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 A2A task can live longer than one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89988-3D84-4792-B731-1019E00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43250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83475-2AE7-4495-9C43-2C2EB42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2383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3A994-035C-434E-A454-6B106A5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SUBMITTED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2957-7583-4503-99FF-6DF4DF5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 accepted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E8FE4-9870-4FAA-A393-3779D1C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43250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151C2-7D9C-4136-94EC-F74A616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2383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CFF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AC721-4261-4F58-954D-6F5AE02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193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WORKING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28475-F5C5-4540-BFB4-C4E90CE0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3850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Remote agent plans and 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8C8A6-6598-43EC-8261-625F738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43250"/>
            <a:ext cx="457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56892-CCBF-46D0-A23A-87BF4D5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2383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496CC-B006-4F96-B58F-806BD86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193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INPUT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0CBA2-D61E-44EC-A9EE-E3304D0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3850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needs clarification or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A7B96-6A46-4201-9261-6CD8516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2383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E02C3-E60A-4AC9-B354-388D3FBF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0A3CA-19A5-400B-9349-0F6C035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3850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Artifact or result returned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BE747-FBF3-4CD8-AD60-7F4D6B5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is why “another agent” is more than an ordinary function call.</a:t>
            </a:r>
          </a:p>
        </p:txBody>
      </p:sp>
    </p:spTree>
    <p:extLst>
      <p:ext uri="{BB962C8B-B14F-4D97-AF65-F5344CB8AC3E}">
        <p14:creationId xmlns:p14="http://schemas.microsoft.com/office/powerpoint/2010/main" val="9416036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45469-45D5-44BA-843F-AA8E951F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00EE-6A9D-46D7-A1FC-9072544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E03E2-9FF4-41A9-810F-CB221B1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sits inside each agent’s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53469-BA68-4B35-9503-D379D04D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B4892-7664-4FEF-99DE-41072B7E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Buyer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5364-F7BE-4847-8D70-EB3BCAD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0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Uses MCP to read purchase orders, budgets, and email.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E0746-7977-4198-9606-49D56F98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1143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1F896-AA68-411B-9F59-6871A76D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3429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9A96D-9A2A-4A7F-BB36-02EE2ADB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621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Supplier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A0D6B-5D0D-42D9-8480-14B535EE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3429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Uses A2A to negotiate with the buyer—and MCP to check inventory, pricing, and shipping.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8C46B-E28C-462C-9C8E-AB137D4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476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8F1F7-759B-4848-B39A-EC50CC4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962150" cy="2381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D300D-A358-45E0-92CF-35D3061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Supplier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5679-8451-425C-B77E-CCE76A6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771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Inventory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Pricing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Logistics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F3888-C046-4079-80BF-D273BFA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A2A between agents. MCP from each agent to its tools.</a:t>
            </a:r>
          </a:p>
        </p:txBody>
      </p:sp>
    </p:spTree>
    <p:extLst>
      <p:ext uri="{BB962C8B-B14F-4D97-AF65-F5344CB8AC3E}">
        <p14:creationId xmlns:p14="http://schemas.microsoft.com/office/powerpoint/2010/main" val="19057237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8887F-E76B-47E4-BC3E-F6EF7DB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BAE7A-F597-4438-AB7E-988771B9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8A75B-7C9D-47FD-9CD5-125954ED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AP2 and x402 solve two different payment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F934A-638C-4753-821D-DE411E6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2146-8753-45E0-8ED0-CD78C763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E8D55-97A3-4CEC-82F1-F9B128C1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AP2: was this allowed?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C42F1-87DE-42E2-B4E3-61802BFF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human or organization supplies a mandate: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purpose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spending limit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approved parties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validity period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evidence of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306F6-9777-4CE5-B456-5A87BA4C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x402: how does this get paid?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2DFDF-C160-4747-8242-04E3A50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paid HTTP resource: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returns 402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describes payment requirements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receives signed payment proof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verifies and settles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returns the resource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39E83-3327-4F62-8CFA-EFA99A1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Authorization decides permission. Settlement moves value.</a:t>
            </a:r>
          </a:p>
        </p:txBody>
      </p:sp>
    </p:spTree>
    <p:extLst>
      <p:ext uri="{BB962C8B-B14F-4D97-AF65-F5344CB8AC3E}">
        <p14:creationId xmlns:p14="http://schemas.microsoft.com/office/powerpoint/2010/main" val="3724205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2E8B0-5650-4DBA-A5C6-73D8D70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7D21B-44E5-43BE-89BB-4485A27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BE487-7CD1-4211-90FF-8A86BAA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paid-resource flow is simple to see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4FC1-78DB-480C-8154-FFC6AD5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14288">
            <a:solidFill>
              <a:srgbClr val="2563EB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B3E1-9134-4F8F-8D12-16A9380A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525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AA05B-EFEB-4AFE-92BF-91BE129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52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asks for premium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02792-A842-46A4-B105-D6B814D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>
              <a:alpha val="13333"/>
            </a:srgbClr>
          </a:solidFill>
          <a:ln xmlns:a="http://schemas.openxmlformats.org/drawingml/2006/main" w="14288">
            <a:solidFill>
              <a:srgbClr val="B91C1C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852EC-D7D7-4A10-8F5E-396E975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66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402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287A-50F2-4F23-93B7-FCF6A0C0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669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 returns price, network, and payment instructions.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77906-B16B-4266-9F5B-0A2B684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14288">
            <a:solidFill>
              <a:srgbClr val="D97706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34CF4-6361-41E1-AEA5-FDA46A9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1BD47-7034-4DD8-85C5-EEE6B02A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checks the user’s mandate and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0A36A-E2C5-4C74-B547-7A3CDD2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>
              <a:alpha val="13333"/>
            </a:srgbClr>
          </a:solidFill>
          <a:ln xmlns:a="http://schemas.openxmlformats.org/drawingml/2006/main" w="14288">
            <a:solidFill>
              <a:srgbClr val="15803D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8F58B-BE59-43B3-ABE2-2E4DFFD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957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RETRY +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20E7E-9219-40FB-97FD-6CE31D3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957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attaches signed payment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7B9F5-9054-4D8B-839D-6D03170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13333"/>
            </a:srgbClr>
          </a:solidFill>
          <a:ln xmlns:a="http://schemas.openxmlformats.org/drawingml/2006/main" w="14288">
            <a:solidFill>
              <a:srgbClr val="0891B2">
                <a:alpha val="13333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4D0D0-60BA-4EDA-A114-65D7567F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0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5AC93-06CC-4D8A-8008-8B5D8F8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101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 verifies, settles, and returns data.</a:t>
            </a:r>
          </a:p>
        </p:txBody>
      </p:sp>
    </p:spTree>
    <p:extLst>
      <p:ext uri="{BB962C8B-B14F-4D97-AF65-F5344CB8AC3E}">
        <p14:creationId xmlns:p14="http://schemas.microsoft.com/office/powerpoint/2010/main" val="7890295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1DACC-D0AA-4A35-9B17-72DCA43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2C35B-181C-4B15-829E-B9EEE22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CC905-F2AF-4F78-BCD7-F722F9B5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AG-UI keeps the human in the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3CF0-02F4-42CD-BE18-3BDF4B15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857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4B181-41C6-4DB1-B4C2-819368B9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Running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11562-A095-4E3A-91D5-695FC2B4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400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Messages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Tool progress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Task state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Payment events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9B433-60FA-4B4E-A90E-B64AF14B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86125"/>
            <a:ext cx="7620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EFF1-37D0-4877-8C85-3FF17A46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3238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8E195-7468-4C6F-AE52-511A9F91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050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AG-UI event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77E87-737E-43D8-9B1C-DEB0E1A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2781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Text chunks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State updates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Progress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Errors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Intervention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277F-FBCE-4D83-9779-08ADA597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714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76AC3-6B98-4EFB-9BA4-2E82CCB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524125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AA010-07C6-4942-8DE2-7A054EE2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95550"/>
            <a:ext cx="206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E56E9-6494-4444-8F23-DC202EED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52750"/>
            <a:ext cx="20669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Watch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Approve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Correct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Pause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Revoke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031B9-A5E4-4CC5-BCC4-6972D0D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Without visibility, autonomy becomes an audit problem.</a:t>
            </a:r>
          </a:p>
        </p:txBody>
      </p:sp>
    </p:spTree>
    <p:extLst>
      <p:ext uri="{BB962C8B-B14F-4D97-AF65-F5344CB8AC3E}">
        <p14:creationId xmlns:p14="http://schemas.microsoft.com/office/powerpoint/2010/main" val="19195588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BA61D-696E-4B72-ACD8-1CF4C6D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SECTION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EA53-72E4-4F22-8486-8689B939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the whole system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AF6D-ACA9-4C0F-A7C0-1F7CA08A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5D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8C5D6"/>
                </a:solidFill>
                <a:latin typeface="Aptos"/>
                <a:ea typeface="Aptos"/>
                <a:cs typeface="Aptos"/>
              </a:rPr>
              <a:t>The restaurant demo turns an invisible agent relationship into an inspectable sequence.</a:t>
            </a:r>
          </a:p>
        </p:txBody>
      </p:sp>
    </p:spTree>
    <p:extLst>
      <p:ext uri="{BB962C8B-B14F-4D97-AF65-F5344CB8AC3E}">
        <p14:creationId xmlns:p14="http://schemas.microsoft.com/office/powerpoint/2010/main" val="10450794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9DC1D-41FD-497C-AAD9-3E98632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45CA4-026B-4D73-BF77-A1219A4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25412-939F-4FF2-BD67-D48651BB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demo makes five service boundaries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AEB9-09DD-4EAB-8D4A-BAA282DC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24780-5689-4B2B-AFBB-69983DA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 :3000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FA4A-A804-477D-8A3D-D933E14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Human control, event feed, and wire inspector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A244A-A8F0-4F63-B893-24860AE6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40DE1-0A5F-4C07-895C-FCEB51E6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3429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D69A5-1434-423F-90C4-D66FE15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193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Orchestrator :4000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4EFE6-4562-4AD3-8978-8F6E83B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Discovers agents, delegates work, and combines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8C7EE-DC85-491B-8385-5FD67A5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857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8B7F3-DD68-489B-AF2F-131EE2D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05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Restaurant :4001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35232-F4BE-48F6-B2F6-6EE9EF98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62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Finds matching restaurants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2BFD8-DA99-4546-BD80-F0E557B6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3429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63891-60C3-4900-9092-0B73EE9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Booking :4002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D4902-527E-47B8-A908-811140A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625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Checks availability and requests premium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ABF60-2D0A-4F03-A521-DEB18855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667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F7421-08C6-44AF-8010-3A4BB537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053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Reviews :4003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7ABE3-A6AF-4C17-8BB2-56EE5580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625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402 challenge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Mock proof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Premium reviews</a:t>
            </a:r>
          </a:p>
        </p:txBody>
      </p:sp>
    </p:spTree>
    <p:extLst>
      <p:ext uri="{BB962C8B-B14F-4D97-AF65-F5344CB8AC3E}">
        <p14:creationId xmlns:p14="http://schemas.microsoft.com/office/powerpoint/2010/main" val="18946438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BE434-C72F-449B-B837-9715FECA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E5460-51FB-4CDC-832F-C7893E3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3F3D2-B7BC-4812-8C00-E827D0F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Discover: the orchestrator asks “who is available?”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09E02-1936-4502-83E6-1C26942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8575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F922-D403-4309-AEE2-BB47F92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39799-426C-4706-835F-4955663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400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Knows candidate domains or endpoints and retrieves public cards.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FAD5F-D523-4605-AA1A-014DE32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714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B66B2-C585-44F8-8AEB-3D5503AE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05000"/>
            <a:ext cx="30480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4451E-FF4C-477A-8CB7-2802D1E2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14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 Agent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55E55-F5A2-4E20-AD57-5CAC7CB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71750"/>
            <a:ext cx="2590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Standard well-known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Name and provider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Endpoint and authentication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Capabilities and 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7073B-AD49-47DF-8F20-E7679406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714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94BEA-6097-4C86-8FED-2A4F530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762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E5153-2FBF-4F05-AC6F-377BF772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Topology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64B3E-E475-4527-A089-D42EF5FA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Agents appear one by one. Unavailable services remain visible as failures.</a:t>
            </a:r>
          </a:p>
        </p:txBody>
      </p:sp>
    </p:spTree>
    <p:extLst>
      <p:ext uri="{BB962C8B-B14F-4D97-AF65-F5344CB8AC3E}">
        <p14:creationId xmlns:p14="http://schemas.microsoft.com/office/powerpoint/2010/main" val="3677418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4027A-64C9-4E4C-A45E-49CC5141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38A1-F059-46E4-8007-3DFD84C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1BDB1-2A63-4B83-AF0D-AE4FA66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Ask: the orchestrator delegates one goal to specialists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1F25-928D-4EC4-9D6D-C13620E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“Plan a team dinner for 6 people under $200.”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F43A-4F8F-482B-8B91-F22191A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048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2CF3C-BAE3-471F-BE02-096BC12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Restaurant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B40FE-F7AF-4872-80AA-9DC9490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59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Find options matching cuisine, location, party size, and total budget.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F0EE7-2726-456E-9933-24FB1809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22D51-EC2F-4602-A4D1-44BB5935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CDED9-C19A-4CF3-AE34-7D3ABCC3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59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Maintains the goal and combines specialist results.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D9A09-607B-4F64-A959-AB31911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0480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0B133-1FED-4E9B-8518-2B97D4B3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Booking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CAC4B-B116-46A3-AE04-6E3554A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259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Checks availability and requests premium review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FECC4-CA8D-4E80-BA7A-F472AA3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5238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2A20D-4FAF-42C6-9A7E-832969C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5238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85614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F9FFC-BA54-4665-9143-2C108C6E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FB895-482C-40D7-AB8A-77E8F61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FB0B-1C40-4570-ACAF-693B139D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Pay: the mandate must approve the 402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D81E3-2407-4528-9601-2F89175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333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392AE-1499-487C-9666-1E9B824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CFF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56E01-03FC-4BD7-83BE-BE90131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19375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Booking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42067-34D1-4066-A467-66895B6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337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Requests premium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2E265-8340-42B7-B5B6-19404802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333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841CE-3AD6-4047-8604-864BB94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FE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54E40-A042-471F-9953-5A95C12C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19375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Premium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73FC2-FB09-4D8D-BA1A-577FF37B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337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Returns 402 +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E5186-96DC-4DEE-9415-1A37071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333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B3E07-C510-4E37-A8C5-6FD7AA16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33625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FEF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9604A-6D57-49A8-B7BB-EB1D87B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19375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Mandate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86E60-4027-4D7E-A9CF-B17128EF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Purpose, limit, expiry, prior spending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81DBA-75F0-4E7F-AEF2-9A02C92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38500"/>
            <a:ext cx="33337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5DF"/>
          </a:solidFill>
          <a:ln xmlns:a="http://schemas.openxmlformats.org/drawingml/2006/main" w="0">
            <a:solidFill>
              <a:srgbClr val="CD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8C827-03BF-4502-95B6-24FEEF7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33625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1BDED-1593-4A0A-9CC8-8B911F6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19375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Mock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FF749-7CF8-48B6-8B8B-09FA428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337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Retry with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5BA68-BA68-48FF-9054-600FCFC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4288">
            <a:solidFill>
              <a:srgbClr val="CFF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0F3E0-30C3-45D0-96E3-7D6DB09F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19375"/>
            <a:ext cx="159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Premium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FE6CC-8D5B-458E-82CF-1F1399C9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1590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Returns review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4614F-B832-4DEE-8967-8D43D8AF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The demo teaches the sequence. It does not provide production payment security.</a:t>
            </a:r>
          </a:p>
        </p:txBody>
      </p:sp>
    </p:spTree>
    <p:extLst>
      <p:ext uri="{BB962C8B-B14F-4D97-AF65-F5344CB8AC3E}">
        <p14:creationId xmlns:p14="http://schemas.microsoft.com/office/powerpoint/2010/main" val="20231938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F59B0-ABD1-40E1-8192-497F0480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777C1-C557-4DAA-8498-7E48195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6CF64-ED34-486D-83A4-0F30FB21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Explore: read the wire instead of trusting the animation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509FB-546D-4663-BF78-1F0BA704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4FA55-F8C0-4611-A54B-45539F9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2387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DCF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32BCF-D41F-49DC-8E28-0CB4075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UI says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2CF50-151D-41D4-A010-0AC1E178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“Restaurant found”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“Payment approved”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“Booking complete”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Useful—but still a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FD799-99C0-4D3C-8D94-0BDFC35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wire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ABE0C-57F3-484B-A175-16A1FC81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and target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Protocol and method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Parameters and task state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402 requirements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Mandate decision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Retry and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46A4C-CFC7-4237-B9E6-5FA5422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inspector is the verification layer for the demo.</a:t>
            </a:r>
          </a:p>
        </p:txBody>
      </p:sp>
    </p:spTree>
    <p:extLst>
      <p:ext uri="{BB962C8B-B14F-4D97-AF65-F5344CB8AC3E}">
        <p14:creationId xmlns:p14="http://schemas.microsoft.com/office/powerpoint/2010/main" val="7317781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E0F23-1229-40AD-ABC3-8E90F75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74"/>
                </a:solidFill>
                <a:latin typeface="Aptos"/>
                <a:ea typeface="Aptos"/>
                <a:cs typeface="Aptos"/>
              </a:rPr>
              <a:t>PHASE 04 · 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302A6-AEEA-4CFE-8EF0-AAD9E81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4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E56D9-E2CC-490B-83B9-A672625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Eight questions every company must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5D89C-09E3-4C5C-B0A6-11E7F25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08914-2E1A-4746-9B9A-116E0D1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95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ABE42-4BD7-4EEC-8373-F829A6AC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can agents discover?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5EE6-C025-4CE9-A14A-C22EB6EC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B5763-775A-4706-B6A7-61447A2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95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FEF6C-B290-4654-BEDA-839681E1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28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Who is represented?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D1E42-EFC1-48DA-912E-64D66AA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668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FD36-555E-4FF3-91C0-5BCFB1D7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95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1101D-353E-4BE6-AC2F-1DFE9F79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28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may it promise?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A16D3-FBCC-4C4F-8498-511C25E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668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DB5DE-6685-4CBA-9D93-0899E43A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95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9C555-63F2-4B19-ACE5-7C87C078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28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is automatic?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18003-EE93-4E50-8FBF-E969C8D4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B9267-7FF2-4515-92DF-C317D9D7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90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1BC9E-B8DC-4DD8-9E63-3E087246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proves a claim?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61A13-D2DF-420A-94C7-439D7439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7623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07F1A-CA68-4852-8C88-4C82DD66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990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465BC-C2AB-4B0F-BEB3-84E2BD93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524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limits fan-out?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07C0C-9157-4455-8C50-6EA5B54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322C6-4766-4861-8A69-005CAF7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90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Intervention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E7583-B661-4F16-B8C5-1E3A107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24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humans enter?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3A2B9-748A-4EE5-B85C-09E1DF9C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62375"/>
            <a:ext cx="2571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F232A-2BFA-4632-987A-8AB4CAC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90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Accountability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C16E7-1019-4693-A480-453CE287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243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Who owns mistakes?</a:t>
            </a:r>
          </a:p>
        </p:txBody>
      </p:sp>
    </p:spTree>
    <p:extLst>
      <p:ext uri="{BB962C8B-B14F-4D97-AF65-F5344CB8AC3E}">
        <p14:creationId xmlns:p14="http://schemas.microsoft.com/office/powerpoint/2010/main" val="1611419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6FC99-A373-4290-A67C-12EDE13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7A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7A7FF"/>
                </a:solidFill>
                <a:latin typeface="Aptos"/>
                <a:ea typeface="Aptos"/>
                <a:cs typeface="Aptos"/>
              </a:rPr>
              <a:t>YOUR FIRST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266AA-DE1B-4025-A159-9D721ED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Publish one narrow capability.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C0887-5113-41DD-B976-A3D8D8A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C4D0E0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4D0E0"/>
                </a:solidFill>
                <a:latin typeface="Aptos"/>
                <a:ea typeface="Aptos"/>
                <a:cs typeface="Aptos"/>
              </a:rPr>
              <a:t>Bound its authority.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C4D0E0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4D0E0"/>
                </a:solidFill>
                <a:latin typeface="Aptos"/>
                <a:ea typeface="Aptos"/>
                <a:cs typeface="Aptos"/>
              </a:rPr>
              <a:t>Protect recipient attention.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C4D0E0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4D0E0"/>
                </a:solidFill>
                <a:latin typeface="Aptos"/>
                <a:ea typeface="Aptos"/>
                <a:cs typeface="Aptos"/>
              </a:rPr>
              <a:t>Make the work observable.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C4D0E0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C4D0E0"/>
                </a:solidFill>
                <a:latin typeface="Aptos"/>
                <a:ea typeface="Aptos"/>
                <a:cs typeface="Aptos"/>
              </a:rPr>
              <a:t>Keep human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29FC-FEE2-41D4-B1ED-4C7F4A2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287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A"/>
          </a:solidFill>
          <a:ln xmlns:a="http://schemas.openxmlformats.org/drawingml/2006/main" w="14288">
            <a:solidFill>
              <a:srgbClr val="2944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5E4E0-0756-46DC-87ED-5A6BBF5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Our first agent-facing capability should be ______ because it removes ______ and requires human approval when ______.</a:t>
            </a:r>
          </a:p>
        </p:txBody>
      </p:sp>
    </p:spTree>
    <p:extLst>
      <p:ext uri="{BB962C8B-B14F-4D97-AF65-F5344CB8AC3E}">
        <p14:creationId xmlns:p14="http://schemas.microsoft.com/office/powerpoint/2010/main" val="141375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2026-08-06T13:19:41.3230000Z</dcterms:created>
  <dcterms:modified xsi:type="dcterms:W3CDTF">2026-08-06T13:19:41.3230000Z</dcterms:modified>
</coreProperties>
</file>