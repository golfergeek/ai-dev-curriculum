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2f1d89c07945d6" /><Relationship Type="http://schemas.openxmlformats.org/officeDocument/2006/relationships/extended-properties" Target="/docProps/app.xml" Id="Rcba43706119f40a4" /><Relationship Type="http://schemas.openxmlformats.org/officeDocument/2006/relationships/officeDocument" Target="/ppt/presentation.xml" Id="R9ee1778c094340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803d2b1a6443b5"/>
  </p:sldMasterIdLst>
  <p:notesMasterIdLst>
    <p:notesMasterId xmlns:r="http://schemas.openxmlformats.org/officeDocument/2006/relationships" r:id="R2d7b91c9fba346c3"/>
  </p:notesMasterIdLst>
  <p:sldIdLst>
    <p:sldId xmlns:r="http://schemas.openxmlformats.org/officeDocument/2006/relationships" id="256" r:id="R0492daee1524439b"/>
    <p:sldId xmlns:r="http://schemas.openxmlformats.org/officeDocument/2006/relationships" id="257" r:id="Rb44841b906e34414"/>
    <p:sldId xmlns:r="http://schemas.openxmlformats.org/officeDocument/2006/relationships" id="258" r:id="R75edf8db4c404138"/>
    <p:sldId xmlns:r="http://schemas.openxmlformats.org/officeDocument/2006/relationships" id="259" r:id="Rb6d64379e11f4a44"/>
    <p:sldId xmlns:r="http://schemas.openxmlformats.org/officeDocument/2006/relationships" id="260" r:id="Rf66fa9c509bb4f89"/>
    <p:sldId xmlns:r="http://schemas.openxmlformats.org/officeDocument/2006/relationships" id="261" r:id="R9c3a51400a5f415e"/>
    <p:sldId xmlns:r="http://schemas.openxmlformats.org/officeDocument/2006/relationships" id="262" r:id="R163bdba543e444fc"/>
    <p:sldId xmlns:r="http://schemas.openxmlformats.org/officeDocument/2006/relationships" id="263" r:id="R4b7c017dc7c14b8e"/>
    <p:sldId xmlns:r="http://schemas.openxmlformats.org/officeDocument/2006/relationships" id="264" r:id="R26d40d02efd644a4"/>
    <p:sldId xmlns:r="http://schemas.openxmlformats.org/officeDocument/2006/relationships" id="265" r:id="R481e04ae66674f56"/>
    <p:sldId xmlns:r="http://schemas.openxmlformats.org/officeDocument/2006/relationships" id="266" r:id="Rd733ef64de2144c5"/>
    <p:sldId xmlns:r="http://schemas.openxmlformats.org/officeDocument/2006/relationships" id="267" r:id="R6301a9d7899b463f"/>
    <p:sldId xmlns:r="http://schemas.openxmlformats.org/officeDocument/2006/relationships" id="268" r:id="R5d3de7ab9de64085"/>
    <p:sldId xmlns:r="http://schemas.openxmlformats.org/officeDocument/2006/relationships" id="269" r:id="R8a235e4479ac4adf"/>
    <p:sldId xmlns:r="http://schemas.openxmlformats.org/officeDocument/2006/relationships" id="270" r:id="Re550e591f72d4cb6"/>
    <p:sldId xmlns:r="http://schemas.openxmlformats.org/officeDocument/2006/relationships" id="271" r:id="R44c8c73b6b0b4ad7"/>
    <p:sldId xmlns:r="http://schemas.openxmlformats.org/officeDocument/2006/relationships" id="272" r:id="R48553d60e7d844b3"/>
    <p:sldId xmlns:r="http://schemas.openxmlformats.org/officeDocument/2006/relationships" id="273" r:id="R34868a39f61b4fbf"/>
    <p:sldId xmlns:r="http://schemas.openxmlformats.org/officeDocument/2006/relationships" id="274" r:id="R83d049b963114d6b"/>
    <p:sldId xmlns:r="http://schemas.openxmlformats.org/officeDocument/2006/relationships" id="275" r:id="Rbd03c7beb73d4a54"/>
    <p:sldId xmlns:r="http://schemas.openxmlformats.org/officeDocument/2006/relationships" id="276" r:id="R97dfcb502ec647c7"/>
    <p:sldId xmlns:r="http://schemas.openxmlformats.org/officeDocument/2006/relationships" id="277" r:id="R09ef5dcc2b884f23"/>
    <p:sldId xmlns:r="http://schemas.openxmlformats.org/officeDocument/2006/relationships" id="278" r:id="Rec04d11fb6644a82"/>
    <p:sldId xmlns:r="http://schemas.openxmlformats.org/officeDocument/2006/relationships" id="279" r:id="R8d61c06358934aaf"/>
    <p:sldId xmlns:r="http://schemas.openxmlformats.org/officeDocument/2006/relationships" id="280" r:id="Rae6827b8a93d4315"/>
    <p:sldId xmlns:r="http://schemas.openxmlformats.org/officeDocument/2006/relationships" id="281" r:id="R01067634bbba4e0f"/>
    <p:sldId xmlns:r="http://schemas.openxmlformats.org/officeDocument/2006/relationships" id="282" r:id="Ref92170bedbd435b"/>
    <p:sldId xmlns:r="http://schemas.openxmlformats.org/officeDocument/2006/relationships" id="283" r:id="Rbe264114883749a4"/>
    <p:sldId xmlns:r="http://schemas.openxmlformats.org/officeDocument/2006/relationships" id="284" r:id="R498687cd356b42d4"/>
    <p:sldId xmlns:r="http://schemas.openxmlformats.org/officeDocument/2006/relationships" id="285" r:id="Rcfc78880edae44c3"/>
    <p:sldId xmlns:r="http://schemas.openxmlformats.org/officeDocument/2006/relationships" id="286" r:id="R503863c9f2094cbc"/>
    <p:sldId xmlns:r="http://schemas.openxmlformats.org/officeDocument/2006/relationships" id="287" r:id="R451b247567e842a0"/>
    <p:sldId xmlns:r="http://schemas.openxmlformats.org/officeDocument/2006/relationships" id="288" r:id="R759f888dd19c4869"/>
    <p:sldId xmlns:r="http://schemas.openxmlformats.org/officeDocument/2006/relationships" id="289" r:id="Ra12132e2568e4b3f"/>
    <p:sldId xmlns:r="http://schemas.openxmlformats.org/officeDocument/2006/relationships" id="290" r:id="Rfdd3e0f3cd65459a"/>
    <p:sldId xmlns:r="http://schemas.openxmlformats.org/officeDocument/2006/relationships" id="291" r:id="R6f9ae0d4cfa9411a"/>
    <p:sldId xmlns:r="http://schemas.openxmlformats.org/officeDocument/2006/relationships" id="292" r:id="R360dc86dfb134b7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58db30f87a4193" /><Relationship Type="http://schemas.openxmlformats.org/officeDocument/2006/relationships/slideMaster" Target="/ppt/slideMasters/slideMaster1.xml" Id="Rce803d2b1a6443b5" /><Relationship Type="http://schemas.openxmlformats.org/officeDocument/2006/relationships/notesMaster" Target="/ppt/notesMasters/notesMaster1.xml" Id="R2d7b91c9fba346c3" /><Relationship Type="http://schemas.openxmlformats.org/officeDocument/2006/relationships/presProps" Target="/ppt/presProps.xml" Id="R4aa36e267d6a4f87" /><Relationship Type="http://schemas.openxmlformats.org/officeDocument/2006/relationships/tableStyles" Target="/ppt/tableStyles.xml" Id="R2734951318ec4088" /><Relationship Type="http://schemas.openxmlformats.org/officeDocument/2006/relationships/slide" Target="/ppt/slides/slide1.xml" Id="R0492daee1524439b" /><Relationship Type="http://schemas.openxmlformats.org/officeDocument/2006/relationships/slide" Target="/ppt/slides/slide2.xml" Id="Rb44841b906e34414" /><Relationship Type="http://schemas.openxmlformats.org/officeDocument/2006/relationships/slide" Target="/ppt/slides/slide3.xml" Id="R75edf8db4c404138" /><Relationship Type="http://schemas.openxmlformats.org/officeDocument/2006/relationships/slide" Target="/ppt/slides/slide4.xml" Id="Rb6d64379e11f4a44" /><Relationship Type="http://schemas.openxmlformats.org/officeDocument/2006/relationships/slide" Target="/ppt/slides/slide5.xml" Id="Rf66fa9c509bb4f89" /><Relationship Type="http://schemas.openxmlformats.org/officeDocument/2006/relationships/slide" Target="/ppt/slides/slide6.xml" Id="R9c3a51400a5f415e" /><Relationship Type="http://schemas.openxmlformats.org/officeDocument/2006/relationships/slide" Target="/ppt/slides/slide7.xml" Id="R163bdba543e444fc" /><Relationship Type="http://schemas.openxmlformats.org/officeDocument/2006/relationships/slide" Target="/ppt/slides/slide8.xml" Id="R4b7c017dc7c14b8e" /><Relationship Type="http://schemas.openxmlformats.org/officeDocument/2006/relationships/slide" Target="/ppt/slides/slide9.xml" Id="R26d40d02efd644a4" /><Relationship Type="http://schemas.openxmlformats.org/officeDocument/2006/relationships/slide" Target="/ppt/slides/slide10.xml" Id="R481e04ae66674f56" /><Relationship Type="http://schemas.openxmlformats.org/officeDocument/2006/relationships/slide" Target="/ppt/slides/slide11.xml" Id="Rd733ef64de2144c5" /><Relationship Type="http://schemas.openxmlformats.org/officeDocument/2006/relationships/slide" Target="/ppt/slides/slide12.xml" Id="R6301a9d7899b463f" /><Relationship Type="http://schemas.openxmlformats.org/officeDocument/2006/relationships/slide" Target="/ppt/slides/slide13.xml" Id="R5d3de7ab9de64085" /><Relationship Type="http://schemas.openxmlformats.org/officeDocument/2006/relationships/slide" Target="/ppt/slides/slide14.xml" Id="R8a235e4479ac4adf" /><Relationship Type="http://schemas.openxmlformats.org/officeDocument/2006/relationships/slide" Target="/ppt/slides/slide15.xml" Id="Re550e591f72d4cb6" /><Relationship Type="http://schemas.openxmlformats.org/officeDocument/2006/relationships/slide" Target="/ppt/slides/slide16.xml" Id="R44c8c73b6b0b4ad7" /><Relationship Type="http://schemas.openxmlformats.org/officeDocument/2006/relationships/slide" Target="/ppt/slides/slide17.xml" Id="R48553d60e7d844b3" /><Relationship Type="http://schemas.openxmlformats.org/officeDocument/2006/relationships/slide" Target="/ppt/slides/slide18.xml" Id="R34868a39f61b4fbf" /><Relationship Type="http://schemas.openxmlformats.org/officeDocument/2006/relationships/slide" Target="/ppt/slides/slide19.xml" Id="R83d049b963114d6b" /><Relationship Type="http://schemas.openxmlformats.org/officeDocument/2006/relationships/slide" Target="/ppt/slides/slide20.xml" Id="Rbd03c7beb73d4a54" /><Relationship Type="http://schemas.openxmlformats.org/officeDocument/2006/relationships/slide" Target="/ppt/slides/slide21.xml" Id="R97dfcb502ec647c7" /><Relationship Type="http://schemas.openxmlformats.org/officeDocument/2006/relationships/slide" Target="/ppt/slides/slide22.xml" Id="R09ef5dcc2b884f23" /><Relationship Type="http://schemas.openxmlformats.org/officeDocument/2006/relationships/slide" Target="/ppt/slides/slide23.xml" Id="Rec04d11fb6644a82" /><Relationship Type="http://schemas.openxmlformats.org/officeDocument/2006/relationships/slide" Target="/ppt/slides/slide24.xml" Id="R8d61c06358934aaf" /><Relationship Type="http://schemas.openxmlformats.org/officeDocument/2006/relationships/slide" Target="/ppt/slides/slide25.xml" Id="Rae6827b8a93d4315" /><Relationship Type="http://schemas.openxmlformats.org/officeDocument/2006/relationships/slide" Target="/ppt/slides/slide26.xml" Id="R01067634bbba4e0f" /><Relationship Type="http://schemas.openxmlformats.org/officeDocument/2006/relationships/slide" Target="/ppt/slides/slide27.xml" Id="Ref92170bedbd435b" /><Relationship Type="http://schemas.openxmlformats.org/officeDocument/2006/relationships/slide" Target="/ppt/slides/slide28.xml" Id="Rbe264114883749a4" /><Relationship Type="http://schemas.openxmlformats.org/officeDocument/2006/relationships/slide" Target="/ppt/slides/slide29.xml" Id="R498687cd356b42d4" /><Relationship Type="http://schemas.openxmlformats.org/officeDocument/2006/relationships/slide" Target="/ppt/slides/slide30.xml" Id="Rcfc78880edae44c3" /><Relationship Type="http://schemas.openxmlformats.org/officeDocument/2006/relationships/slide" Target="/ppt/slides/slide31.xml" Id="R503863c9f2094cbc" /><Relationship Type="http://schemas.openxmlformats.org/officeDocument/2006/relationships/slide" Target="/ppt/slides/slide32.xml" Id="R451b247567e842a0" /><Relationship Type="http://schemas.openxmlformats.org/officeDocument/2006/relationships/slide" Target="/ppt/slides/slide33.xml" Id="R759f888dd19c4869" /><Relationship Type="http://schemas.openxmlformats.org/officeDocument/2006/relationships/slide" Target="/ppt/slides/slide34.xml" Id="Ra12132e2568e4b3f" /><Relationship Type="http://schemas.openxmlformats.org/officeDocument/2006/relationships/slide" Target="/ppt/slides/slide35.xml" Id="Rfdd3e0f3cd65459a" /><Relationship Type="http://schemas.openxmlformats.org/officeDocument/2006/relationships/slide" Target="/ppt/slides/slide36.xml" Id="R6f9ae0d4cfa9411a" /><Relationship Type="http://schemas.openxmlformats.org/officeDocument/2006/relationships/slide" Target="/ppt/slides/slide37.xml" Id="R360dc86dfb134b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1368a1e04245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2b39bc6e9b42fd" /><Relationship Type="http://schemas.openxmlformats.org/officeDocument/2006/relationships/notesMaster" Target="/ppt/notesMasters/notesMaster1.xml" Id="R517453c920734b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2aae3a482941e7" /><Relationship Type="http://schemas.openxmlformats.org/officeDocument/2006/relationships/notesMaster" Target="/ppt/notesMasters/notesMaster1.xml" Id="R46e33b6dc08844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bd0d26108141db" /><Relationship Type="http://schemas.openxmlformats.org/officeDocument/2006/relationships/notesMaster" Target="/ppt/notesMasters/notesMaster1.xml" Id="R618cce0eb1cc41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be5d86f1fa4379" /><Relationship Type="http://schemas.openxmlformats.org/officeDocument/2006/relationships/notesMaster" Target="/ppt/notesMasters/notesMaster1.xml" Id="Ra826edbd25854d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0138e4f489479c" /><Relationship Type="http://schemas.openxmlformats.org/officeDocument/2006/relationships/notesMaster" Target="/ppt/notesMasters/notesMaster1.xml" Id="R5ad40416d08944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bb270b5aa14fca" /><Relationship Type="http://schemas.openxmlformats.org/officeDocument/2006/relationships/notesMaster" Target="/ppt/notesMasters/notesMaster1.xml" Id="R07913e32509a4e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8ead7a39ac4c51" /><Relationship Type="http://schemas.openxmlformats.org/officeDocument/2006/relationships/notesMaster" Target="/ppt/notesMasters/notesMaster1.xml" Id="R23846925bed64d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497a50056c4130" /><Relationship Type="http://schemas.openxmlformats.org/officeDocument/2006/relationships/notesMaster" Target="/ppt/notesMasters/notesMaster1.xml" Id="R9b7e3d5e1e7148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2ba76a1b064875" /><Relationship Type="http://schemas.openxmlformats.org/officeDocument/2006/relationships/notesMaster" Target="/ppt/notesMasters/notesMaster1.xml" Id="Re347ab109afc4f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22d15ea0b23418b" /><Relationship Type="http://schemas.openxmlformats.org/officeDocument/2006/relationships/notesMaster" Target="/ppt/notesMasters/notesMaster1.xml" Id="R399e9e263c494fc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7f032c6c25e4757" /><Relationship Type="http://schemas.openxmlformats.org/officeDocument/2006/relationships/notesMaster" Target="/ppt/notesMasters/notesMaster1.xml" Id="R6ce1439a00494e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c2e0d7afeb34029" /><Relationship Type="http://schemas.openxmlformats.org/officeDocument/2006/relationships/notesMaster" Target="/ppt/notesMasters/notesMaster1.xml" Id="R458c643643f246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de72ca2b28747cd" /><Relationship Type="http://schemas.openxmlformats.org/officeDocument/2006/relationships/notesMaster" Target="/ppt/notesMasters/notesMaster1.xml" Id="Re9f31b83e7b6493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3bba4fdcc264e8f" /><Relationship Type="http://schemas.openxmlformats.org/officeDocument/2006/relationships/notesMaster" Target="/ppt/notesMasters/notesMaster1.xml" Id="Rf022961f3aea458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c557555428246ed" /><Relationship Type="http://schemas.openxmlformats.org/officeDocument/2006/relationships/notesMaster" Target="/ppt/notesMasters/notesMaster1.xml" Id="R6c8e57eb50124ec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29e03a034e74869" /><Relationship Type="http://schemas.openxmlformats.org/officeDocument/2006/relationships/notesMaster" Target="/ppt/notesMasters/notesMaster1.xml" Id="R75dbb94542f84b1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68bc6b25524760" /><Relationship Type="http://schemas.openxmlformats.org/officeDocument/2006/relationships/notesMaster" Target="/ppt/notesMasters/notesMaster1.xml" Id="R4c06f39628e74ac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9e4da94fb274394" /><Relationship Type="http://schemas.openxmlformats.org/officeDocument/2006/relationships/notesMaster" Target="/ppt/notesMasters/notesMaster1.xml" Id="Rf6bae992b6dc41c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1472c7e5e674d33" /><Relationship Type="http://schemas.openxmlformats.org/officeDocument/2006/relationships/notesMaster" Target="/ppt/notesMasters/notesMaster1.xml" Id="Re186e4442c2842b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3a3db2167374c68" /><Relationship Type="http://schemas.openxmlformats.org/officeDocument/2006/relationships/notesMaster" Target="/ppt/notesMasters/notesMaster1.xml" Id="Reca65e93d1ba4eb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91c815490cd4e38" /><Relationship Type="http://schemas.openxmlformats.org/officeDocument/2006/relationships/notesMaster" Target="/ppt/notesMasters/notesMaster1.xml" Id="R18cf638792ca477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a32580ea0b14f2a" /><Relationship Type="http://schemas.openxmlformats.org/officeDocument/2006/relationships/notesMaster" Target="/ppt/notesMasters/notesMaster1.xml" Id="R20a8d7bd0ef143e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732f28899bc4e79" /><Relationship Type="http://schemas.openxmlformats.org/officeDocument/2006/relationships/notesMaster" Target="/ppt/notesMasters/notesMaster1.xml" Id="R87eb5fc6907c45a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a0aeac7fdc749ed" /><Relationship Type="http://schemas.openxmlformats.org/officeDocument/2006/relationships/notesMaster" Target="/ppt/notesMasters/notesMaster1.xml" Id="R2a88449fb3e5450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e1aa25983c349c0" /><Relationship Type="http://schemas.openxmlformats.org/officeDocument/2006/relationships/notesMaster" Target="/ppt/notesMasters/notesMaster1.xml" Id="R4211505d4b9e414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bee5da332554899" /><Relationship Type="http://schemas.openxmlformats.org/officeDocument/2006/relationships/notesMaster" Target="/ppt/notesMasters/notesMaster1.xml" Id="R72bf215cf9c941f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a36bff6bdc145f6" /><Relationship Type="http://schemas.openxmlformats.org/officeDocument/2006/relationships/notesMaster" Target="/ppt/notesMasters/notesMaster1.xml" Id="Rc919869f4a67404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f859fa351cd4f78" /><Relationship Type="http://schemas.openxmlformats.org/officeDocument/2006/relationships/notesMaster" Target="/ppt/notesMasters/notesMaster1.xml" Id="R679c19aeba6045b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6fc7c11beba4287" /><Relationship Type="http://schemas.openxmlformats.org/officeDocument/2006/relationships/notesMaster" Target="/ppt/notesMasters/notesMaster1.xml" Id="R7761ade5a910491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679515f3c6e4415" /><Relationship Type="http://schemas.openxmlformats.org/officeDocument/2006/relationships/notesMaster" Target="/ppt/notesMasters/notesMaster1.xml" Id="Re14def27039e45d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e8dbd89a8c9405a" /><Relationship Type="http://schemas.openxmlformats.org/officeDocument/2006/relationships/notesMaster" Target="/ppt/notesMasters/notesMaster1.xml" Id="Rd77d2a4a1f894e0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971b4ecab6c46dc" /><Relationship Type="http://schemas.openxmlformats.org/officeDocument/2006/relationships/notesMaster" Target="/ppt/notesMasters/notesMaster1.xml" Id="R84c65ea8d984407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ee9d81e89f1451b" /><Relationship Type="http://schemas.openxmlformats.org/officeDocument/2006/relationships/notesMaster" Target="/ppt/notesMasters/notesMaster1.xml" Id="R6e779bae910248c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d966a564a004391" /><Relationship Type="http://schemas.openxmlformats.org/officeDocument/2006/relationships/notesMaster" Target="/ppt/notesMasters/notesMaster1.xml" Id="Rdc7e24d9911745b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e69fa7c29284345" /><Relationship Type="http://schemas.openxmlformats.org/officeDocument/2006/relationships/notesMaster" Target="/ppt/notesMasters/notesMaster1.xml" Id="R838be52f26de4b8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eb87ac4cb35401f" /><Relationship Type="http://schemas.openxmlformats.org/officeDocument/2006/relationships/notesMaster" Target="/ppt/notesMasters/notesMaster1.xml" Id="R7096d1f2b522424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48940a2b1f8443c" /><Relationship Type="http://schemas.openxmlformats.org/officeDocument/2006/relationships/notesMaster" Target="/ppt/notesMasters/notesMaster1.xml" Id="Rb1d6f3e11de54e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This phase is about a change in how companies are reached. Websites made companies reachable by people. Agent interfaces will make companies reachable by software acting for those people and for other companies.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If a customer’s agent arrived at your company tomorrow, what could it actually do?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Before protocols, make the visitor concrete.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https://a2a-protocol.org/latest/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Give learners the map before the details. The flow begins with a business change, then distinguishes tools from agents, then reaches markets and protocols, and ends in a working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Start with the visitor.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Do not define protocols yet. Establish the business change first.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would an outside agent want from your company?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Compare today’s human visit with tomorrow’s agent visit.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 person can tolerate presentation chrome and ambiguity. They translate the website into a request, and an employee supplies missing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Where does your website depend on a human to interpret or complete the process?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Now replace the visitor with an agent.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 outside agent needs a machine-readable front door. The company agent needs controlled access to company systems and a clear authority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should an outside agent be able to discover without talking to a person?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Begin with the smallest useful improvement.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Content negotiation is the easy first move. Return Markdown or structured data with provenance, timestamps, policies, price, and the next allowed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page or process at your company should have a clean agent response?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But readable information is not yet a business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 document endpoint lets an agent read. A company agent can participate in a continuing relationship.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column describes your current website?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Now distinguish a capability from an independent 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 protocol distinction becomes easy when you start with the relationship.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Show the MCP example first.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MCP connects an AI application to tools, data, prompts, and resources. The host remains the controller of the broader workflow.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other company capabilities fit this pattern?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Now compare delegated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https://modelcontextprotocol.io/docs/learn/architecture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A2A connects independent agentic applications. One agent delegates a goal; the remote agent decides how to work and may maintain a longer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If the remote system chooses how to complete the goal, does it feel like a tool or a counterparty?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State the durable distinction.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https://a2a-protocol.org/latest/</a:t>
            </a:r>
          </a:p>
          <a:p xmlns:a="http://schemas.openxmlformats.org/drawingml/2006/main">
            <a:r>
              <a:t>- https://a2a-protocol.org/latest/topics/key-concepts/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Do not teach one-way versus two-way. MCP includes notifications, elicitation, sampling, and streaming. Teach capability invocation versus delegated agency.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Put agents on both sides of a real market.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https://a2a-protocol.org/latest/</a:t>
            </a:r>
          </a:p>
          <a:p xmlns:a="http://schemas.openxmlformats.org/drawingml/2006/main">
            <a:r>
              <a:t>- https://modelcontextprotocol.io/docs/learn/architecture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Employment makes identity, evidence, consent, attention, and human escalation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Start with the two representatives.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 personal agent carries goals and evidence. The company agent carries opportunities and policy. Both must be authorized, limited, and auditable.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could each agent do automatically, and what requires a human?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Walk through a good-fit conversation.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This is not scattershot submission. The agents qualify the relationship, request evidence, and escalate only after a substantive match.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evidence should a company request before spending a recruiter’s time?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Contrast this with closed-platform automation.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LinkedIn and Indeed restrict forms of unauthorized automation. Those policies illustrate why an agent-native market must be built deliberately rather than reached through prohibited scraping.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protections from today’s platforms should an agent-native market preserve?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Now expose the attention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https://www.linkedin.com/help/linkedin/answer/a1341387</a:t>
            </a:r>
          </a:p>
          <a:p xmlns:a="http://schemas.openxmlformats.org/drawingml/2006/main">
            <a:r>
              <a:t>- https://docs.indeed.com/legal-terms/developer-agreement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 number is an example of scattershot behavior, not a measured industry statistic. The economic point is that near-zero sending cost transfers filtering cost to recipients.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should happen to an agent that repeatedly sends low-fit requests?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Define what good behavior means.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Do not score only activity or response rate. Market conditions matter. Focus on relevance, evidence, respect for boundaries, and recipient cost.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signal is hardest to game?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Attach reputation to the right layer.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 bad configuration should be correctable without permanently branding a human. A provider enabling systematic abuse should not escape accountability by rotating agent identities.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Whose reputation changes in each failure scenario?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Move from employment to ordinary commerce.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Employment is not special. The same delegated relationship appears in billing, procurement, support, and fulfillment.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Read the vendor dialogue.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Read this aloud. The exchange includes identity, context, evidence, policy, commitments, payment, ordering, and fulfillment.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lines are information, delegated work, authorization, payment, evidence, or commitment?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Show the relationship behind the dialogue.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A2A carries part of the work relationship. It does not solve every layer. The business must still design identity, authority, transaction rules, and accountability.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Now give each protocol one clear job.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 audience now has enough context for the acronyms to mean something.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Start with the full map.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Give each acronym one job. They are complementary rather than competing standards.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Zoom into A2A first.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https://a2a-protocol.org/latest/</a:t>
            </a:r>
          </a:p>
          <a:p xmlns:a="http://schemas.openxmlformats.org/drawingml/2006/main">
            <a:r>
              <a:t>- https://modelcontextprotocol.io/docs/learn/architecture</a:t>
            </a:r>
          </a:p>
          <a:p xmlns:a="http://schemas.openxmlformats.org/drawingml/2006/main">
            <a:r>
              <a:t>- https://github.com/google-agentic-commerce/AP2</a:t>
            </a:r>
          </a:p>
          <a:p xmlns:a="http://schemas.openxmlformats.org/drawingml/2006/main">
            <a:r>
              <a:t>- https://docs.cdp.coinbase.com/x402/core-concepts/how-it-works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A2A standardizes discovery through Agent Cards and communication through messages and tasks. A task can maintain state and return artifacts.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fields would your company put in its public Agent Card?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Show the task lifecycle.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https://a2a-protocol.org/latest/topics/agent-discovery/</a:t>
            </a:r>
          </a:p>
          <a:p xmlns:a="http://schemas.openxmlformats.org/drawingml/2006/main">
            <a:r>
              <a:t>- https://a2a-protocol.org/latest/topics/key-concepts/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A2A supports messages, tasks, state, streaming, polling, and push-style updates depending on binding and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Where might a human need to enter this lifecycle?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Show the internal tool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https://a2a-protocol.org/latest/topics/key-concepts/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An A2A agent will often use MCP internally. The protocols solve different layers and commonly appear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Now separate authorization from payment.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https://a2a-protocol.org/latest/</a:t>
            </a:r>
          </a:p>
          <a:p xmlns:a="http://schemas.openxmlformats.org/drawingml/2006/main">
            <a:r>
              <a:t>- https://modelcontextprotocol.io/docs/learn/architecture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AP2-style mandates prove delegated intent and limits. x402 is an HTTP-native payment handshake. x402 is one possible settlement rail; authorization can sit above many rails.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layer should block a $500 purchase when the wallet can pay but the mandate allows only $100?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Make the payment flow concrete.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https://github.com/google-agentic-commerce/AP2</a:t>
            </a:r>
          </a:p>
          <a:p xmlns:a="http://schemas.openxmlformats.org/drawingml/2006/main">
            <a:r>
              <a:t>- https://developers.googleblog.com/en/developers-guide-to-ai-agent-protocols/</a:t>
            </a:r>
          </a:p>
          <a:p xmlns:a="http://schemas.openxmlformats.org/drawingml/2006/main">
            <a:r>
              <a:t>- https://docs.cdp.coinbase.com/x402/core-concepts/how-it-works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Narrate the request, 402 challenge, authorization decision, signed retry, and returned resource. In our demo, the proof and settlement are mocked.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Show how the human remains in control.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https://docs.cdp.coinbase.com/x402/core-concepts/how-it-works</a:t>
            </a:r>
          </a:p>
          <a:p xmlns:a="http://schemas.openxmlformats.org/drawingml/2006/main">
            <a:r>
              <a:t>- https://github.com/google-agentic-commerce/AP2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AG-UI is the human-facing event layer in this curriculum. The principle matters even if the implementation uses a different event transport: show work, state, errors, and intervention.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must a human be able to stop?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Now connect the layers to the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 protocol discussion now has a concrete system to attach 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Introduce the services.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Name the five processes and their boundaries. Independent ports make failure and communication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service represents the user, and which represents a paid vendor?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Begin with discovery.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An Agent Card is a machine-readable business card. Discovery is not magical internet search; the client still needs a strategy for finding candidate domains or registries.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claim in an Agent Card would you want independently verified?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Send the dinner goal.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https://a2a-protocol.org/latest/topics/agent-discovery/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 orchestrator delegates pieces of the goal. Look for structured task messages, not just labels in the 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constraints must remain attached to every delegated task?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The booking agent reaches a paid resource.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Stop at the 402. Ask whether the user authorized this purpose and amount. Then make clear that the demo generates mock proof.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should happen if the mandate is expired or already spent?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Inspect the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 raw exchange is the evidence. Identify source, target, method, parameters, state, result, authorization, and payment challenge.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If the UI said payment succeeded but there were no 402 and retry events, would you believe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Transfer the model to the learner’s company.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These questions are the production design checklist. Protocol selection comes after the business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one is currently least clear at your company?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Choose a narrow first capability.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Close by asking every learner to complete the sentence. Prefer a reversible, observable capability such as invoice status, quote request, candidate qualification, support intake, scheduling, or order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should your company build first?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https://a2a-protocol.org/latest/</a:t>
            </a:r>
          </a:p>
          <a:p xmlns:a="http://schemas.openxmlformats.org/drawingml/2006/main">
            <a:r>
              <a:t>- https://modelcontextprotocol.io/docs/learn/architecture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900a5f263d4f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44e1d058194da5" /><Relationship Type="http://schemas.openxmlformats.org/officeDocument/2006/relationships/slideLayout" Target="/ppt/slideLayouts/slideLayout1.xml" Id="R3a1e07c63e6c42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1e07c63e6c42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85097a2c04cbf" /><Relationship Type="http://schemas.openxmlformats.org/officeDocument/2006/relationships/notesSlide" Target="/ppt/notesSlides/notesSlide1.xml" Id="Rfc5c9d5898244f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8c6de757f49ed" /><Relationship Type="http://schemas.openxmlformats.org/officeDocument/2006/relationships/notesSlide" Target="/ppt/notesSlides/notesSlide2.xml" Id="R45e021ba0a9749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8ff73b21941b7" /><Relationship Type="http://schemas.openxmlformats.org/officeDocument/2006/relationships/notesSlide" Target="/ppt/notesSlides/notesSlide3.xml" Id="R01c7f9c706a440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46a1313184ad0" /><Relationship Type="http://schemas.openxmlformats.org/officeDocument/2006/relationships/notesSlide" Target="/ppt/notesSlides/notesSlide4.xml" Id="Rfa8080d5720144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80c78c58848da" /><Relationship Type="http://schemas.openxmlformats.org/officeDocument/2006/relationships/notesSlide" Target="/ppt/notesSlides/notesSlide5.xml" Id="R2b1dad52565e47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3b28843d6455e" /><Relationship Type="http://schemas.openxmlformats.org/officeDocument/2006/relationships/notesSlide" Target="/ppt/notesSlides/notesSlide6.xml" Id="Rf7658faa115f49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ce0e34832486c" /><Relationship Type="http://schemas.openxmlformats.org/officeDocument/2006/relationships/notesSlide" Target="/ppt/notesSlides/notesSlide7.xml" Id="Rc1edeca0410e49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f1a4b0bf64819" /><Relationship Type="http://schemas.openxmlformats.org/officeDocument/2006/relationships/notesSlide" Target="/ppt/notesSlides/notesSlide8.xml" Id="R543f5b10c09547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6a12d29e74ea3" /><Relationship Type="http://schemas.openxmlformats.org/officeDocument/2006/relationships/notesSlide" Target="/ppt/notesSlides/notesSlide9.xml" Id="R6fbcec13245140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7ea8437fd43b5" /><Relationship Type="http://schemas.openxmlformats.org/officeDocument/2006/relationships/notesSlide" Target="/ppt/notesSlides/notesSlide10.xml" Id="Rf95c7730576b479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e3ddda9914ab0" /><Relationship Type="http://schemas.openxmlformats.org/officeDocument/2006/relationships/notesSlide" Target="/ppt/notesSlides/notesSlide11.xml" Id="R1ef78654254d413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6273e1167f4697" /><Relationship Type="http://schemas.openxmlformats.org/officeDocument/2006/relationships/notesSlide" Target="/ppt/notesSlides/notesSlide12.xml" Id="R846d07c6fdb5432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654dc03f14b3e" /><Relationship Type="http://schemas.openxmlformats.org/officeDocument/2006/relationships/notesSlide" Target="/ppt/notesSlides/notesSlide13.xml" Id="R9de03910600242c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f98c024fe4f28" /><Relationship Type="http://schemas.openxmlformats.org/officeDocument/2006/relationships/notesSlide" Target="/ppt/notesSlides/notesSlide14.xml" Id="R963d97af6350448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d0493270941df" /><Relationship Type="http://schemas.openxmlformats.org/officeDocument/2006/relationships/notesSlide" Target="/ppt/notesSlides/notesSlide15.xml" Id="R3f5043f6154d4da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ec86d4de643bc" /><Relationship Type="http://schemas.openxmlformats.org/officeDocument/2006/relationships/notesSlide" Target="/ppt/notesSlides/notesSlide16.xml" Id="Rad19772d0f9e42c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9ee1dcd1984d58" /><Relationship Type="http://schemas.openxmlformats.org/officeDocument/2006/relationships/notesSlide" Target="/ppt/notesSlides/notesSlide17.xml" Id="Rc69492a3ea8a4c3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b076132974d9d" /><Relationship Type="http://schemas.openxmlformats.org/officeDocument/2006/relationships/notesSlide" Target="/ppt/notesSlides/notesSlide18.xml" Id="R9dd0aaaeb3c74f8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f475bd9a154115" /><Relationship Type="http://schemas.openxmlformats.org/officeDocument/2006/relationships/notesSlide" Target="/ppt/notesSlides/notesSlide19.xml" Id="R2fa80cbf6b5f473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27073de7c451b" /><Relationship Type="http://schemas.openxmlformats.org/officeDocument/2006/relationships/notesSlide" Target="/ppt/notesSlides/notesSlide20.xml" Id="R48b9f4243ae74ae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d954b43744d6f" /><Relationship Type="http://schemas.openxmlformats.org/officeDocument/2006/relationships/notesSlide" Target="/ppt/notesSlides/notesSlide21.xml" Id="R2bf839accde84d8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c3d9b42ee4fbb" /><Relationship Type="http://schemas.openxmlformats.org/officeDocument/2006/relationships/notesSlide" Target="/ppt/notesSlides/notesSlide22.xml" Id="R13d39f8c13f84bf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618b64f2c44e75" /><Relationship Type="http://schemas.openxmlformats.org/officeDocument/2006/relationships/notesSlide" Target="/ppt/notesSlides/notesSlide23.xml" Id="R7cb96315250d48b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2f84f57dc4847" /><Relationship Type="http://schemas.openxmlformats.org/officeDocument/2006/relationships/notesSlide" Target="/ppt/notesSlides/notesSlide24.xml" Id="R11f33f894ee4483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32e8338b9421d" /><Relationship Type="http://schemas.openxmlformats.org/officeDocument/2006/relationships/notesSlide" Target="/ppt/notesSlides/notesSlide25.xml" Id="R9fa5a4fc9cc744f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2cd7a375c4100" /><Relationship Type="http://schemas.openxmlformats.org/officeDocument/2006/relationships/notesSlide" Target="/ppt/notesSlides/notesSlide26.xml" Id="R3ee3d53a31cb42f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7b8fac9c5449b" /><Relationship Type="http://schemas.openxmlformats.org/officeDocument/2006/relationships/notesSlide" Target="/ppt/notesSlides/notesSlide27.xml" Id="Rbf01068d28da49d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53586c9c644d8" /><Relationship Type="http://schemas.openxmlformats.org/officeDocument/2006/relationships/notesSlide" Target="/ppt/notesSlides/notesSlide28.xml" Id="Rbb0a67684f0f455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3a7861e0ef4a13" /><Relationship Type="http://schemas.openxmlformats.org/officeDocument/2006/relationships/notesSlide" Target="/ppt/notesSlides/notesSlide29.xml" Id="R0c94f30f05bf458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057f649c4b454f" /><Relationship Type="http://schemas.openxmlformats.org/officeDocument/2006/relationships/notesSlide" Target="/ppt/notesSlides/notesSlide30.xml" Id="R12f6d828115544a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02a50242e5462d" /><Relationship Type="http://schemas.openxmlformats.org/officeDocument/2006/relationships/notesSlide" Target="/ppt/notesSlides/notesSlide31.xml" Id="R4f8c0578d74b4b2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db0a9b85f49e3" /><Relationship Type="http://schemas.openxmlformats.org/officeDocument/2006/relationships/notesSlide" Target="/ppt/notesSlides/notesSlide32.xml" Id="Re875cbae972a4fd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eaf4368c241b0" /><Relationship Type="http://schemas.openxmlformats.org/officeDocument/2006/relationships/notesSlide" Target="/ppt/notesSlides/notesSlide33.xml" Id="Rd7e2754963c545a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176030c6a4477" /><Relationship Type="http://schemas.openxmlformats.org/officeDocument/2006/relationships/notesSlide" Target="/ppt/notesSlides/notesSlide34.xml" Id="R25c7dced4ff248c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f080deb664442" /><Relationship Type="http://schemas.openxmlformats.org/officeDocument/2006/relationships/notesSlide" Target="/ppt/notesSlides/notesSlide35.xml" Id="R20050f0d6a3a4d6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f195e86314dad" /><Relationship Type="http://schemas.openxmlformats.org/officeDocument/2006/relationships/notesSlide" Target="/ppt/notesSlides/notesSlide36.xml" Id="R45faf1a3dc0a4e4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7f91d092f34e1b" /><Relationship Type="http://schemas.openxmlformats.org/officeDocument/2006/relationships/notesSlide" Target="/ppt/notesSlides/notesSlide37.xml" Id="R2e2513901ffe480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9FE521-86BE-4BB3-A3CF-D0197FC0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7A7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77A7FF"/>
                </a:solidFill>
                <a:latin typeface="Aptos"/>
                <a:ea typeface="Aptos"/>
                <a:cs typeface="Aptos"/>
              </a:rPr>
              <a:t>PHASE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A2663E-4BD8-4140-B51D-26177D96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287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When companies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start talking to agents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127C8-203D-4C6F-B826-F54466C9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990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4D0E0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4D0E0"/>
                </a:solidFill>
                <a:latin typeface="Aptos"/>
                <a:ea typeface="Aptos"/>
                <a:cs typeface="Aptos"/>
              </a:rPr>
              <a:t>A practical introduction to agent-to-agent business, protocols, trust, and the systems every development team will need to design.</a:t>
            </a:r>
          </a:p>
        </p:txBody>
      </p:sp>
    </p:spTree>
    <p:extLst>
      <p:ext uri="{BB962C8B-B14F-4D97-AF65-F5344CB8AC3E}">
        <p14:creationId xmlns:p14="http://schemas.microsoft.com/office/powerpoint/2010/main" val="2513238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B81252-3851-4786-8898-FADD5E5E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B9417-F385-4C6E-A9D8-3BC34636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1484F-A12D-46E8-B352-DF3A81B1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Here is the story we are going to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0A0E8-123A-4CF6-A282-CB26BD42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4953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7AE259-E420-435B-8858-AB39250F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621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 new visitor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3DCFD-3138-4805-B2C3-DA7734E2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62125"/>
            <a:ext cx="695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An agent arrives instead of a person.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6D913B-64DA-43AE-BEB2-E4943E34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953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D9989D-AE6C-49D0-8D73-926F1085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003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Tool or actor?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B3896-390F-4BDA-8676-4AD61DB7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00325"/>
            <a:ext cx="695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MCP and A2A solve different relationships.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939143-E813-4CEF-B3E6-C61B2529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4953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9F04B0-F615-4E08-8F19-44CEFB9D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385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Real markets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9866A8-1B91-4F15-94D8-F0CDB1B0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38525"/>
            <a:ext cx="695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Jobs, vendors, customers, and attention.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FFE69E-61FB-4140-B28E-04A3CFAF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953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F0B884-B871-4473-9421-2D594B53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767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Trust 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F24F72-1D38-4324-886C-B28EF382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76725"/>
            <a:ext cx="695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Authority, payment, reputation, and visibility.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9473B3-DBA2-4B06-A8DD-59F28157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4953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3915B-E063-4B84-A84E-28CE15E0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149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Working proof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AFEE4F-15A7-41CA-9995-77A0A681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14925"/>
            <a:ext cx="695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Discover, Ask, Pay, and Explore the wire.</a:t>
            </a:r>
          </a:p>
        </p:txBody>
      </p:sp>
    </p:spTree>
    <p:extLst>
      <p:ext uri="{BB962C8B-B14F-4D97-AF65-F5344CB8AC3E}">
        <p14:creationId xmlns:p14="http://schemas.microsoft.com/office/powerpoint/2010/main" val="7350266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F3965-D98F-4B62-AACF-B7618B24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7A7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77A7FF"/>
                </a:solidFill>
                <a:latin typeface="Aptos"/>
                <a:ea typeface="Aptos"/>
                <a:cs typeface="Aptos"/>
              </a:rPr>
              <a:t>SECTION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53BBB-89E9-4A03-AF87-E13C4252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new visitor is coming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9AB19-654C-44E2-AD05-C56A60F0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8C5D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B8C5D6"/>
                </a:solidFill>
                <a:latin typeface="Aptos"/>
                <a:ea typeface="Aptos"/>
                <a:cs typeface="Aptos"/>
              </a:rPr>
              <a:t>What changes when an agent—not a person—arrives at the company?</a:t>
            </a:r>
          </a:p>
        </p:txBody>
      </p:sp>
    </p:spTree>
    <p:extLst>
      <p:ext uri="{BB962C8B-B14F-4D97-AF65-F5344CB8AC3E}">
        <p14:creationId xmlns:p14="http://schemas.microsoft.com/office/powerpoint/2010/main" val="12944534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42E4E2-25D2-4E4D-A2EE-0E3CAF86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9CEE2F-44BE-4966-BB38-492A2831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415CE9-F267-48B0-9895-4F489BB0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Today, a person translates your website into a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7C2A7C-702C-4220-B5CA-BD3C750B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762250" cy="31432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F565-1B1C-44D8-8D29-406446EA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Human visitor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EE8D9-675B-40E5-BD3A-76920133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2305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Reads pages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Interprets branding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Fills forms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Calls or emails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Remembers 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65169-CBAE-4786-AA9D-F5D7DFA2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333750"/>
            <a:ext cx="7620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924631-0A24-4F0C-ABBE-7D7CE4CF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00250"/>
            <a:ext cx="2857500" cy="3143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DD5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FFDEC-DE0A-4B3B-9B96-04A74902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09800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Company website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83D2A-3B94-4405-820B-C0E3AC9B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67000"/>
            <a:ext cx="2400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Navigation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Marketing copy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Documents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Forms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Contact information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3B44E-CE63-40B7-9987-3AA478A5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333750"/>
            <a:ext cx="7620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E5F363-BB17-4F26-9570-CB274516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00250"/>
            <a:ext cx="2952750" cy="3143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61EAD0-89BC-429B-AEAC-2FED30F8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09800"/>
            <a:ext cx="2495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Human employee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372216-B7AE-4B8E-A5E2-449CBD88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67000"/>
            <a:ext cx="2495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Qualifies request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Answers questions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Applies policy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Makes commitments</a:t>
            </a:r>
          </a:p>
        </p:txBody>
      </p:sp>
    </p:spTree>
    <p:extLst>
      <p:ext uri="{BB962C8B-B14F-4D97-AF65-F5344CB8AC3E}">
        <p14:creationId xmlns:p14="http://schemas.microsoft.com/office/powerpoint/2010/main" val="5166620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CDFE7B-C824-4AE5-93DD-A16817FD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071AF-2021-4CE0-9493-401FB7C3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31E1C-A4D4-4C32-93F3-D29D816D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Soon, an agent will expect a company it can understand and engage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75EE1-37E3-463C-9ACF-BD05E610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857500" cy="2857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CC404-E127-4E7A-A189-583ADE0C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Customer’s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FA6568-9FE3-4274-8425-FD76EB61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24003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Represents a person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Carries goals and constraints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Expects structured answers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400D3-5602-4DF3-B433-DC8052A8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7620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D87707-2C24-4290-A110-90BA3FC5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3048000" cy="2857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1580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93571B-D0F9-4725-B9D1-B164DE9D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305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Company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4ED1D-A7F0-4D2C-873A-0E0726A0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762250"/>
            <a:ext cx="25908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Publishes capabilities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Qualifies requests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Maintains task state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Applies policy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Escalates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08D52C-52C4-4C71-A617-00DDD42E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333750"/>
            <a:ext cx="7143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1580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5806AC-FBAC-41F8-AEF2-DA9C3D31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095500"/>
            <a:ext cx="2714625" cy="285750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DD5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D1D799-A297-45B4-A490-2BECE0DF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3050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Company systems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196C73-498C-4F62-A7C5-DE83BA8C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762250"/>
            <a:ext cx="225742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CRM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Inventory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Billing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Support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People</a:t>
            </a:r>
          </a:p>
        </p:txBody>
      </p:sp>
    </p:spTree>
    <p:extLst>
      <p:ext uri="{BB962C8B-B14F-4D97-AF65-F5344CB8AC3E}">
        <p14:creationId xmlns:p14="http://schemas.microsoft.com/office/powerpoint/2010/main" val="20377454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6A858A-869D-44BA-A23A-B8051EB0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B0161D-9A65-49F9-ABD5-29489F97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3F05A7-1F9D-4398-9A50-E56A3030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first rung: give agents clean facts instead of page chrome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3D48C-BD77-4A89-A40C-B6070D67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4288">
            <a:solidFill>
              <a:srgbClr val="FEE2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F0B2C-1DC2-4478-870B-D990AE5C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78151-6721-42CA-9C30-48FCA250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Human page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593D45-D5EE-4ACD-8579-F4783435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Navigation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Hero copy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Cookie banner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Calls to action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Hidden timestamps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15B438-6728-4DC4-ADF8-4A538047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 response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95F17-9F7C-4C5E-B876-D14D74CD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# Product: Widget 24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Price: $18.00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Available: 220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Updated: 2026-07-27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Policy: Net 30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Action: request_quote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7A84E-3B00-4DE6-8383-BDE1A6FC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0"/>
            <a:ext cx="1112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Useful result: the agent can read the company accurately.</a:t>
            </a:r>
          </a:p>
        </p:txBody>
      </p:sp>
    </p:spTree>
    <p:extLst>
      <p:ext uri="{BB962C8B-B14F-4D97-AF65-F5344CB8AC3E}">
        <p14:creationId xmlns:p14="http://schemas.microsoft.com/office/powerpoint/2010/main" val="11908864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15855C-2357-4E95-AE23-FC310EC3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E8448-FF8F-422B-AF66-12E76D32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703FFB-141F-4CAF-B1BB-8C707931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Reading the company is not the same as working with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06AFE6-FAA8-4E38-BA62-EE69E893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C2CFEA-72B5-4BCD-9FE8-626DF328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4288">
            <a:solidFill>
              <a:srgbClr val="FEF3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D43EB6-122E-401C-9EC7-6783C2EF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Agent-readable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E8E47-E740-47D8-A29B-4BDE7355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agent can: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find facts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compare products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discover contact paths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understand policy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DD0908-D780-4461-BB22-AC27D3B2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Agent-operable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43BA8A-857E-426D-B4B0-000DEF0B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company can: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ask qualifying questions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maintain a task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negotiate within policy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commit or decline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escalate to a human</a:t>
            </a:r>
          </a:p>
        </p:txBody>
      </p:sp>
    </p:spTree>
    <p:extLst>
      <p:ext uri="{BB962C8B-B14F-4D97-AF65-F5344CB8AC3E}">
        <p14:creationId xmlns:p14="http://schemas.microsoft.com/office/powerpoint/2010/main" val="16875253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F2B3E-947D-4B10-A0E6-084687E8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7E8F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7E8F9"/>
                </a:solidFill>
                <a:latin typeface="Aptos"/>
                <a:ea typeface="Aptos"/>
                <a:cs typeface="Aptos"/>
              </a:rPr>
              <a:t>SECTION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68014B-9798-4BED-954F-A2880CF9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Is the other side a tool or an actor?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F9A94C-7E1A-4B85-8C99-6979C9F3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8C5D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B8C5D6"/>
                </a:solidFill>
                <a:latin typeface="Aptos"/>
                <a:ea typeface="Aptos"/>
                <a:cs typeface="Aptos"/>
              </a:rPr>
              <a:t>This is the clearest way to understand MCP versus A2A.</a:t>
            </a:r>
          </a:p>
        </p:txBody>
      </p:sp>
    </p:spTree>
    <p:extLst>
      <p:ext uri="{BB962C8B-B14F-4D97-AF65-F5344CB8AC3E}">
        <p14:creationId xmlns:p14="http://schemas.microsoft.com/office/powerpoint/2010/main" val="10745957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2EB8C1-5FDC-4360-84BF-9F090F40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BE2627-E7BA-4475-9783-E0ED2C41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CE265-78E9-412B-9195-2B756691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MCP example: “Read my unread email”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8AA19-3F64-454F-B572-7B12E2C2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238500" cy="26670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8B501-8290-4806-800D-F463E7DB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My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854536-50FC-4C03-BB7A-0730C43C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27813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Controls the workflow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Chooses a capability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Supplies structured arguments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829EC9-4632-45C9-9FC3-8E2BDEDB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38500"/>
            <a:ext cx="12382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8D503-E73A-45A5-864B-02137663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90750"/>
            <a:ext cx="3238500" cy="26670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4288">
            <a:solidFill>
              <a:srgbClr val="7C3A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44B0DA-F227-4784-8CC5-31E6E98F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003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Email MCP server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FD61C9-BC14-4734-A286-0BBD393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27813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Exposes tools and resources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Executes a bounded operation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Returns structured content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3E76A4-699D-42F0-B034-558537E5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847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The email system is a capability inside my agent’s workflow.</a:t>
            </a:r>
          </a:p>
        </p:txBody>
      </p:sp>
    </p:spTree>
    <p:extLst>
      <p:ext uri="{BB962C8B-B14F-4D97-AF65-F5344CB8AC3E}">
        <p14:creationId xmlns:p14="http://schemas.microsoft.com/office/powerpoint/2010/main" val="7605061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3D2630-5037-4E89-98D4-68093BE9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A984C-3ECF-4E75-928D-CDD14A53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CE3B9-6DCA-47AD-8644-F3814155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A2A example: “Find a qualified candidate and return with evidence”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F794A-5CEB-4BCE-A1B7-FE537E1F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0"/>
            <a:ext cx="3048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109E64-89EC-492E-BD33-698E3F93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05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Hiring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165231-8F76-40F5-8FE7-AEEC0448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762250"/>
            <a:ext cx="25908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Delegates an outcome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Does not need the other agent’s internal tools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Tracks progress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19161-0B12-49AF-AA25-4F477ACD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86125"/>
            <a:ext cx="7143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1E3903-12B3-4D01-B152-5BF171CD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333375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AF8EA-3C79-4E07-94E1-60777F58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05050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Patron company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743DF9-DAB2-4716-AEA5-75043036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62250"/>
            <a:ext cx="287655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Accepts the goal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Plans its own work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Asks questions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Maintains task state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Returns artifacts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3910E-A821-4559-95EA-95B3F497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86125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A45570-C255-4DF4-A0F6-10ED756D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33625"/>
            <a:ext cx="238125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DD5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343A76-5C35-4682-88CE-2739F69D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543175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Its tools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83DC47-68ED-423B-B0E0-167DE85A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000375"/>
            <a:ext cx="19240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Jobs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Policies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Evidence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People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9E7175-71A7-4618-937A-3D24A008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The remote system is a counterparty—not merely a function.</a:t>
            </a:r>
          </a:p>
        </p:txBody>
      </p:sp>
    </p:spTree>
    <p:extLst>
      <p:ext uri="{BB962C8B-B14F-4D97-AF65-F5344CB8AC3E}">
        <p14:creationId xmlns:p14="http://schemas.microsoft.com/office/powerpoint/2010/main" val="5655998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51623E-BBFF-4CA9-9C82-C530BC66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C7050C-64C0-44CF-B9FB-B7B84BF7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E2AFB-9359-4EBC-8F71-F48AF327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durable distinction is capability versus delegated agency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E5412-519F-4432-A18B-2190998D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4288">
            <a:solidFill>
              <a:srgbClr val="EDE9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E772E-6D7E-4909-BC84-F30C2702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CFFAF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4886A-3860-4CC0-8886-8E8BA6B6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MCP equips the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55188B-7145-4625-89EB-0F13C44C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for tools, APIs, files, databases, email, calendars, prompts, and resources.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controlling host owns the larger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7BB047-1280-4E2C-A45C-32F92E53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A2A connects agents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7357E7-9733-4E89-BAF8-6B2EF2FC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when independent actors discover each other, delegate goals, exchange messages, maintain task state, and return artifacts.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836B3D-A06D-4077-AA32-686616DB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0"/>
            <a:ext cx="1112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MCP can be bidirectional. A2A is not simply “two-way MCP.”</a:t>
            </a:r>
          </a:p>
        </p:txBody>
      </p:sp>
    </p:spTree>
    <p:extLst>
      <p:ext uri="{BB962C8B-B14F-4D97-AF65-F5344CB8AC3E}">
        <p14:creationId xmlns:p14="http://schemas.microsoft.com/office/powerpoint/2010/main" val="2764239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A883F4-E3AB-4664-BA28-BB26E005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F3D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7F3D0"/>
                </a:solidFill>
                <a:latin typeface="Aptos"/>
                <a:ea typeface="Aptos"/>
                <a:cs typeface="Aptos"/>
              </a:rPr>
              <a:t>SECTION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B1884-4580-4613-AC74-E3504A1C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Put agents on both sides of the market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EB625-7BB8-4827-BE89-300B9C7F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8C5D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B8C5D6"/>
                </a:solidFill>
                <a:latin typeface="Aptos"/>
                <a:ea typeface="Aptos"/>
                <a:cs typeface="Aptos"/>
              </a:rPr>
              <a:t>Patron AI makes the future concrete: a personal agent meets a company agent.</a:t>
            </a:r>
          </a:p>
        </p:txBody>
      </p:sp>
    </p:spTree>
    <p:extLst>
      <p:ext uri="{BB962C8B-B14F-4D97-AF65-F5344CB8AC3E}">
        <p14:creationId xmlns:p14="http://schemas.microsoft.com/office/powerpoint/2010/main" val="9184535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296F3D-04CB-4983-BD3C-8443141B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FD3841-604F-437E-B99B-9F564052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554828-AAA6-41E7-A084-D6A15A87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Patron AI begins with two authorized representatives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E4113-CC7E-4CC8-A39B-94CD64E8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3714750" cy="32385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6595A-018C-4E20-A607-E4F1EB40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9800"/>
            <a:ext cx="3257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Candidate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50D07-2A70-4C9A-96C3-4FF822EC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67000"/>
            <a:ext cx="32575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Goals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Location and compensation constraints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Skills and evidence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Communication mandate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Human escalation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C777B0-FF5B-4552-90EF-3201E132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81375"/>
            <a:ext cx="17145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ED991D-ADED-4242-9489-A3330630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00250"/>
            <a:ext cx="3714750" cy="32385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1580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F83F0A-55E8-45F1-80A7-2CA290B2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09800"/>
            <a:ext cx="3257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Company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BC694D-DD4C-40EF-A928-676F5704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667000"/>
            <a:ext cx="32575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Open opportunities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Qualification policy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Permitted disclosures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Evidence requests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Human routing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1A20B1-CEEC-43D2-94AB-3198D2EF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Both agents represent a principal. Neither should have unlimited authority.</a:t>
            </a:r>
          </a:p>
        </p:txBody>
      </p:sp>
    </p:spTree>
    <p:extLst>
      <p:ext uri="{BB962C8B-B14F-4D97-AF65-F5344CB8AC3E}">
        <p14:creationId xmlns:p14="http://schemas.microsoft.com/office/powerpoint/2010/main" val="7855201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E9269D-54C0-4721-AA64-5AE05C46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09ACA1-EDBD-44EC-A5B3-465329AF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0F41BF-FE0A-42BF-A1F5-7690862C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 good agent qualifies before it asks for human attention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7550DF-E6B1-4BFA-8C1A-EA37CD74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4381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3F8DE1-7862-4324-8A55-B05349A4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764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Candidate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8E70F-DB54-49F7-9373-ED07E839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76400"/>
            <a:ext cx="781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“Does this role satisfy remote, compensation, and stack constraints?”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9F2BA-BE82-491D-8688-16E0539F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4381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6A7C05-4252-44EC-B305-D26E4944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765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Company 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8BBBDD-DEEA-4931-B605-F377B6CC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76525"/>
            <a:ext cx="781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“Yes. Provide evidence for the required production experience.”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50328B-4FF3-4741-8469-64536F5B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4381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165DB2-9ECB-4F25-B18B-1F3FE4C9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76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Candidate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A3F43C-DE4F-4FEB-B382-0A99BAE9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76650"/>
            <a:ext cx="781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“Here are two verifiable projects and the candidate’s authorization to proceed.”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8E8F1C-C190-4BD8-9CE4-A26495A7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4381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2C01D3-D7D3-421F-8EE4-8253020B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767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Company 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7DE7B3-11FE-4F56-BF43-44EF4136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76775"/>
            <a:ext cx="781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“This is a strong match. I will ask a recruiter to review it.”</a:t>
            </a:r>
          </a:p>
        </p:txBody>
      </p:sp>
    </p:spTree>
    <p:extLst>
      <p:ext uri="{BB962C8B-B14F-4D97-AF65-F5344CB8AC3E}">
        <p14:creationId xmlns:p14="http://schemas.microsoft.com/office/powerpoint/2010/main" val="515886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2997ED-EA76-4E3A-A1B6-AD82D7FC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1A6C57-DDFA-4DBC-B62C-AC3F5AAC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42C7A-6200-42FD-90B6-193AE71C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Patron AI is not a better scraper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0B3286-6680-4C38-BC69-12B58991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4288">
            <a:solidFill>
              <a:srgbClr val="FEE2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850570-2063-485A-A1F5-EA425CB1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99242-F8BD-4C22-B892-D0868B77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Unauthorized automation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3ADC90-D005-4FB3-A3EB-823057FC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Scrapes closed platforms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Automates messages without permission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Circumvents product limits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Creates privacy and spam risk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F5E1F-979B-4589-98BA-196A094B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Agent-native marketplace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F8F7B-6135-4CC6-A1BC-CDAE1C34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Publishes supported interfaces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Authenticates representation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Defines recipient controls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Tracks reputation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Provides correction and appeals</a:t>
            </a:r>
          </a:p>
        </p:txBody>
      </p:sp>
    </p:spTree>
    <p:extLst>
      <p:ext uri="{BB962C8B-B14F-4D97-AF65-F5344CB8AC3E}">
        <p14:creationId xmlns:p14="http://schemas.microsoft.com/office/powerpoint/2010/main" val="13966906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166E7-A022-4DFE-A061-F452F507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B14CA9-9F9A-4A73-A372-47C68333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9D257-0DA7-4307-B995-052DCDE8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When sending becomes free, attention becomes the scarce resource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B11C1-AAB2-4C24-BB3B-3A1D5634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0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90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480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98ABE-3B44-44B7-888B-9C0C213B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applications 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DC049B-BF2D-4817-8932-7311596B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52750"/>
            <a:ext cx="1428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B91C1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360A51-AAA6-42CC-908E-42A9B476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90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01BF5-80FD-4488-A9E8-3E03E78A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24250"/>
            <a:ext cx="209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employer inbox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239710-36A2-422B-BA6B-41B1DBEC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2571750" cy="23812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0DD69A-945C-4FAF-A67C-B618DE54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09800"/>
            <a:ext cx="2114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hidden cost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C897FC-67B2-4205-A7BA-C6845158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67000"/>
            <a:ext cx="21145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Every low-fit request moves filtering work from the sender to the recipient.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53BC93-CF7B-4B53-98C5-85B179A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 healthy market rewards fit—not fan-out.</a:t>
            </a:r>
          </a:p>
        </p:txBody>
      </p:sp>
    </p:spTree>
    <p:extLst>
      <p:ext uri="{BB962C8B-B14F-4D97-AF65-F5344CB8AC3E}">
        <p14:creationId xmlns:p14="http://schemas.microsoft.com/office/powerpoint/2010/main" val="44022679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F6B62E-C6F6-4B24-967F-092AB7F3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A41957-6307-4498-A6DF-BC58A705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87ED4-0C73-4072-A068-E1420531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Measure whether the agent creates useful matches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4B7D6-DF1F-4BC2-AC32-8636BC60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5143500" cy="17145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E8322-5BB1-4369-B1E3-B61074EC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Relevance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396BA-CC88-4F40-ABFD-46F71096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Targets satisfy declared constraints and show company-specific inspection.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051169-04E9-4BD6-A9FB-9D86738D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33550"/>
            <a:ext cx="5143500" cy="17145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6C21B6-4765-4E58-A17A-FF2E25F5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270E9C-62D0-4BEC-94DA-44287977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Claims are specific, authorized, and supported—not generic generated prose.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6F072-B6F1-452F-AB3F-B367096B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29050"/>
            <a:ext cx="5143500" cy="17145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4288">
            <a:solidFill>
              <a:srgbClr val="FEF3C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68BE95-C3A1-40C8-A139-D82E15FC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Behavior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18F8D2-CA21-4525-A9DA-B76BDB71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agent honors declines, cooldowns, duplicates, and contact boundaries.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54EB5E-469F-4B71-86E3-ECC73FFF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29050"/>
            <a:ext cx="5143500" cy="17145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4288">
            <a:solidFill>
              <a:srgbClr val="EDE9F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0E11E6-68F2-4E8E-B0A5-DA2464F8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576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Outcomes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1FBDE0-CA17-4739-919F-0053F30D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529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Responses and positive outcomes are interpreted in market context.</a:t>
            </a:r>
          </a:p>
        </p:txBody>
      </p:sp>
    </p:spTree>
    <p:extLst>
      <p:ext uri="{BB962C8B-B14F-4D97-AF65-F5344CB8AC3E}">
        <p14:creationId xmlns:p14="http://schemas.microsoft.com/office/powerpoint/2010/main" val="4308345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F249E4-48C8-49CE-A628-F80DBD5E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BA88E8-ACB3-4F1F-B101-29BC4599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77D4D-BB39-48CF-BD4A-F57C969F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Do not collapse every mistake onto the human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09CE5-53CD-4FC2-8627-1BAEDDCF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38125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BF2BCB-6EE6-4119-BFB5-6B0CD510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Principal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12416B-1E0F-4EFD-87AD-296A52FB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person or company represented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73ECBC-D40B-4C7F-84BC-95B10442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38125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122F8B-672B-4B43-8310-FE288401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76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Agent instance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9AB76-EC2A-4B6B-90E4-D924B2B1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432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This configuration and its behavior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ACDEDE-9334-4CF1-A6D8-952FA28B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90750"/>
            <a:ext cx="238125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D5A41-D324-48CA-9968-C14D67BF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Provider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7381C9-9FE3-48DA-907A-DE0BFF6A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software operator enabling behavior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5A09A-070B-4986-B84C-C6435099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90750"/>
            <a:ext cx="238125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6BB64D-B575-46B4-9127-1163EA52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76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Claims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2F0760-6F33-42C9-9DBB-DAC32EA1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432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credentials and evidence in this exchange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14C375-1ECD-47BF-AC24-8DFC296C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9112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Correctable configuration errors and systematic provider abuse are not the same thing.</a:t>
            </a:r>
          </a:p>
        </p:txBody>
      </p:sp>
    </p:spTree>
    <p:extLst>
      <p:ext uri="{BB962C8B-B14F-4D97-AF65-F5344CB8AC3E}">
        <p14:creationId xmlns:p14="http://schemas.microsoft.com/office/powerpoint/2010/main" val="198757425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D1B4B-2373-47D2-B1F0-DE6B1EA4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DE68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DE68A"/>
                </a:solidFill>
                <a:latin typeface="Aptos"/>
                <a:ea typeface="Aptos"/>
                <a:cs typeface="Aptos"/>
              </a:rPr>
              <a:t>SECTION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BAFE7-4643-457B-A8A4-C19A3D83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same pattern appears between companies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83A10-54BB-4AE4-8414-9D25316C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8C5D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B8C5D6"/>
                </a:solidFill>
                <a:latin typeface="Aptos"/>
                <a:ea typeface="Aptos"/>
                <a:cs typeface="Aptos"/>
              </a:rPr>
              <a:t>A buyer agent and supplier agent can maintain an ordinary business relationship.</a:t>
            </a:r>
          </a:p>
        </p:txBody>
      </p:sp>
    </p:spTree>
    <p:extLst>
      <p:ext uri="{BB962C8B-B14F-4D97-AF65-F5344CB8AC3E}">
        <p14:creationId xmlns:p14="http://schemas.microsoft.com/office/powerpoint/2010/main" val="11374201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F085C4-B2BD-45C7-A6EF-C49A8CB2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653D44-2E6F-46B7-95AA-949D2939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27A5B-212A-4B5A-84D4-E04E3561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 vendor conversation carries the relationship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1279F-BCCC-4549-A89F-78B6DA13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1238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SUPPLIER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4055C-5F5F-49D6-92CB-A22EC685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543050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Your invoice is ready.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EE3E4-93E2-4535-BCE2-5CC3AAD2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85975"/>
            <a:ext cx="1238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1E183-220A-479F-8499-23276FAA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124075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Does it match purchase order 4817?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1F85D1-5896-4BC7-BC96-CEFF228C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1238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SUPPLIER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60A2EC-83B2-43D9-BE77-AF69B5F3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05100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Yes. Here is the line-item and delivery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77BC09-F4D3-489C-B26A-0EF7742D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48025"/>
            <a:ext cx="1238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883A41-D743-473A-8E99-AE60C846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86125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It is within policy. Submit it for payment.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66F61D-AD40-4409-8120-5520B27E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1238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602F50-0B3A-4BF2-8075-4C4E0EEE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867150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 also need ten replacement widgets by Friday.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E066EA-E986-4E21-B730-CF315D25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1238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SUPPLIER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6FF9E6-977D-4749-9AA6-67FD48E0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48175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Here are two compliant options.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3B4580-8EF2-44B1-92A1-D513F6C9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91100"/>
            <a:ext cx="1238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BUYER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05FB6C-1A59-42A9-B372-0AE73FF1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29200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Order the approved option.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87262D-AB71-4862-B3A7-35142792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238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SUPPLIER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9D9011-11A8-40C8-9B77-02196C91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10225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Your widgets are on the way.</a:t>
            </a:r>
          </a:p>
        </p:txBody>
      </p:sp>
    </p:spTree>
    <p:extLst>
      <p:ext uri="{BB962C8B-B14F-4D97-AF65-F5344CB8AC3E}">
        <p14:creationId xmlns:p14="http://schemas.microsoft.com/office/powerpoint/2010/main" val="51475592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80D76A-1802-4E5D-A676-9901EEA4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E8C37B-7E46-4D08-9258-C8AA1991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CBD00-49D8-4C0C-816E-D170A360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 business relationship has layers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6B8641-1BC9-4FE7-9D20-5EC9D11B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9810750" cy="628650"/>
          </a:xfrm>
          <a:prstGeom xmlns:a="http://schemas.openxmlformats.org/drawingml/2006/main" prst="roundRect">
            <a:avLst>
              <a:gd name="adj" fmla="val 21212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5F76E4-E9D2-470F-946B-AE53A0BA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716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IDENTITY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B1D7A2-3DFB-468A-A87C-9D9D70D1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Who does each agent represent?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C860C1-CA71-4BFB-AC36-F3564C5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95550"/>
            <a:ext cx="9315450" cy="628650"/>
          </a:xfrm>
          <a:prstGeom xmlns:a="http://schemas.openxmlformats.org/drawingml/2006/main" prst="roundRect">
            <a:avLst>
              <a:gd name="adj" fmla="val 21212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4288">
            <a:solidFill>
              <a:srgbClr val="FEF3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C0D853-9D6E-4EBA-8CCA-75B1B967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479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AUTHORITY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06AAD-6A24-4927-BF29-A14F8DBD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652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may each agent promise or spend?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E8DA0F-61D3-4537-8402-BFB0A8D3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371850"/>
            <a:ext cx="8820150" cy="628650"/>
          </a:xfrm>
          <a:prstGeom xmlns:a="http://schemas.openxmlformats.org/drawingml/2006/main" prst="roundRect">
            <a:avLst>
              <a:gd name="adj" fmla="val 21212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CFFA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3E9044-B4E9-41E6-A641-F2BE9D69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5242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0F6CD9-011D-4DF0-9E63-8F75FFEA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0520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goal, state, evidence, and result are exchanged?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E1AE8D-DCE8-4B82-8823-2338300D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48150"/>
            <a:ext cx="8324850" cy="628650"/>
          </a:xfrm>
          <a:prstGeom xmlns:a="http://schemas.openxmlformats.org/drawingml/2006/main" prst="roundRect">
            <a:avLst>
              <a:gd name="adj" fmla="val 21212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5CF09D-811B-417D-B05C-C62A8C4D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4005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TRANSACTION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D78C01-215E-4E7C-A54B-FCA8E37D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81500"/>
            <a:ext cx="5857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How are price, payment, and fulfillment handled?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74447D-CB4E-4BD6-8C86-1DBAC02C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24450"/>
            <a:ext cx="7829550" cy="628650"/>
          </a:xfrm>
          <a:prstGeom xmlns:a="http://schemas.openxmlformats.org/drawingml/2006/main" prst="roundRect">
            <a:avLst>
              <a:gd name="adj" fmla="val 21212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4288">
            <a:solidFill>
              <a:srgbClr val="EDE9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3B4B8-B671-4A7D-8347-0C90E7CF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2768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ACCOUNTABILITY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F746B1-33CA-4488-8460-12DE41B8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57800"/>
            <a:ext cx="552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Who corrects mistakes and resolves disputes?</a:t>
            </a:r>
          </a:p>
        </p:txBody>
      </p:sp>
    </p:spTree>
    <p:extLst>
      <p:ext uri="{BB962C8B-B14F-4D97-AF65-F5344CB8AC3E}">
        <p14:creationId xmlns:p14="http://schemas.microsoft.com/office/powerpoint/2010/main" val="13130854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97D8D1-7CE4-42DE-AA62-D49AE2E9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B5F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4B5FD"/>
                </a:solidFill>
                <a:latin typeface="Aptos"/>
                <a:ea typeface="Aptos"/>
                <a:cs typeface="Aptos"/>
              </a:rPr>
              <a:t>SECTION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74B51E-F7DA-40C2-875F-B3E3A7E4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Now the protocol names have jobs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003AB1-FA54-4703-B715-4E3E04FA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8C5D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B8C5D6"/>
                </a:solidFill>
                <a:latin typeface="Aptos"/>
                <a:ea typeface="Aptos"/>
                <a:cs typeface="Aptos"/>
              </a:rPr>
              <a:t>Each protocol addresses a different question in the relationship.</a:t>
            </a:r>
          </a:p>
        </p:txBody>
      </p:sp>
    </p:spTree>
    <p:extLst>
      <p:ext uri="{BB962C8B-B14F-4D97-AF65-F5344CB8AC3E}">
        <p14:creationId xmlns:p14="http://schemas.microsoft.com/office/powerpoint/2010/main" val="147478478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C0A577-F218-4274-8C07-447D26ED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2AB48F-7EDA-46D1-A66C-D488D6FF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779E49-1243-427F-B191-DF3FB2D5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Five protocols make one interaction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E062F-F074-4FBB-BEE7-B258E2DD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1000125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>
              <a:alpha val="13333"/>
            </a:srgbClr>
          </a:solidFill>
          <a:ln xmlns:a="http://schemas.openxmlformats.org/drawingml/2006/main" w="14288">
            <a:solidFill>
              <a:srgbClr val="0891B2">
                <a:alpha val="13333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A2A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ACAE5E-243B-4FA7-93F1-C4F1181F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6668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Agent ↔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47E195-9736-4E2C-AF8E-2AC35DA3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47825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Discover and delegate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4A4C2-8BE7-4DFC-8EA3-5A970750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76500"/>
            <a:ext cx="1000125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>
              <a:alpha val="13333"/>
            </a:srgbClr>
          </a:solidFill>
          <a:ln xmlns:a="http://schemas.openxmlformats.org/drawingml/2006/main" w="14288">
            <a:solidFill>
              <a:srgbClr val="7C3AED">
                <a:alpha val="13333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7C3AED"/>
                </a:solidFill>
                <a:latin typeface="Aptos"/>
                <a:ea typeface="Aptos"/>
                <a:cs typeface="Aptos"/>
              </a:rPr>
              <a:t>MCP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CB2FCF-444C-49E5-BD48-33878F02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5241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Agent ↔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40C355-0ABB-4D48-A92E-7E455D08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05075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data and capabilities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A170AE-4683-4E9D-A4AA-7B525AAB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00125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>
              <a:alpha val="13333"/>
            </a:srgbClr>
          </a:solidFill>
          <a:ln xmlns:a="http://schemas.openxmlformats.org/drawingml/2006/main" w="14288">
            <a:solidFill>
              <a:srgbClr val="D97706">
                <a:alpha val="13333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AP2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2D76B3-B41D-453D-85AB-4385C71A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3813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Human → purchase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CBF48E-C449-4521-8875-062A864F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62325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Prove authorization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D415BD-6E4B-4C99-ABB8-F2DE7BBE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0"/>
            <a:ext cx="1000125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803D">
              <a:alpha val="13333"/>
            </a:srgbClr>
          </a:solidFill>
          <a:ln xmlns:a="http://schemas.openxmlformats.org/drawingml/2006/main" w="14288">
            <a:solidFill>
              <a:srgbClr val="15803D">
                <a:alpha val="13333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x402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ACB0B2-B65B-4C73-A000-3A72E493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386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Client ↔ paid HTTP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FF113E-9B46-4680-899C-B56C6DF9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19575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Request and settle payment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0AC3CE-F528-42E4-AB42-BE95CFEA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1000125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>
              <a:alpha val="13333"/>
            </a:srgbClr>
          </a:solidFill>
          <a:ln xmlns:a="http://schemas.openxmlformats.org/drawingml/2006/main" w="14288">
            <a:solidFill>
              <a:srgbClr val="2563EB">
                <a:alpha val="13333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AG-UI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7D82CB-8F61-4BC2-A99B-4CC3D50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0958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Agents → human UI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66E4EB-A643-48B9-B391-E6030CD4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076825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Stream progress and state</a:t>
            </a:r>
          </a:p>
        </p:txBody>
      </p:sp>
    </p:spTree>
    <p:extLst>
      <p:ext uri="{BB962C8B-B14F-4D97-AF65-F5344CB8AC3E}">
        <p14:creationId xmlns:p14="http://schemas.microsoft.com/office/powerpoint/2010/main" val="130904977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596FD8-400B-46FD-921F-EA24B9AC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011604-484B-40DF-889B-E232F322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4BF3A8-7AB2-4A9D-AD84-FBAFBE77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A2A answers: who can help, and how do we manage the work?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7DF04C-F3F6-4741-970B-C1362779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857500" cy="3048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16B8FD-A36B-46C6-A57D-BFDC131E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 Card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7F0AD-3084-4CDA-91F7-10025CE1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24003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Name and provider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Service endpoint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Authentication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Capabilities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Skills and examples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D919F-15A8-481B-AEDB-41EFD67B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333750"/>
            <a:ext cx="8572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526640-90F4-4782-911F-630748DB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000250"/>
            <a:ext cx="2857500" cy="3048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F32583-7E89-4195-84B6-8973E9A9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209800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Delegated task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617576-6B07-44F5-9CDA-A67339A6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667000"/>
            <a:ext cx="24003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Goal or message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Context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Task identifier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Current state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B1C7E-2BE4-467E-8DC4-D5BBAC12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33750"/>
            <a:ext cx="8572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F7D967-1E01-4FAF-B352-A64AE52D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00250"/>
            <a:ext cx="2190750" cy="30480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1580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A828F0-D525-4F10-B015-2E54D828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42CEF0-7A2C-40B3-B768-3CA87026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67000"/>
            <a:ext cx="17335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Completed artifact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Failure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Input required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Progress stream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Follow-up context</a:t>
            </a:r>
          </a:p>
        </p:txBody>
      </p:sp>
    </p:spTree>
    <p:extLst>
      <p:ext uri="{BB962C8B-B14F-4D97-AF65-F5344CB8AC3E}">
        <p14:creationId xmlns:p14="http://schemas.microsoft.com/office/powerpoint/2010/main" val="180970595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443CA1-39E8-4B8F-853B-37783C41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C6D18-C5B9-4FF4-A778-6440B324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6CC248-B135-44C1-A934-728967FB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 A2A task can live longer than one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F89988-3D84-4792-B731-1019E009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143250"/>
            <a:ext cx="457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solidFill>
              <a:srgbClr val="CDD5D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83475-2AE7-4495-9C43-2C2EB423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86000"/>
            <a:ext cx="2238375" cy="19050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43A994-035C-434E-A454-6B106A57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19375"/>
            <a:ext cx="18954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SUBMITTED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C2957-7583-4503-99FF-6DF4DF54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238500"/>
            <a:ext cx="18192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Goal accepted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9E8FE4-9870-4FAA-A393-3779D1C1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143250"/>
            <a:ext cx="457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solidFill>
              <a:srgbClr val="CDD5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151C2-7D9C-4136-94EC-F74A616E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86000"/>
            <a:ext cx="2238375" cy="19050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CFFAF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2AC721-4261-4F58-954D-6F5AE027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619375"/>
            <a:ext cx="18954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WORKING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28475-F5C5-4540-BFB4-C4E90CE0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38500"/>
            <a:ext cx="18192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Remote agent plans and acts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98C8A6-6598-43EC-8261-625F7389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143250"/>
            <a:ext cx="457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solidFill>
              <a:srgbClr val="CDD5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956892-CCBF-46D0-A23A-87BF4D51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86000"/>
            <a:ext cx="2238375" cy="19050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4288">
            <a:solidFill>
              <a:srgbClr val="FEF3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496CC-B006-4F96-B58F-806BD868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619375"/>
            <a:ext cx="18954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INPUT REQUIRED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70CBA2-D61E-44EC-A9EE-E3304D01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238500"/>
            <a:ext cx="18192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It needs clarification or approval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5A7B96-6A46-4201-9261-6CD8516E5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86000"/>
            <a:ext cx="2238375" cy="19050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3E02C3-E60A-4AC9-B354-388D3FBF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619375"/>
            <a:ext cx="18954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COMPLETED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20A3CA-19A5-400B-9349-0F6C0358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238500"/>
            <a:ext cx="18192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Artifact or result returned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3BE747-FBF3-4CD8-AD60-7F4D6B56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0"/>
            <a:ext cx="1112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This is why “another agent” is more than an ordinary function call.</a:t>
            </a:r>
          </a:p>
        </p:txBody>
      </p:sp>
    </p:spTree>
    <p:extLst>
      <p:ext uri="{BB962C8B-B14F-4D97-AF65-F5344CB8AC3E}">
        <p14:creationId xmlns:p14="http://schemas.microsoft.com/office/powerpoint/2010/main" val="94160364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45469-45D5-44BA-843F-AA8E951F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2200EE-6A9D-46D7-A1FC-90725447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6E03E2-9FF4-41A9-810F-CB221B17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MCP sits inside each agent’s 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53469-BA68-4B35-9503-D379D04D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2857500" cy="2857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BB4892-7664-4FEF-99DE-41072B7E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6217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Buyer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E5364-F7BE-4847-8D70-EB3BCADE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19375"/>
            <a:ext cx="24003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Uses MCP to read purchase orders, budgets, and email.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AE0746-7977-4198-9606-49D56F98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43250"/>
            <a:ext cx="11430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81F896-AA68-411B-9F59-6871A76D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952625"/>
            <a:ext cx="3429000" cy="2857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9A96D-9A2A-4A7F-BB36-02EE2ADB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62175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Supplier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3A0D6B-5D0D-42D9-8480-14B535EE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619375"/>
            <a:ext cx="29718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Uses A2A to negotiate with the buyer—and MCP to check inventory, pricing, and shipping.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C8C46B-E28C-462C-9C8E-AB137D44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43250"/>
            <a:ext cx="8572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8F1F7-759B-4848-B39A-EC50CC4E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190750"/>
            <a:ext cx="1333500" cy="23812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4288">
            <a:solidFill>
              <a:srgbClr val="7C3A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3D300D-A358-45E0-92CF-35D3061A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40030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Supplier tools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AE5679-8451-425C-B77E-CCE76A69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857500"/>
            <a:ext cx="8763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Inventory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Pricing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Logistics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AF3888-C046-4079-80BF-D273BFA6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A2A between agents. MCP from each agent to its tools.</a:t>
            </a:r>
          </a:p>
        </p:txBody>
      </p:sp>
    </p:spTree>
    <p:extLst>
      <p:ext uri="{BB962C8B-B14F-4D97-AF65-F5344CB8AC3E}">
        <p14:creationId xmlns:p14="http://schemas.microsoft.com/office/powerpoint/2010/main" val="190572371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8887F-E76B-47E4-BC3E-F6EF7DB7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BAE7A-F597-4438-AB7E-988771B9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48A75B-7C9D-47FD-9CD5-125954ED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AP2 and x402 solve two different payment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7F934A-638C-4753-821D-DE411E68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4288">
            <a:solidFill>
              <a:srgbClr val="FEF3C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2C2146-8753-45E0-8ED0-CD78C763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EE8D55-97A3-4CEC-82F1-F9B128C1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AP2: was this allowed?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C42F1-87DE-42E2-B4E3-61802BFF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human or organization supplies a mandate: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purpose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spending limit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approved parties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validity period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evidence of intent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8306F6-9777-4CE5-B456-5A87BA4C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x402: how does this get paid?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F2DFDF-C160-4747-8242-04E3A50B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paid HTTP resource: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returns 402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describes payment requirements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receives signed payment proof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verifies and settles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returns the resource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A39E83-3327-4F62-8CFA-EFA99A1F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0"/>
            <a:ext cx="1112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Authorization decides permission. Settlement moves value.</a:t>
            </a:r>
          </a:p>
        </p:txBody>
      </p:sp>
    </p:spTree>
    <p:extLst>
      <p:ext uri="{BB962C8B-B14F-4D97-AF65-F5344CB8AC3E}">
        <p14:creationId xmlns:p14="http://schemas.microsoft.com/office/powerpoint/2010/main" val="37242054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D2E8B0-5650-4DBA-A5C6-73D8D70C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B7D21B-44E5-43BE-89BB-4485A27B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BE487-7CD1-4211-90FF-8A86BAA4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paid-resource flow is simple to see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04FC1-78DB-480C-8154-FFC6AD5B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457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>
              <a:alpha val="13333"/>
            </a:srgbClr>
          </a:solidFill>
          <a:ln xmlns:a="http://schemas.openxmlformats.org/drawingml/2006/main" w="14288">
            <a:solidFill>
              <a:srgbClr val="2563EB">
                <a:alpha val="13333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EB3E1-9134-4F8F-8D12-16A9380A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525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AA05B-EFEB-4AFE-92BF-91BE129E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5525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 asks for premium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02792-A842-46A4-B105-D6B814DD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38400"/>
            <a:ext cx="457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1C1C">
              <a:alpha val="13333"/>
            </a:srgbClr>
          </a:solidFill>
          <a:ln xmlns:a="http://schemas.openxmlformats.org/drawingml/2006/main" w="14288">
            <a:solidFill>
              <a:srgbClr val="B91C1C">
                <a:alpha val="13333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D852EC-D7D7-4A10-8F5E-396E9754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669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402 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F2287A-50F2-4F23-93B7-FCF6A0C0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4669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Service returns price, network, and payment instructions.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C77906-B16B-4266-9F5B-0A2B684C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457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>
              <a:alpha val="13333"/>
            </a:srgbClr>
          </a:solidFill>
          <a:ln xmlns:a="http://schemas.openxmlformats.org/drawingml/2006/main" w="14288">
            <a:solidFill>
              <a:srgbClr val="D97706">
                <a:alpha val="13333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A34CF4-6361-41E1-AEA5-FDA46A9D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813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AUTHORIZE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11BD47-7034-4DD8-85C5-EEE6B02A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813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 checks the user’s mandate and policy.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10A36A-E2C5-4C74-B547-7A3CDD2D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67200"/>
            <a:ext cx="457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803D">
              <a:alpha val="13333"/>
            </a:srgbClr>
          </a:solidFill>
          <a:ln xmlns:a="http://schemas.openxmlformats.org/drawingml/2006/main" w="14288">
            <a:solidFill>
              <a:srgbClr val="15803D">
                <a:alpha val="13333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08F58B-BE59-43B3-ABE2-2E4DFFD1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957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RETRY + PROOF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A20E7E-9219-40FB-97FD-6CE31D36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2957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 attaches signed payment proof.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27B9F5-9054-4D8B-839D-6D03170B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81600"/>
            <a:ext cx="457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>
              <a:alpha val="13333"/>
            </a:srgbClr>
          </a:solidFill>
          <a:ln xmlns:a="http://schemas.openxmlformats.org/drawingml/2006/main" w="14288">
            <a:solidFill>
              <a:srgbClr val="0891B2">
                <a:alpha val="13333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34D0D0-60BA-4EDA-A114-65D7567F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101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RESOURCE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45AC93-06CC-4D8A-8008-8B5D8F83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2101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Service verifies, settles, and returns data.</a:t>
            </a:r>
          </a:p>
        </p:txBody>
      </p:sp>
    </p:spTree>
    <p:extLst>
      <p:ext uri="{BB962C8B-B14F-4D97-AF65-F5344CB8AC3E}">
        <p14:creationId xmlns:p14="http://schemas.microsoft.com/office/powerpoint/2010/main" val="78902952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F1DACC-D0AA-4A35-9B17-72DCA437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2C35B-181C-4B15-829E-B9EEE22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CC905-F2AF-4F78-BCD7-F722F9B5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AG-UI keeps the human in the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303CF0-02F4-42CD-BE18-3BDF4B15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857500" cy="2857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4B181-41C6-4DB1-B4C2-819368B9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Running agents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11562-A095-4E3A-91D5-695FC2B4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24003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Messages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Tool progress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Task state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Payment events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59B433-60FA-4B4E-A90E-B64AF14B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86125"/>
            <a:ext cx="7620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6EFF1-37D0-4877-8C85-3FF17A46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3238500" cy="2857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08E195-7468-4C6F-AE52-511A9F91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3050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AG-UI event stream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977E87-737E-43D8-9B1C-DEB0E1A0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762250"/>
            <a:ext cx="27813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Text chunks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State updates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Progress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Errors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Intervention points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2A277F-FBCE-4D83-9779-08ADA597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86125"/>
            <a:ext cx="7143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376AC3-6B98-4EFB-9BA4-2E82CCBC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86000"/>
            <a:ext cx="2524125" cy="24765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AAA010-07C6-4942-8DE2-7A054EE2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495550"/>
            <a:ext cx="2066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Human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4E56E9-6494-4444-8F23-DC202EED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952750"/>
            <a:ext cx="206692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Watch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Approve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Correct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Pause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Revoke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9031B9-A5E4-4CC5-BCC4-6972D0D9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Without visibility, autonomy becomes an audit problem.</a:t>
            </a:r>
          </a:p>
        </p:txBody>
      </p:sp>
    </p:spTree>
    <p:extLst>
      <p:ext uri="{BB962C8B-B14F-4D97-AF65-F5344CB8AC3E}">
        <p14:creationId xmlns:p14="http://schemas.microsoft.com/office/powerpoint/2010/main" val="191955880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BA61D-696E-4B72-ACD8-1CF4C6D7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SECTION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D8EA53-72E4-4F22-8486-8689B939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Watch the whole system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2FAF6D-ACA9-4C0F-A7C0-1F7CA08A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8C5D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B8C5D6"/>
                </a:solidFill>
                <a:latin typeface="Aptos"/>
                <a:ea typeface="Aptos"/>
                <a:cs typeface="Aptos"/>
              </a:rPr>
              <a:t>The restaurant demo turns an invisible agent relationship into an inspectable sequence.</a:t>
            </a:r>
          </a:p>
        </p:txBody>
      </p:sp>
    </p:spTree>
    <p:extLst>
      <p:ext uri="{BB962C8B-B14F-4D97-AF65-F5344CB8AC3E}">
        <p14:creationId xmlns:p14="http://schemas.microsoft.com/office/powerpoint/2010/main" val="104507949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39DC1D-41FD-497C-AAD9-3E98632F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45CA4-026B-4D73-BF77-A1219A45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525412-939F-4FF2-BD67-D48651BB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demo makes five service boundaries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10AEB9-09DD-4EAB-8D4A-BAA282DC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857500" cy="1524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24780-5689-4B2B-AFBB-69983DA3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Dashboard :3000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65FA4A-A804-477D-8A3D-D933E149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2400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Human control, event feed, and wire inspector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2A244A-A8F0-4F63-B893-24860AE6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33625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40DE1-0A5F-4C07-895C-FCEB51E6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09750"/>
            <a:ext cx="3429000" cy="1524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5D69A5-1434-423F-90C4-D66FE152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193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Orchestrator :4000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84EFE6-4562-4AD3-8978-8F6E83BE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476500"/>
            <a:ext cx="2971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Discovers agents, delegates work, and combines results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8C7EE-DC85-491B-8385-5FD67A55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95750"/>
            <a:ext cx="2857500" cy="1524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08B7F3-DD68-489B-AF2F-131EE2D9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305300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Restaurant :4001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A35232-F4BE-48F6-B2F6-6EE9EF98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762500"/>
            <a:ext cx="2400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Finds matching restaurants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32BFD8-DA99-4546-BD80-F0E557B6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95750"/>
            <a:ext cx="3429000" cy="1524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F63891-60C3-4900-9092-0B73EE97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053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Booking :4002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AD4902-527E-47B8-A908-811140A7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762500"/>
            <a:ext cx="2971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Checks availability and requests premium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DABF60-2D0A-4F03-A521-DEB18855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2667000" cy="1524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1580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5F7421-08C6-44AF-8010-3A4BB537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05300"/>
            <a:ext cx="2209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Reviews :4003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07ABE3-A6AF-4C17-8BB2-56EE5580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762500"/>
            <a:ext cx="220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402 challenge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Mock proof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Premium reviews</a:t>
            </a:r>
          </a:p>
        </p:txBody>
      </p:sp>
    </p:spTree>
    <p:extLst>
      <p:ext uri="{BB962C8B-B14F-4D97-AF65-F5344CB8AC3E}">
        <p14:creationId xmlns:p14="http://schemas.microsoft.com/office/powerpoint/2010/main" val="189464383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BE434-C72F-449B-B837-9715FECA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E5460-51FB-4CDC-832F-C7893E3F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3F3D2-B7BC-4812-8C00-E827D0F2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Discover: the orchestrator asks “who is available?”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09E02-1936-4502-83E6-1C26942A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857500" cy="26670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EEF922-D403-4309-AEE2-BB47F922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139799-426C-4706-835F-49556637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24003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Knows candidate domains or endpoints and retrieves public cards.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AFAD5F-D523-4605-AA1A-014DE32F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90875"/>
            <a:ext cx="7143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3B66B2-C585-44F8-8AEB-3D5503AE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905000"/>
            <a:ext cx="3048000" cy="30480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4451E-FF4C-477A-8CB7-2802D1E2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1145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Public Agent Card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B55E55-F5A2-4E20-AD57-5CAC7CB3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571750"/>
            <a:ext cx="25908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Standard well-known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Name and provider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Endpoint and authentication</a:t>
            </a:r>
          </a:p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Capabilities and skills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57073B-AD49-47DF-8F20-E7679406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90875"/>
            <a:ext cx="7143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94BEA-6097-4C86-8FED-2A4F5305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762250" cy="26670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9E5153-2FBF-4F05-AC6F-377BF772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0505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Topology 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64B3E-E475-4527-A089-D42EF5FA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62250"/>
            <a:ext cx="23050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Agents appear one by one. Unavailable services remain visible as failures.</a:t>
            </a:r>
          </a:p>
        </p:txBody>
      </p:sp>
    </p:spTree>
    <p:extLst>
      <p:ext uri="{BB962C8B-B14F-4D97-AF65-F5344CB8AC3E}">
        <p14:creationId xmlns:p14="http://schemas.microsoft.com/office/powerpoint/2010/main" val="36774187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4027A-64C9-4E4C-A45E-49CC5141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B938A1-F059-46E4-8007-3DFD84C5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1BDB1-2A63-4B83-AF0D-AE4FA66C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Ask: the orchestrator delegates one goal to specialists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AC1F25-928D-4EC4-9D6D-C13620E9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66875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“Plan a team dinner for 6 people under $200.”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EF43A-4F8F-482B-8B91-F22191A1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3048000" cy="20955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2CF3C-BAE3-471F-BE02-096BC129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Restaurant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B40FE-F7AF-4872-80AA-9DC94905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2590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Find options matching cuisine, location, party size, and total budget.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6F0EE7-2726-456E-9933-24FB1809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57500"/>
            <a:ext cx="3048000" cy="20955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F22D51-EC2F-4602-A4D1-44BB5935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067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4CDED9-C19A-4CF3-AE34-7D3ABCC3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524250"/>
            <a:ext cx="2590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Maintains the goal and combines specialist results.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0D9A09-607B-4F64-A959-AB319117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3048000" cy="20955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0891B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00B133-1FED-4E9B-8518-2B97D4B3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067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Booking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4CAC4B-B116-46A3-AE04-6E3554A8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524250"/>
            <a:ext cx="2590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Checks availability and requests premium review data.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0FECC4-CA8D-4E80-BA7A-F472AA3E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19500"/>
            <a:ext cx="5238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B2A20D-4FAF-42C6-9A7E-832969CA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19500"/>
            <a:ext cx="5238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0856140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6F9FFC-BA54-4665-9143-2C108C6E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EFB895-482C-40D7-AB8A-77E8F61A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84FB0B-1C40-4570-ACAF-693B139D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Pay: the mandate must approve the 402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BD81E3-2407-4528-9601-2F891757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38500"/>
            <a:ext cx="3333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solidFill>
              <a:srgbClr val="CDD5D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392AE-1499-487C-9666-1E9B8242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333625"/>
            <a:ext cx="1857375" cy="2000250"/>
          </a:xfrm>
          <a:prstGeom xmlns:a="http://schemas.openxmlformats.org/drawingml/2006/main" prst="roundRect">
            <a:avLst>
              <a:gd name="adj" fmla="val 8205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CFFAF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56E01-03FC-4BD7-83BE-BE901318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19375"/>
            <a:ext cx="159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Booking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42067-34D1-4066-A467-66895B66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333750"/>
            <a:ext cx="15906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Requests premium reviews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2E265-8340-42B7-B5B6-19404802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238500"/>
            <a:ext cx="3333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solidFill>
              <a:srgbClr val="CDD5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841CE-3AD6-4047-8604-864BB942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333625"/>
            <a:ext cx="1857375" cy="2000250"/>
          </a:xfrm>
          <a:prstGeom xmlns:a="http://schemas.openxmlformats.org/drawingml/2006/main" prst="roundRect">
            <a:avLst>
              <a:gd name="adj" fmla="val 8205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4288">
            <a:solidFill>
              <a:srgbClr val="FEE2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554E40-A042-471F-9953-5A95C12C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19375"/>
            <a:ext cx="159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Premium service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C73FC2-FB09-4D8D-BA1A-577FF37B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33750"/>
            <a:ext cx="15906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Returns 402 +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E5186-96DC-4DEE-9415-1A370712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238500"/>
            <a:ext cx="3333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solidFill>
              <a:srgbClr val="CDD5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AB3E07-C510-4E37-A8C5-6FD7AA16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333625"/>
            <a:ext cx="1857375" cy="2000250"/>
          </a:xfrm>
          <a:prstGeom xmlns:a="http://schemas.openxmlformats.org/drawingml/2006/main" prst="roundRect">
            <a:avLst>
              <a:gd name="adj" fmla="val 8205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4288">
            <a:solidFill>
              <a:srgbClr val="FEF3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49604A-6D57-49A8-B7BB-EB1D87B0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19375"/>
            <a:ext cx="159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Mandate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386E60-4027-4D7E-A9CF-B17128EF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33750"/>
            <a:ext cx="15906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Purpose, limit, expiry, prior spending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F81DBA-75F0-4E7F-AEF2-9A02C92D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238500"/>
            <a:ext cx="333375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solidFill>
              <a:srgbClr val="CDD5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88C827-03BF-4502-95B6-24FEEF7C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333625"/>
            <a:ext cx="1857375" cy="2000250"/>
          </a:xfrm>
          <a:prstGeom xmlns:a="http://schemas.openxmlformats.org/drawingml/2006/main" prst="roundRect">
            <a:avLst>
              <a:gd name="adj" fmla="val 820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51BDED-1593-4A0A-9CC8-8B911F6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19375"/>
            <a:ext cx="159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Mock payment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BFF749-7CF8-48B6-8B8B-09FA4281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33750"/>
            <a:ext cx="15906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Retry with proof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05BA68-BA68-48FF-9054-600FCFCD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33625"/>
            <a:ext cx="1857375" cy="2000250"/>
          </a:xfrm>
          <a:prstGeom xmlns:a="http://schemas.openxmlformats.org/drawingml/2006/main" prst="roundRect">
            <a:avLst>
              <a:gd name="adj" fmla="val 8205"/>
            </a:avLst>
          </a:prstGeom>
          <a:solidFill xmlns:a="http://schemas.openxmlformats.org/drawingml/2006/main">
            <a:srgbClr val="CFFAFE"/>
          </a:solidFill>
          <a:ln xmlns:a="http://schemas.openxmlformats.org/drawingml/2006/main" w="14288">
            <a:solidFill>
              <a:srgbClr val="CFFAF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40F3E0-30C3-45D0-96E3-7D6DB09F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619375"/>
            <a:ext cx="159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Premium service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CFE6CC-8D5B-458E-82CF-1F1399C9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333750"/>
            <a:ext cx="15906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Returns review 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4614F-B832-4DEE-8967-8D43D8AF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0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The demo teaches the sequence. It does not provide production payment security.</a:t>
            </a:r>
          </a:p>
        </p:txBody>
      </p:sp>
    </p:spTree>
    <p:extLst>
      <p:ext uri="{BB962C8B-B14F-4D97-AF65-F5344CB8AC3E}">
        <p14:creationId xmlns:p14="http://schemas.microsoft.com/office/powerpoint/2010/main" val="202319387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F59B0-ABD1-40E1-8192-497F0480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777C1-C557-4DAA-8498-7E481953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96CF64-ED34-486D-83A4-0F30FB21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Explore: read the wire instead of trusting the animation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509FB-546D-4663-BF78-1F0BA704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4288">
            <a:solidFill>
              <a:srgbClr val="DBEA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4FA55-F8C0-4611-A54B-45539F99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90700"/>
            <a:ext cx="5238750" cy="4000500"/>
          </a:xfrm>
          <a:prstGeom xmlns:a="http://schemas.openxmlformats.org/drawingml/2006/main" prst="roundRect">
            <a:avLst>
              <a:gd name="adj" fmla="val 5238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4288">
            <a:solidFill>
              <a:srgbClr val="DCFC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A32BCF-D41F-49DC-8E28-0CB40753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the UI says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2CF50-151D-41D4-A010-0AC1E178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“Restaurant found”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“Payment approved”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“Booking complete”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Useful—but still a claim.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BFD799-99C0-4D3C-8D94-0BDFC359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33600"/>
            <a:ext cx="4629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the wire proves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3ABE0C-57F3-484B-A175-16A1FC81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46291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Source and target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Protocol and method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Parameters and task state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402 requirements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Mandate decision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Retry and 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A46A4C-CFC7-4237-B9E6-5FA54226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0"/>
            <a:ext cx="1112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inspector is the verification layer for the demo.</a:t>
            </a:r>
          </a:p>
        </p:txBody>
      </p:sp>
    </p:spTree>
    <p:extLst>
      <p:ext uri="{BB962C8B-B14F-4D97-AF65-F5344CB8AC3E}">
        <p14:creationId xmlns:p14="http://schemas.microsoft.com/office/powerpoint/2010/main" val="73177815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BE0F23-1229-40AD-ABC3-8E90F757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26174"/>
                </a:solidFill>
                <a:latin typeface="Aptos"/>
                <a:ea typeface="Aptos"/>
                <a:cs typeface="Aptos"/>
              </a:rPr>
              <a:t>PHASE 04 · AGENT-TO-AGENT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C302A6-AEEA-4CFE-8EF0-AAD9E81A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2617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4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4E56D9-E2CC-490B-83B9-A6726252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Eight questions every company must answer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C5D89C-09E3-4C5C-B0A6-11E7F253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66875"/>
            <a:ext cx="25717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08914-2E1A-4746-9B9A-116E0D10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954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Surface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ABE42-4BD7-4EEC-8373-F829A6AC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2887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can agents discover?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3D5EE6-C025-4CE9-A14A-C22EB6EC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666875"/>
            <a:ext cx="25717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B5763-775A-4706-B6A7-61447A28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18954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Identity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FEF6C-B290-4654-BEDA-839681E1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42887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Who is represented?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CD1E42-EFC1-48DA-912E-64D66AAD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66875"/>
            <a:ext cx="25717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11FD36-555E-4FF3-91C0-5BCFB1D7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954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Authority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11101D-353E-4BE6-AC2F-1DFE9F79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42887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may it promise?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CA16D3-FBCC-4C4F-8498-511C25E1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1666875"/>
            <a:ext cx="25717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4DB5DE-6685-4CBA-9D93-0899E43A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8954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09C555-63F2-4B19-ACE5-7C87C078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42887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is automatic?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518003-EE93-4E50-8FBF-E969C8D4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25717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9B9267-7FF2-4515-92DF-C317D9D7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909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61BC9E-B8DC-4DD8-9E63-3E087246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2437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proves a claim?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361A13-D2DF-420A-94C7-439D7439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762375"/>
            <a:ext cx="25717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107F1A-CA68-4852-8C88-4C82DD66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9909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Attention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4465BC-C2AB-4B0F-BEB3-84E2BD93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52437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limits fan-out?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607C0C-9157-4455-8C50-6EA5B540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762375"/>
            <a:ext cx="25717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5322C6-4766-4861-8A69-005CAF74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9909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Intervention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0E7583-B661-4F16-B8C5-1E3A1078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52437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Where do humans enter?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33A2B9-748A-4EE5-B85C-09E1DF9C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762375"/>
            <a:ext cx="25717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BF232A-2BFA-4632-987A-8AB4CAC3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9909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Accountability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FC16E7-1019-4693-A480-453CE287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524375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Who owns mistakes?</a:t>
            </a:r>
          </a:p>
        </p:txBody>
      </p:sp>
    </p:spTree>
    <p:extLst>
      <p:ext uri="{BB962C8B-B14F-4D97-AF65-F5344CB8AC3E}">
        <p14:creationId xmlns:p14="http://schemas.microsoft.com/office/powerpoint/2010/main" val="16114194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6FC99-A373-4290-A67C-12EDE131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7A7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77A7FF"/>
                </a:solidFill>
                <a:latin typeface="Aptos"/>
                <a:ea typeface="Aptos"/>
                <a:cs typeface="Aptos"/>
              </a:rPr>
              <a:t>YOUR FIRST MOVE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266AA-DE1B-4025-A159-9D721ED3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096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Publish one narrow capability.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6C0887-5113-41DD-B976-A3D8D8A0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C4D0E0"/>
                </a:solidFill>
                <a:latin typeface="Aptos"/>
                <a:ea typeface="Aptos"/>
                <a:cs typeface="Aptos"/>
              </a:defRPr>
            </a:pPr>
            <a:r>
              <a:rPr sz="2550" b="0">
                <a:solidFill>
                  <a:srgbClr val="C4D0E0"/>
                </a:solidFill>
                <a:latin typeface="Aptos"/>
                <a:ea typeface="Aptos"/>
                <a:cs typeface="Aptos"/>
              </a:rPr>
              <a:t>Bound its authority.</a:t>
            </a:r>
          </a:p>
          <a:p xmlns:a="http://schemas.openxmlformats.org/drawingml/2006/main">
            <a:pPr algn="l">
              <a:defRPr sz="2550" b="0">
                <a:solidFill>
                  <a:srgbClr val="C4D0E0"/>
                </a:solidFill>
                <a:latin typeface="Aptos"/>
                <a:ea typeface="Aptos"/>
                <a:cs typeface="Aptos"/>
              </a:defRPr>
            </a:pPr>
            <a:r>
              <a:rPr sz="2550" b="0">
                <a:solidFill>
                  <a:srgbClr val="C4D0E0"/>
                </a:solidFill>
                <a:latin typeface="Aptos"/>
                <a:ea typeface="Aptos"/>
                <a:cs typeface="Aptos"/>
              </a:rPr>
              <a:t>Protect recipient attention.</a:t>
            </a:r>
          </a:p>
          <a:p xmlns:a="http://schemas.openxmlformats.org/drawingml/2006/main">
            <a:pPr algn="l">
              <a:defRPr sz="2550" b="0">
                <a:solidFill>
                  <a:srgbClr val="C4D0E0"/>
                </a:solidFill>
                <a:latin typeface="Aptos"/>
                <a:ea typeface="Aptos"/>
                <a:cs typeface="Aptos"/>
              </a:defRPr>
            </a:pPr>
            <a:r>
              <a:rPr sz="2550" b="0">
                <a:solidFill>
                  <a:srgbClr val="C4D0E0"/>
                </a:solidFill>
                <a:latin typeface="Aptos"/>
                <a:ea typeface="Aptos"/>
                <a:cs typeface="Aptos"/>
              </a:rPr>
              <a:t>Make the work observable.</a:t>
            </a:r>
          </a:p>
          <a:p xmlns:a="http://schemas.openxmlformats.org/drawingml/2006/main">
            <a:pPr algn="l">
              <a:defRPr sz="2550" b="0">
                <a:solidFill>
                  <a:srgbClr val="C4D0E0"/>
                </a:solidFill>
                <a:latin typeface="Aptos"/>
                <a:ea typeface="Aptos"/>
                <a:cs typeface="Aptos"/>
              </a:defRPr>
            </a:pPr>
            <a:r>
              <a:rPr sz="2550" b="0">
                <a:solidFill>
                  <a:srgbClr val="C4D0E0"/>
                </a:solidFill>
                <a:latin typeface="Aptos"/>
                <a:ea typeface="Aptos"/>
                <a:cs typeface="Aptos"/>
              </a:rPr>
              <a:t>Keep human control.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9529FC-FEE2-41D4-B1ED-4C7F4A2B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287000" cy="8001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14223A"/>
          </a:solidFill>
          <a:ln xmlns:a="http://schemas.openxmlformats.org/drawingml/2006/main" w="14288">
            <a:solidFill>
              <a:srgbClr val="29446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05E4E0-0756-46DC-87ED-5A6BBF5D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Our first agent-facing capability should be ______ because it removes ______ and requires human approval when ______.</a:t>
            </a:r>
          </a:p>
        </p:txBody>
      </p:sp>
    </p:spTree>
    <p:extLst>
      <p:ext uri="{BB962C8B-B14F-4D97-AF65-F5344CB8AC3E}">
        <p14:creationId xmlns:p14="http://schemas.microsoft.com/office/powerpoint/2010/main" val="14137597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2026-07-27T19:28:25.6400000Z</dcterms:created>
  <dcterms:modified xsi:type="dcterms:W3CDTF">2026-07-27T19:28:25.6400000Z</dcterms:modified>
</coreProperties>
</file>