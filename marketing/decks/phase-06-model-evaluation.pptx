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f55f944e38a4702" /><Relationship Type="http://schemas.openxmlformats.org/officeDocument/2006/relationships/extended-properties" Target="/docProps/app.xml" Id="R4b095251818b44ce" /><Relationship Type="http://schemas.openxmlformats.org/officeDocument/2006/relationships/officeDocument" Target="/ppt/presentation.xml" Id="Re3129bc9edd1410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bb636a0bb44485c"/>
  </p:sldMasterIdLst>
  <p:notesMasterIdLst>
    <p:notesMasterId xmlns:r="http://schemas.openxmlformats.org/officeDocument/2006/relationships" r:id="R3b686d0707ee4c75"/>
  </p:notesMasterIdLst>
  <p:sldIdLst>
    <p:sldId xmlns:r="http://schemas.openxmlformats.org/officeDocument/2006/relationships" id="256" r:id="R89e131a788a74f14"/>
    <p:sldId xmlns:r="http://schemas.openxmlformats.org/officeDocument/2006/relationships" id="257" r:id="R0154fb4d598c4292"/>
    <p:sldId xmlns:r="http://schemas.openxmlformats.org/officeDocument/2006/relationships" id="258" r:id="Rb1eb45f356fd40b8"/>
    <p:sldId xmlns:r="http://schemas.openxmlformats.org/officeDocument/2006/relationships" id="259" r:id="R8cdf7acb63d74d14"/>
    <p:sldId xmlns:r="http://schemas.openxmlformats.org/officeDocument/2006/relationships" id="260" r:id="R3ddd628da296422f"/>
    <p:sldId xmlns:r="http://schemas.openxmlformats.org/officeDocument/2006/relationships" id="261" r:id="R7c69609004484e7c"/>
    <p:sldId xmlns:r="http://schemas.openxmlformats.org/officeDocument/2006/relationships" id="262" r:id="Rce7db9d5ff9f4952"/>
    <p:sldId xmlns:r="http://schemas.openxmlformats.org/officeDocument/2006/relationships" id="263" r:id="R52c96d67ce8145b8"/>
    <p:sldId xmlns:r="http://schemas.openxmlformats.org/officeDocument/2006/relationships" id="264" r:id="Re4e014aa470d4ca0"/>
    <p:sldId xmlns:r="http://schemas.openxmlformats.org/officeDocument/2006/relationships" id="265" r:id="R2057d4dddfe147e1"/>
    <p:sldId xmlns:r="http://schemas.openxmlformats.org/officeDocument/2006/relationships" id="266" r:id="R36123fde255143f9"/>
    <p:sldId xmlns:r="http://schemas.openxmlformats.org/officeDocument/2006/relationships" id="267" r:id="R586cd91cb70b4bd3"/>
    <p:sldId xmlns:r="http://schemas.openxmlformats.org/officeDocument/2006/relationships" id="268" r:id="Rafaf586855b543b3"/>
    <p:sldId xmlns:r="http://schemas.openxmlformats.org/officeDocument/2006/relationships" id="269" r:id="R74b6a9adf7d24bd3"/>
    <p:sldId xmlns:r="http://schemas.openxmlformats.org/officeDocument/2006/relationships" id="270" r:id="Rd8e987461c4c4df8"/>
    <p:sldId xmlns:r="http://schemas.openxmlformats.org/officeDocument/2006/relationships" id="271" r:id="Rfa0438ebd4274c06"/>
    <p:sldId xmlns:r="http://schemas.openxmlformats.org/officeDocument/2006/relationships" id="272" r:id="R46b2880687244414"/>
    <p:sldId xmlns:r="http://schemas.openxmlformats.org/officeDocument/2006/relationships" id="273" r:id="R62cc7df526324674"/>
    <p:sldId xmlns:r="http://schemas.openxmlformats.org/officeDocument/2006/relationships" id="274" r:id="R879df8d23a444b49"/>
    <p:sldId xmlns:r="http://schemas.openxmlformats.org/officeDocument/2006/relationships" id="275" r:id="R8c57b863efbb4646"/>
    <p:sldId xmlns:r="http://schemas.openxmlformats.org/officeDocument/2006/relationships" id="276" r:id="Raca23f6b4ff34e85"/>
    <p:sldId xmlns:r="http://schemas.openxmlformats.org/officeDocument/2006/relationships" id="277" r:id="R5f3e061c855a42f2"/>
    <p:sldId xmlns:r="http://schemas.openxmlformats.org/officeDocument/2006/relationships" id="278" r:id="R67ab4e7f97924c3f"/>
    <p:sldId xmlns:r="http://schemas.openxmlformats.org/officeDocument/2006/relationships" id="279" r:id="R0db345f669854067"/>
    <p:sldId xmlns:r="http://schemas.openxmlformats.org/officeDocument/2006/relationships" id="280" r:id="R4215f53ef677491f"/>
    <p:sldId xmlns:r="http://schemas.openxmlformats.org/officeDocument/2006/relationships" id="281" r:id="R20e602246d3b42e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acbec9ae6fe4d58" /><Relationship Type="http://schemas.openxmlformats.org/officeDocument/2006/relationships/slideMaster" Target="/ppt/slideMasters/slideMaster1.xml" Id="Rebb636a0bb44485c" /><Relationship Type="http://schemas.openxmlformats.org/officeDocument/2006/relationships/notesMaster" Target="/ppt/notesMasters/notesMaster1.xml" Id="R3b686d0707ee4c75" /><Relationship Type="http://schemas.openxmlformats.org/officeDocument/2006/relationships/presProps" Target="/ppt/presProps.xml" Id="R6352cd6197d54fe1" /><Relationship Type="http://schemas.openxmlformats.org/officeDocument/2006/relationships/tableStyles" Target="/ppt/tableStyles.xml" Id="Rd10aafe335714b54" /><Relationship Type="http://schemas.openxmlformats.org/officeDocument/2006/relationships/slide" Target="/ppt/slides/slide1.xml" Id="R89e131a788a74f14" /><Relationship Type="http://schemas.openxmlformats.org/officeDocument/2006/relationships/slide" Target="/ppt/slides/slide2.xml" Id="R0154fb4d598c4292" /><Relationship Type="http://schemas.openxmlformats.org/officeDocument/2006/relationships/slide" Target="/ppt/slides/slide3.xml" Id="Rb1eb45f356fd40b8" /><Relationship Type="http://schemas.openxmlformats.org/officeDocument/2006/relationships/slide" Target="/ppt/slides/slide4.xml" Id="R8cdf7acb63d74d14" /><Relationship Type="http://schemas.openxmlformats.org/officeDocument/2006/relationships/slide" Target="/ppt/slides/slide5.xml" Id="R3ddd628da296422f" /><Relationship Type="http://schemas.openxmlformats.org/officeDocument/2006/relationships/slide" Target="/ppt/slides/slide6.xml" Id="R7c69609004484e7c" /><Relationship Type="http://schemas.openxmlformats.org/officeDocument/2006/relationships/slide" Target="/ppt/slides/slide7.xml" Id="Rce7db9d5ff9f4952" /><Relationship Type="http://schemas.openxmlformats.org/officeDocument/2006/relationships/slide" Target="/ppt/slides/slide8.xml" Id="R52c96d67ce8145b8" /><Relationship Type="http://schemas.openxmlformats.org/officeDocument/2006/relationships/slide" Target="/ppt/slides/slide9.xml" Id="Re4e014aa470d4ca0" /><Relationship Type="http://schemas.openxmlformats.org/officeDocument/2006/relationships/slide" Target="/ppt/slides/slide10.xml" Id="R2057d4dddfe147e1" /><Relationship Type="http://schemas.openxmlformats.org/officeDocument/2006/relationships/slide" Target="/ppt/slides/slide11.xml" Id="R36123fde255143f9" /><Relationship Type="http://schemas.openxmlformats.org/officeDocument/2006/relationships/slide" Target="/ppt/slides/slide12.xml" Id="R586cd91cb70b4bd3" /><Relationship Type="http://schemas.openxmlformats.org/officeDocument/2006/relationships/slide" Target="/ppt/slides/slide13.xml" Id="Rafaf586855b543b3" /><Relationship Type="http://schemas.openxmlformats.org/officeDocument/2006/relationships/slide" Target="/ppt/slides/slide14.xml" Id="R74b6a9adf7d24bd3" /><Relationship Type="http://schemas.openxmlformats.org/officeDocument/2006/relationships/slide" Target="/ppt/slides/slide15.xml" Id="Rd8e987461c4c4df8" /><Relationship Type="http://schemas.openxmlformats.org/officeDocument/2006/relationships/slide" Target="/ppt/slides/slide16.xml" Id="Rfa0438ebd4274c06" /><Relationship Type="http://schemas.openxmlformats.org/officeDocument/2006/relationships/slide" Target="/ppt/slides/slide17.xml" Id="R46b2880687244414" /><Relationship Type="http://schemas.openxmlformats.org/officeDocument/2006/relationships/slide" Target="/ppt/slides/slide18.xml" Id="R62cc7df526324674" /><Relationship Type="http://schemas.openxmlformats.org/officeDocument/2006/relationships/slide" Target="/ppt/slides/slide19.xml" Id="R879df8d23a444b49" /><Relationship Type="http://schemas.openxmlformats.org/officeDocument/2006/relationships/slide" Target="/ppt/slides/slide20.xml" Id="R8c57b863efbb4646" /><Relationship Type="http://schemas.openxmlformats.org/officeDocument/2006/relationships/slide" Target="/ppt/slides/slide21.xml" Id="Raca23f6b4ff34e85" /><Relationship Type="http://schemas.openxmlformats.org/officeDocument/2006/relationships/slide" Target="/ppt/slides/slide22.xml" Id="R5f3e061c855a42f2" /><Relationship Type="http://schemas.openxmlformats.org/officeDocument/2006/relationships/slide" Target="/ppt/slides/slide23.xml" Id="R67ab4e7f97924c3f" /><Relationship Type="http://schemas.openxmlformats.org/officeDocument/2006/relationships/slide" Target="/ppt/slides/slide24.xml" Id="R0db345f669854067" /><Relationship Type="http://schemas.openxmlformats.org/officeDocument/2006/relationships/slide" Target="/ppt/slides/slide25.xml" Id="R4215f53ef677491f" /><Relationship Type="http://schemas.openxmlformats.org/officeDocument/2006/relationships/slide" Target="/ppt/slides/slide26.xml" Id="R20e602246d3b42e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31be0b51177499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60281aaee23440c" /><Relationship Type="http://schemas.openxmlformats.org/officeDocument/2006/relationships/notesMaster" Target="/ppt/notesMasters/notesMaster1.xml" Id="R0fb3ab78a7a84e1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7e34302f9c7463c" /><Relationship Type="http://schemas.openxmlformats.org/officeDocument/2006/relationships/notesMaster" Target="/ppt/notesMasters/notesMaster1.xml" Id="R3a944f333f774eb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f778c8a4e2e4972" /><Relationship Type="http://schemas.openxmlformats.org/officeDocument/2006/relationships/notesMaster" Target="/ppt/notesMasters/notesMaster1.xml" Id="R52b6f013e81f4e0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742310e9ac14ad6" /><Relationship Type="http://schemas.openxmlformats.org/officeDocument/2006/relationships/notesMaster" Target="/ppt/notesMasters/notesMaster1.xml" Id="Rf703d65832c6469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496c06079274ec6" /><Relationship Type="http://schemas.openxmlformats.org/officeDocument/2006/relationships/notesMaster" Target="/ppt/notesMasters/notesMaster1.xml" Id="Rd4992c2eae664b8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ddff2ef5e9e4005" /><Relationship Type="http://schemas.openxmlformats.org/officeDocument/2006/relationships/notesMaster" Target="/ppt/notesMasters/notesMaster1.xml" Id="R6dcfb6dae2e7465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424e589566247fb" /><Relationship Type="http://schemas.openxmlformats.org/officeDocument/2006/relationships/notesMaster" Target="/ppt/notesMasters/notesMaster1.xml" Id="R7c450d85a6284b8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b6b612b0f2549de" /><Relationship Type="http://schemas.openxmlformats.org/officeDocument/2006/relationships/notesMaster" Target="/ppt/notesMasters/notesMaster1.xml" Id="R604014ee16604a1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bf1cfb9051541c4" /><Relationship Type="http://schemas.openxmlformats.org/officeDocument/2006/relationships/notesMaster" Target="/ppt/notesMasters/notesMaster1.xml" Id="R57ca249a2d2e42fd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b2b386884aa243a1" /><Relationship Type="http://schemas.openxmlformats.org/officeDocument/2006/relationships/notesMaster" Target="/ppt/notesMasters/notesMaster1.xml" Id="R3fbc24f168cc467d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3f14b12b8e64471b" /><Relationship Type="http://schemas.openxmlformats.org/officeDocument/2006/relationships/notesMaster" Target="/ppt/notesMasters/notesMaster1.xml" Id="Rd461a581ff7540b0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01dbd8b02e3b4703" /><Relationship Type="http://schemas.openxmlformats.org/officeDocument/2006/relationships/notesMaster" Target="/ppt/notesMasters/notesMaster1.xml" Id="R9aa8625067524563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d4dab4a587d6400a" /><Relationship Type="http://schemas.openxmlformats.org/officeDocument/2006/relationships/notesMaster" Target="/ppt/notesMasters/notesMaster1.xml" Id="R58886442af6b4007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ed0290c8b6e54a19" /><Relationship Type="http://schemas.openxmlformats.org/officeDocument/2006/relationships/notesMaster" Target="/ppt/notesMasters/notesMaster1.xml" Id="R2b7ba7bba9c446e1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440994de988643a9" /><Relationship Type="http://schemas.openxmlformats.org/officeDocument/2006/relationships/notesMaster" Target="/ppt/notesMasters/notesMaster1.xml" Id="Re3c6fd154f484538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acfb225051304833" /><Relationship Type="http://schemas.openxmlformats.org/officeDocument/2006/relationships/notesMaster" Target="/ppt/notesMasters/notesMaster1.xml" Id="Refc168a3e48541a8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fe89c783ac0345f6" /><Relationship Type="http://schemas.openxmlformats.org/officeDocument/2006/relationships/notesMaster" Target="/ppt/notesMasters/notesMaster1.xml" Id="R4817c72a736b4828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17765b1afbb941bc" /><Relationship Type="http://schemas.openxmlformats.org/officeDocument/2006/relationships/notesMaster" Target="/ppt/notesMasters/notesMaster1.xml" Id="R8a5a4244067f4374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0641d16783174ff6" /><Relationship Type="http://schemas.openxmlformats.org/officeDocument/2006/relationships/notesMaster" Target="/ppt/notesMasters/notesMaster1.xml" Id="R18624c98bab14ec6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7ba94b544d8d4e71" /><Relationship Type="http://schemas.openxmlformats.org/officeDocument/2006/relationships/notesMaster" Target="/ppt/notesMasters/notesMaster1.xml" Id="Rb7bdc6dd04c34fb9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9869b4d5327f45fd" /><Relationship Type="http://schemas.openxmlformats.org/officeDocument/2006/relationships/notesMaster" Target="/ppt/notesMasters/notesMaster1.xml" Id="R8e619a6e29ad4975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e4ad08e034d74341" /><Relationship Type="http://schemas.openxmlformats.org/officeDocument/2006/relationships/notesMaster" Target="/ppt/notesMasters/notesMaster1.xml" Id="R1b96ca058afd48fb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e06fd81f55ff4b44" /><Relationship Type="http://schemas.openxmlformats.org/officeDocument/2006/relationships/notesMaster" Target="/ppt/notesMasters/notesMaster1.xml" Id="R2e4b4943240749e9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800b9753170b43cf" /><Relationship Type="http://schemas.openxmlformats.org/officeDocument/2006/relationships/notesMaster" Target="/ppt/notesMasters/notesMaster1.xml" Id="R90abc2794d334297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3179d70764bb4def" /><Relationship Type="http://schemas.openxmlformats.org/officeDocument/2006/relationships/notesMaster" Target="/ppt/notesMasters/notesMaster1.xml" Id="R612811d4fc8448c4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be5fff5a459345c7" /><Relationship Type="http://schemas.openxmlformats.org/officeDocument/2006/relationships/notesMaster" Target="/ppt/notesMasters/notesMaster1.xml" Id="R524150730b0b45d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by reminding learners that this is the final technical phase. The lab itself remains the established tournament. The new economics, harness, local-model, role, and routing material gives them a stronger way to interpret what they see.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Ask learners to name the model they normally select and why. Then ask whether their answer came from their own workload or from reputation, marketing, and public benchmarks.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Preview the lecture. These are discussion threads around the existing lab; they are not extra implementation requirements.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Do not criticize the habit; it was rational under the experience people were given. The lesson is that personal-plan economics are not a safe production assumption.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Avoid claiming exactly when pricing will change. Explain that a production architecture must survive changes in subscription limits, API prices, promotions, and provider strategy.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https://help.openai.com/en/articles/20001106</a:t>
            </a:r>
          </a:p>
          <a:p xmlns:a="http://schemas.openxmlformats.org/drawingml/2006/main">
            <a:r>
              <a:t>- https://openai.com/index/codex-flexible-pricing-for-teams/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Ask the room to estimate how many model calls sit behind one seemingly simple agent request. Emphasize total workflow cost, not just the price of a single completion.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this as the transition from economics to engineering. The model is crucial, but it does not act alone.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https://openai.com/index/harness-engineering/</a:t>
            </a:r>
          </a:p>
          <a:p xmlns:a="http://schemas.openxmlformats.org/drawingml/2006/main">
            <a:r>
              <a:t>- https://www.anthropic.com/engineering/effective-harnesses-for-long-running-agents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a discussion, not a new lab comparison. Connect each quadrant to an earlier course phase. Point out that harness assumptions can become stale as models improve.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https://www.anthropic.com/engineering/building-effective-agents</a:t>
            </a:r>
          </a:p>
          <a:p xmlns:a="http://schemas.openxmlformats.org/drawingml/2006/main">
            <a:r>
              <a:t>- https://www.anthropic.com/engineering/harness-design-long-running-apps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Avoid both extremes: local models are neither toys nor automatic frontier replacements. Ask which workloads in the learners’ organizations could already be local.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https://docs.ollama.com/faq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quantization in plain language. Also correct the claim that local equals free or automatically private; the surrounding system still matters.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https://docs.ollama.com/faq</a:t>
            </a:r>
          </a:p>
          <a:p xmlns:a="http://schemas.openxmlformats.org/drawingml/2006/main">
            <a:r>
              <a:t>- https://ollama.readthedocs.io/en/import/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Introduce roles as a discussion vocabulary. This does not change the lab or require a routing implementation.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Ask learners to place familiar tasks into the four roles. A critical reviewer can be discussed as an independent verification role when consequences justify it.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Keep this conceptual. The lab does not add reasoning-level experiments. Use the instructor’s example: a deep thinker might be one configuration with heavy thought; a workhorse might be a fast model with light thought.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Define routing without tying it to a company. Stress that routing is broader than selecting a model name.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Also mention provider routing: choosing an endpoint after a model has been selected. Sometimes the correct route is a cache, deterministic function, database query, or human.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https://github.com/lm-sys/RouteLLM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State clearly that acquisition discussions are reports, not a completed transaction, and that this slide is time-sensitive. OpenRouter is included only because the instructor can speak from direct experience.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https://openrouter.ai/docs/guides/routing/routers/auto-router</a:t>
            </a:r>
          </a:p>
          <a:p xmlns:a="http://schemas.openxmlformats.org/drawingml/2006/main">
            <a:r>
              <a:t>- https://openrouter.ai/docs/guides/routing/provider-selection</a:t>
            </a:r>
          </a:p>
          <a:p xmlns:a="http://schemas.openxmlformats.org/drawingml/2006/main">
            <a:r>
              <a:t>- https://www.axios.com/2026/07/24/stripe-openrouter-merger-ai-currency</a:t>
            </a:r>
          </a:p>
          <a:p xmlns:a="http://schemas.openxmlformats.org/drawingml/2006/main">
            <a:r>
              <a:t>- https://www.theinformation.com/briefings/stripe-talks-buy-startup-openrouter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Make the boundary explicit before beginning the technical work: no router, reasoning-level experiment, or harness comparison is being added.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Walk through the existing intention. Everything is configured from the dashboard; the class is not extending the product.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why this spread matters. Models can be excellent on one class and weak on another; the lab should not hide those differences.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the memorable comparison from the lab: 7, 7, 7 may be more useful than 9, 3, 8.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Define the rubric before looking at winners. Ask where each criterion is objective and where judgment enters.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the deepest evaluation caution. Correlated judges can agree and all be wrong. The lab skips self-scoring, but human inspection still matters.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https://www.anthropic.com/engineering/demystifying-evals-for-ai-agents</a:t>
            </a:r>
          </a:p>
          <a:p xmlns:a="http://schemas.openxmlformats.org/drawingml/2006/main">
            <a:r>
              <a:t>- https://eugeneyan.com/writing/llm-evaluators/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this slide as the operational bridge into the lab. If the full run is slow, keep teaching with a cached result set.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These questions use the lab’s evidence without extending the lab. Require learners to cite a chart or raw response when making claims.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Connect explicitly to Phase 02 guardrails, Phase 03 memory, and Phase 05 skills. Evaluation gives the organization a way to keep improving all of them.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End by asking each learner for one task they would put into the evaluation next and which model role they predict it belongs to.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acf8394aa284cb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7d982b9c8bb4a05" /><Relationship Type="http://schemas.openxmlformats.org/officeDocument/2006/relationships/slideLayout" Target="/ppt/slideLayouts/slideLayout1.xml" Id="R0a7e4dd6f41847f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a7e4dd6f41847f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4bb4bf0d8c43db" /><Relationship Type="http://schemas.openxmlformats.org/officeDocument/2006/relationships/notesSlide" Target="/ppt/notesSlides/notesSlide1.xml" Id="Raf45c256e53240c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211d1ae40bd47cc" /><Relationship Type="http://schemas.openxmlformats.org/officeDocument/2006/relationships/notesSlide" Target="/ppt/notesSlides/notesSlide2.xml" Id="Ra526dbe0e41b42d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21642c63e847a5" /><Relationship Type="http://schemas.openxmlformats.org/officeDocument/2006/relationships/notesSlide" Target="/ppt/notesSlides/notesSlide3.xml" Id="Rde3b04eb54ec43f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e2d8cc20144ca7" /><Relationship Type="http://schemas.openxmlformats.org/officeDocument/2006/relationships/notesSlide" Target="/ppt/notesSlides/notesSlide4.xml" Id="Rac084c2d178d4a9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8bd083a5f249ca" /><Relationship Type="http://schemas.openxmlformats.org/officeDocument/2006/relationships/notesSlide" Target="/ppt/notesSlides/notesSlide5.xml" Id="Ref3818224a354a3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555273834d4b85" /><Relationship Type="http://schemas.openxmlformats.org/officeDocument/2006/relationships/notesSlide" Target="/ppt/notesSlides/notesSlide6.xml" Id="R098007877cf5472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19d4d7638ca47b5" /><Relationship Type="http://schemas.openxmlformats.org/officeDocument/2006/relationships/notesSlide" Target="/ppt/notesSlides/notesSlide7.xml" Id="R2a3a4f0be4d64e0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7918c161e24214" /><Relationship Type="http://schemas.openxmlformats.org/officeDocument/2006/relationships/notesSlide" Target="/ppt/notesSlides/notesSlide8.xml" Id="R06977e1cd0214ab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e43851b2bf4445" /><Relationship Type="http://schemas.openxmlformats.org/officeDocument/2006/relationships/notesSlide" Target="/ppt/notesSlides/notesSlide9.xml" Id="R171ff74b7b834fb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be2b0fcbb44889" /><Relationship Type="http://schemas.openxmlformats.org/officeDocument/2006/relationships/notesSlide" Target="/ppt/notesSlides/notesSlide10.xml" Id="R6389546cc79b40b2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faddccd8f62425e" /><Relationship Type="http://schemas.openxmlformats.org/officeDocument/2006/relationships/notesSlide" Target="/ppt/notesSlides/notesSlide11.xml" Id="R8a31de5987bf4c03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d8271186d64470" /><Relationship Type="http://schemas.openxmlformats.org/officeDocument/2006/relationships/notesSlide" Target="/ppt/notesSlides/notesSlide12.xml" Id="Re73e9f9cd2564100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7410c0e4a974ca8" /><Relationship Type="http://schemas.openxmlformats.org/officeDocument/2006/relationships/notesSlide" Target="/ppt/notesSlides/notesSlide13.xml" Id="R49842387fa1543f3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bc0bcd28184d6e" /><Relationship Type="http://schemas.openxmlformats.org/officeDocument/2006/relationships/notesSlide" Target="/ppt/notesSlides/notesSlide14.xml" Id="R21a7ae3d31ee4414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d86c7572ba4110" /><Relationship Type="http://schemas.openxmlformats.org/officeDocument/2006/relationships/notesSlide" Target="/ppt/notesSlides/notesSlide15.xml" Id="R922f7c370cb14147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b28d54143004555" /><Relationship Type="http://schemas.openxmlformats.org/officeDocument/2006/relationships/notesSlide" Target="/ppt/notesSlides/notesSlide16.xml" Id="R6208df36a7e54696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4cc9df634f4379" /><Relationship Type="http://schemas.openxmlformats.org/officeDocument/2006/relationships/notesSlide" Target="/ppt/notesSlides/notesSlide17.xml" Id="Rc886676eddf140e6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a53b146cc3475d" /><Relationship Type="http://schemas.openxmlformats.org/officeDocument/2006/relationships/notesSlide" Target="/ppt/notesSlides/notesSlide18.xml" Id="Rb971171f346b4cec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25141c6d404b40" /><Relationship Type="http://schemas.openxmlformats.org/officeDocument/2006/relationships/notesSlide" Target="/ppt/notesSlides/notesSlide19.xml" Id="Rdfb0ac4d73464921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ff9412a08f45b9" /><Relationship Type="http://schemas.openxmlformats.org/officeDocument/2006/relationships/notesSlide" Target="/ppt/notesSlides/notesSlide20.xml" Id="R14ac8d2786054968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2cd7ffb9204457" /><Relationship Type="http://schemas.openxmlformats.org/officeDocument/2006/relationships/notesSlide" Target="/ppt/notesSlides/notesSlide21.xml" Id="Re041abdde68f4eb0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bd76f55cc845d8" /><Relationship Type="http://schemas.openxmlformats.org/officeDocument/2006/relationships/notesSlide" Target="/ppt/notesSlides/notesSlide22.xml" Id="R805bd553753348ad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9096283f8db4375" /><Relationship Type="http://schemas.openxmlformats.org/officeDocument/2006/relationships/notesSlide" Target="/ppt/notesSlides/notesSlide23.xml" Id="R034b2548e9d94ec2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01682aa0fac4038" /><Relationship Type="http://schemas.openxmlformats.org/officeDocument/2006/relationships/notesSlide" Target="/ppt/notesSlides/notesSlide24.xml" Id="R86ddb0444b5f4621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4d3630ebf34c4f" /><Relationship Type="http://schemas.openxmlformats.org/officeDocument/2006/relationships/notesSlide" Target="/ppt/notesSlides/notesSlide25.xml" Id="R59e8d48646634364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0b96a80406e40a2" /><Relationship Type="http://schemas.openxmlformats.org/officeDocument/2006/relationships/notesSlide" Target="/ppt/notesSlides/notesSlide26.xml" Id="Rc5a3998e54dc440d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-3-1">
            <a:extLst xmlns:a="http://schemas.openxmlformats.org/drawingml/2006/main">
              <a:ext uri="{FF2B5EF4-FFF2-40B4-BE49-F238E27FC236}">
                <a16:creationId xmlns:a16="http://schemas.microsoft.com/office/drawing/2014/main" id="{A8632480-13B7-44A4-8E6F-E78044BAC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738789"/>
            <a:ext cx="9448800" cy="249145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l">
              <a:defRPr sz="6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Evaluation, model roles,
and routing</a:t>
            </a:r>
          </a:p>
        </p:txBody>
      </p:sp>
      <p:sp>
        <p:nvSpPr>
          <p:cNvPr id="2" name="Subtitle-4-2">
            <a:extLst xmlns:a="http://schemas.openxmlformats.org/drawingml/2006/main">
              <a:ext uri="{FF2B5EF4-FFF2-40B4-BE49-F238E27FC236}">
                <a16:creationId xmlns:a16="http://schemas.microsoft.com/office/drawing/2014/main" id="{72E696B0-0358-4723-84D6-C86453F70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4742212"/>
            <a:ext cx="5702332" cy="108023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Build the proven eval lab. Use its evidence to make better model decisions.</a:t>
            </a:r>
          </a:p>
        </p:txBody>
      </p:sp>
      <p:sp>
        <p:nvSpPr>
          <p:cNvPr id="3" name="Subtitle-4-3">
            <a:extLst xmlns:a="http://schemas.openxmlformats.org/drawingml/2006/main">
              <a:ext uri="{FF2B5EF4-FFF2-40B4-BE49-F238E27FC236}">
                <a16:creationId xmlns:a16="http://schemas.microsoft.com/office/drawing/2014/main" id="{8AF8D3F1-13C1-4B4B-B7B6-3576B2E75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92240"/>
            <a:ext cx="5702332" cy="64912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PHASE 06</a:t>
            </a:r>
          </a:p>
        </p:txBody>
      </p:sp>
    </p:spTree>
    <p:extLst>
      <p:ext uri="{BB962C8B-B14F-4D97-AF65-F5344CB8AC3E}">
        <p14:creationId xmlns:p14="http://schemas.microsoft.com/office/powerpoint/2010/main" val="1577703633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-3-1">
            <a:extLst xmlns:a="http://schemas.openxmlformats.org/drawingml/2006/main">
              <a:ext uri="{FF2B5EF4-FFF2-40B4-BE49-F238E27FC236}">
                <a16:creationId xmlns:a16="http://schemas.microsoft.com/office/drawing/2014/main" id="{19435252-5DC4-4873-916B-868FFAC39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2579942"/>
            <a:ext cx="9448800" cy="36242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l">
              <a:defRPr sz="6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Which model is good enough
for this work—and how do we know?</a:t>
            </a:r>
          </a:p>
        </p:txBody>
      </p:sp>
      <p:sp>
        <p:nvSpPr>
          <p:cNvPr id="2" name="Subtitle-4-2">
            <a:extLst xmlns:a="http://schemas.openxmlformats.org/drawingml/2006/main">
              <a:ext uri="{FF2B5EF4-FFF2-40B4-BE49-F238E27FC236}">
                <a16:creationId xmlns:a16="http://schemas.microsoft.com/office/drawing/2014/main" id="{452AF923-6D5A-4607-A863-D8EBA4F0B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92240"/>
            <a:ext cx="6157817" cy="64912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THE QUESTION</a:t>
            </a:r>
          </a:p>
        </p:txBody>
      </p:sp>
      <p:sp>
        <p:nvSpPr>
          <p:cNvPr id="3" name="Subtitle-4-3">
            <a:extLst xmlns:a="http://schemas.openxmlformats.org/drawingml/2006/main">
              <a:ext uri="{FF2B5EF4-FFF2-40B4-BE49-F238E27FC236}">
                <a16:creationId xmlns:a16="http://schemas.microsoft.com/office/drawing/2014/main" id="{E5FA0CAA-0C30-4656-82FD-D4DBF1513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92240"/>
            <a:ext cx="3911632" cy="64912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YOUR WORKLOAD</a:t>
            </a:r>
          </a:p>
        </p:txBody>
      </p:sp>
    </p:spTree>
    <p:extLst>
      <p:ext uri="{BB962C8B-B14F-4D97-AF65-F5344CB8AC3E}">
        <p14:creationId xmlns:p14="http://schemas.microsoft.com/office/powerpoint/2010/main" val="1535712815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Google-Shape-532-p58-2">
            <a:extLst xmlns:a="http://schemas.openxmlformats.org/drawingml/2006/main">
              <a:ext uri="{FF2B5EF4-FFF2-40B4-BE49-F238E27FC236}">
                <a16:creationId xmlns:a16="http://schemas.microsoft.com/office/drawing/2014/main" id="{B2B24090-FEC4-4A59-927C-D3C9A4710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1</a:t>
            </a:r>
          </a:p>
        </p:txBody>
      </p:sp>
      <p:sp>
        <p:nvSpPr>
          <p:cNvPr id="2" name="Google-Shape-533-p58-3">
            <a:extLst xmlns:a="http://schemas.openxmlformats.org/drawingml/2006/main">
              <a:ext uri="{FF2B5EF4-FFF2-40B4-BE49-F238E27FC236}">
                <a16:creationId xmlns:a16="http://schemas.microsoft.com/office/drawing/2014/main" id="{CF4B979D-E7D5-46AB-9531-6F1316B80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Three conversations frame the lab</a:t>
            </a:r>
          </a:p>
        </p:txBody>
      </p:sp>
      <p:sp>
        <p:nvSpPr>
          <p:cNvPr id="3" name="Google-Shape-534-p58-4">
            <a:extLst xmlns:a="http://schemas.openxmlformats.org/drawingml/2006/main">
              <a:ext uri="{FF2B5EF4-FFF2-40B4-BE49-F238E27FC236}">
                <a16:creationId xmlns:a16="http://schemas.microsoft.com/office/drawing/2014/main" id="{08DCD34D-2B8F-4D40-812D-AF7E99F49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365468"/>
            <a:ext cx="3568732" cy="2628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ECONOMICS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Why “use the best model” has felt almost free—and why that assumption may not scale.</a:t>
            </a:r>
          </a:p>
        </p:txBody>
      </p:sp>
      <p:sp>
        <p:nvSpPr>
          <p:cNvPr id="4" name="Content-Placeholder-1-5">
            <a:extLst xmlns:a="http://schemas.openxmlformats.org/drawingml/2006/main">
              <a:ext uri="{FF2B5EF4-FFF2-40B4-BE49-F238E27FC236}">
                <a16:creationId xmlns:a16="http://schemas.microsoft.com/office/drawing/2014/main" id="{9E414950-92BB-4FE7-8BDC-4B7B0C06F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365468"/>
            <a:ext cx="3568732" cy="2628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ROUTING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How future systems can choose the right level of model for the task.</a:t>
            </a:r>
          </a:p>
        </p:txBody>
      </p:sp>
      <p:sp>
        <p:nvSpPr>
          <p:cNvPr id="5" name="Content-Placeholder-2-6">
            <a:extLst xmlns:a="http://schemas.openxmlformats.org/drawingml/2006/main">
              <a:ext uri="{FF2B5EF4-FFF2-40B4-BE49-F238E27FC236}">
                <a16:creationId xmlns:a16="http://schemas.microsoft.com/office/drawing/2014/main" id="{DE931BCB-20E6-4462-B583-CA823E6EB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1682" y="3365468"/>
            <a:ext cx="3568732" cy="2628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CAPABILITY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How frontier models, local models, and the harness each contribute to useful work.</a:t>
            </a:r>
          </a:p>
        </p:txBody>
      </p:sp>
    </p:spTree>
    <p:extLst>
      <p:ext uri="{BB962C8B-B14F-4D97-AF65-F5344CB8AC3E}">
        <p14:creationId xmlns:p14="http://schemas.microsoft.com/office/powerpoint/2010/main" val="798126163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Slide-Number-Placeholder-3-2">
            <a:extLst xmlns:a="http://schemas.openxmlformats.org/drawingml/2006/main">
              <a:ext uri="{FF2B5EF4-FFF2-40B4-BE49-F238E27FC236}">
                <a16:creationId xmlns:a16="http://schemas.microsoft.com/office/drawing/2014/main" id="{204B1E66-637F-43C7-9DD1-92111E699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2</a:t>
            </a:r>
          </a:p>
        </p:txBody>
      </p:sp>
      <p:sp>
        <p:nvSpPr>
          <p:cNvPr id="2" name="Title-10-3">
            <a:extLst xmlns:a="http://schemas.openxmlformats.org/drawingml/2006/main">
              <a:ext uri="{FF2B5EF4-FFF2-40B4-BE49-F238E27FC236}">
                <a16:creationId xmlns:a16="http://schemas.microsoft.com/office/drawing/2014/main" id="{C01F0645-19E3-463A-B185-9F01F9FC8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Generous access created a reasonable habit</a:t>
            </a:r>
          </a:p>
        </p:txBody>
      </p:sp>
      <p:cxnSp>
        <p:nvCxnSpPr>
          <p:cNvPr id="18" name="Google-Shape-2259-p159-4"/>
          <p:cNvCxnSpPr/>
          <p:nvPr/>
        </p:nvCxnSpPr>
        <p:spPr>
          <a:xfrm xmlns:a="http://schemas.openxmlformats.org/drawingml/2006/main">
            <a:off x="337757" y="5341620"/>
            <a:ext cx="12245435" cy="286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000000"/>
            </a:solidFill>
            <a:prstDash val="solid"/>
          </a:ln>
        </p:spPr>
      </p:cxnSp>
      <p:sp>
        <p:nvSpPr>
          <p:cNvPr id="4" name="Google-Shape-2260-p159-5">
            <a:extLst xmlns:a="http://schemas.openxmlformats.org/drawingml/2006/main">
              <a:ext uri="{FF2B5EF4-FFF2-40B4-BE49-F238E27FC236}">
                <a16:creationId xmlns:a16="http://schemas.microsoft.com/office/drawing/2014/main" id="{DABDBF7D-6A68-466A-9314-E79CFF0E1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757" y="5288089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5" name="Google-Shape-2261-p159-6">
            <a:extLst xmlns:a="http://schemas.openxmlformats.org/drawingml/2006/main">
              <a:ext uri="{FF2B5EF4-FFF2-40B4-BE49-F238E27FC236}">
                <a16:creationId xmlns:a16="http://schemas.microsoft.com/office/drawing/2014/main" id="{941BE9D4-8102-44A1-A7B3-37340DD5E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770" y="5288089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6" name="Google-Shape-2262-p159-7">
            <a:extLst xmlns:a="http://schemas.openxmlformats.org/drawingml/2006/main">
              <a:ext uri="{FF2B5EF4-FFF2-40B4-BE49-F238E27FC236}">
                <a16:creationId xmlns:a16="http://schemas.microsoft.com/office/drawing/2014/main" id="{FB935890-F0E9-4D7F-B3CB-1F774E47F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6070" y="5288089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7" name="Rounded-Rectangle-19-8">
            <a:extLst xmlns:a="http://schemas.openxmlformats.org/drawingml/2006/main">
              <a:ext uri="{FF2B5EF4-FFF2-40B4-BE49-F238E27FC236}">
                <a16:creationId xmlns:a16="http://schemas.microsoft.com/office/drawing/2014/main" id="{5BAB7C47-0FBA-4986-B96D-04C5D4693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401794"/>
            <a:ext cx="3568732" cy="3619500"/>
          </a:xfrm>
          <a:prstGeom xmlns:a="http://schemas.openxmlformats.org/drawingml/2006/main" prst="roundRect">
            <a:avLst>
              <a:gd name="adj" fmla="val 2135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8" name="Content-Placeholder-8-9">
            <a:extLst xmlns:a="http://schemas.openxmlformats.org/drawingml/2006/main">
              <a:ext uri="{FF2B5EF4-FFF2-40B4-BE49-F238E27FC236}">
                <a16:creationId xmlns:a16="http://schemas.microsoft.com/office/drawing/2014/main" id="{2F973B86-BA80-418A-832D-26C42950A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421" y="1806797"/>
            <a:ext cx="2949321" cy="256679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PERSONAL PLANS</a:t>
            </a:r>
          </a:p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Flat monthly subscriptions often delivered far more apparent token value than their price.</a:t>
            </a:r>
          </a:p>
        </p:txBody>
      </p:sp>
      <p:sp>
        <p:nvSpPr>
          <p:cNvPr id="9" name="Rounded-Rectangle-21-10">
            <a:extLst xmlns:a="http://schemas.openxmlformats.org/drawingml/2006/main">
              <a:ext uri="{FF2B5EF4-FFF2-40B4-BE49-F238E27FC236}">
                <a16:creationId xmlns:a16="http://schemas.microsoft.com/office/drawing/2014/main" id="{8D4579AC-E644-40C2-B57A-0FFDE7876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8443" y="1401794"/>
            <a:ext cx="3568732" cy="3619500"/>
          </a:xfrm>
          <a:prstGeom xmlns:a="http://schemas.openxmlformats.org/drawingml/2006/main" prst="roundRect">
            <a:avLst>
              <a:gd name="adj" fmla="val 2135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10" name="Content-Placeholder-8-11">
            <a:extLst xmlns:a="http://schemas.openxmlformats.org/drawingml/2006/main">
              <a:ext uri="{FF2B5EF4-FFF2-40B4-BE49-F238E27FC236}">
                <a16:creationId xmlns:a16="http://schemas.microsoft.com/office/drawing/2014/main" id="{E93D7C76-F67B-43DF-93C3-693F41B0D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8196" y="1806797"/>
            <a:ext cx="2949321" cy="256679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PROMOTIONAL ERA</a:t>
            </a:r>
          </a:p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Free usage and subsidized adoption made marginal inference feel invisible.</a:t>
            </a:r>
          </a:p>
        </p:txBody>
      </p:sp>
      <p:sp>
        <p:nvSpPr>
          <p:cNvPr id="11" name="Rounded-Rectangle-23-12">
            <a:extLst xmlns:a="http://schemas.openxmlformats.org/drawingml/2006/main">
              <a:ext uri="{FF2B5EF4-FFF2-40B4-BE49-F238E27FC236}">
                <a16:creationId xmlns:a16="http://schemas.microsoft.com/office/drawing/2014/main" id="{4BDB2E59-DFD4-45E0-B748-B62A4732B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7506" y="1401794"/>
            <a:ext cx="3568732" cy="3619500"/>
          </a:xfrm>
          <a:prstGeom xmlns:a="http://schemas.openxmlformats.org/drawingml/2006/main" prst="roundRect">
            <a:avLst>
              <a:gd name="adj" fmla="val 2135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12" name="Content-Placeholder-8-13">
            <a:extLst xmlns:a="http://schemas.openxmlformats.org/drawingml/2006/main">
              <a:ext uri="{FF2B5EF4-FFF2-40B4-BE49-F238E27FC236}">
                <a16:creationId xmlns:a16="http://schemas.microsoft.com/office/drawing/2014/main" id="{7C8D1FDB-CC8D-4988-8B40-9923EBAE7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7259" y="1806797"/>
            <a:ext cx="2949321" cy="256679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DEFAULT BEHAVIOR</a:t>
            </a:r>
          </a:p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Many developers simply leave the strongest available model selected.</a:t>
            </a:r>
          </a:p>
        </p:txBody>
      </p:sp>
      <p:sp>
        <p:nvSpPr>
          <p:cNvPr id="13" name="Text-Placeholder-16-14">
            <a:extLst xmlns:a="http://schemas.openxmlformats.org/drawingml/2006/main">
              <a:ext uri="{FF2B5EF4-FFF2-40B4-BE49-F238E27FC236}">
                <a16:creationId xmlns:a16="http://schemas.microsoft.com/office/drawing/2014/main" id="{92F9301E-8622-4270-AD08-3B3B58266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770" y="5602414"/>
            <a:ext cx="2595944" cy="39195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EXPECTATION</a:t>
            </a:r>
          </a:p>
        </p:txBody>
      </p:sp>
      <p:sp>
        <p:nvSpPr>
          <p:cNvPr id="14" name="Text-Placeholder-16-15">
            <a:extLst xmlns:a="http://schemas.openxmlformats.org/drawingml/2006/main">
              <a:ext uri="{FF2B5EF4-FFF2-40B4-BE49-F238E27FC236}">
                <a16:creationId xmlns:a16="http://schemas.microsoft.com/office/drawing/2014/main" id="{C887CA43-B710-4559-9B36-AB9B3D972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906" y="5602414"/>
            <a:ext cx="2595944" cy="39195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ACCESS</a:t>
            </a:r>
          </a:p>
        </p:txBody>
      </p:sp>
      <p:sp>
        <p:nvSpPr>
          <p:cNvPr id="15" name="Text-Placeholder-16-16">
            <a:extLst xmlns:a="http://schemas.openxmlformats.org/drawingml/2006/main">
              <a:ext uri="{FF2B5EF4-FFF2-40B4-BE49-F238E27FC236}">
                <a16:creationId xmlns:a16="http://schemas.microsoft.com/office/drawing/2014/main" id="{C353911A-46EF-4CD1-B782-333D46919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5409" y="5602414"/>
            <a:ext cx="2595944" cy="39195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HABIT</a:t>
            </a:r>
          </a:p>
        </p:txBody>
      </p:sp>
    </p:spTree>
    <p:extLst>
      <p:ext uri="{BB962C8B-B14F-4D97-AF65-F5344CB8AC3E}">
        <p14:creationId xmlns:p14="http://schemas.microsoft.com/office/powerpoint/2010/main" val="988117661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-3-1">
            <a:extLst xmlns:a="http://schemas.openxmlformats.org/drawingml/2006/main">
              <a:ext uri="{FF2B5EF4-FFF2-40B4-BE49-F238E27FC236}">
                <a16:creationId xmlns:a16="http://schemas.microsoft.com/office/drawing/2014/main" id="{296A24B8-B80A-49A6-ABAB-57A502BE2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2579942"/>
            <a:ext cx="9448800" cy="36242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l">
              <a:defRPr sz="6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A subscription is a purchasing arrangement.
It is not an architecture.</a:t>
            </a:r>
          </a:p>
        </p:txBody>
      </p:sp>
      <p:sp>
        <p:nvSpPr>
          <p:cNvPr id="2" name="Subtitle-4-2">
            <a:extLst xmlns:a="http://schemas.openxmlformats.org/drawingml/2006/main">
              <a:ext uri="{FF2B5EF4-FFF2-40B4-BE49-F238E27FC236}">
                <a16:creationId xmlns:a16="http://schemas.microsoft.com/office/drawing/2014/main" id="{6A3A7673-9DB8-4844-BA24-B54AEDEA5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92240"/>
            <a:ext cx="6157817" cy="64912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THE DURABLE POINT</a:t>
            </a:r>
          </a:p>
        </p:txBody>
      </p:sp>
      <p:sp>
        <p:nvSpPr>
          <p:cNvPr id="3" name="Subtitle-4-3">
            <a:extLst xmlns:a="http://schemas.openxmlformats.org/drawingml/2006/main">
              <a:ext uri="{FF2B5EF4-FFF2-40B4-BE49-F238E27FC236}">
                <a16:creationId xmlns:a16="http://schemas.microsoft.com/office/drawing/2014/main" id="{FE12F682-ECDC-46F8-BF92-8BB19D0CE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92240"/>
            <a:ext cx="3911632" cy="64912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NOT A PRICE FORECAST</a:t>
            </a:r>
          </a:p>
        </p:txBody>
      </p:sp>
    </p:spTree>
    <p:extLst>
      <p:ext uri="{BB962C8B-B14F-4D97-AF65-F5344CB8AC3E}">
        <p14:creationId xmlns:p14="http://schemas.microsoft.com/office/powerpoint/2010/main" val="1352993419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Slide-Number-Placeholder-1-2">
            <a:extLst xmlns:a="http://schemas.openxmlformats.org/drawingml/2006/main">
              <a:ext uri="{FF2B5EF4-FFF2-40B4-BE49-F238E27FC236}">
                <a16:creationId xmlns:a16="http://schemas.microsoft.com/office/drawing/2014/main" id="{ED882F0C-FB68-45AD-967A-F675F58C2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219" y="6278594"/>
            <a:ext cx="519113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3</a:t>
            </a:r>
          </a:p>
        </p:txBody>
      </p:sp>
      <p:sp>
        <p:nvSpPr>
          <p:cNvPr id="2" name="Title-2-3">
            <a:extLst xmlns:a="http://schemas.openxmlformats.org/drawingml/2006/main">
              <a:ext uri="{FF2B5EF4-FFF2-40B4-BE49-F238E27FC236}">
                <a16:creationId xmlns:a16="http://schemas.microsoft.com/office/drawing/2014/main" id="{E3AC7B72-5237-45D3-A84A-1D8520727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One request can become an expensive workflow</a:t>
            </a:r>
          </a:p>
        </p:txBody>
      </p:sp>
      <p:sp>
        <p:nvSpPr>
          <p:cNvPr id="3" name="Content-Placeholder-9-4">
            <a:extLst xmlns:a="http://schemas.openxmlformats.org/drawingml/2006/main">
              <a:ext uri="{FF2B5EF4-FFF2-40B4-BE49-F238E27FC236}">
                <a16:creationId xmlns:a16="http://schemas.microsoft.com/office/drawing/2014/main" id="{1785BE39-15BC-41E2-B28E-B51FFDB65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2031968"/>
            <a:ext cx="5537168" cy="16430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PLAN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The agent may interpret, decompose, and research before changing anything.</a:t>
            </a:r>
          </a:p>
        </p:txBody>
      </p:sp>
      <p:sp>
        <p:nvSpPr>
          <p:cNvPr id="4" name="Content-Placeholder-10-5">
            <a:extLst xmlns:a="http://schemas.openxmlformats.org/drawingml/2006/main">
              <a:ext uri="{FF2B5EF4-FFF2-40B4-BE49-F238E27FC236}">
                <a16:creationId xmlns:a16="http://schemas.microsoft.com/office/drawing/2014/main" id="{C29079B5-A604-4F2C-A76B-94A47CCD2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6592" y="2031968"/>
            <a:ext cx="5537168" cy="16430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BUILD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Implementation can involve many tool calls and multiple model turns.</a:t>
            </a:r>
          </a:p>
        </p:txBody>
      </p:sp>
      <p:sp>
        <p:nvSpPr>
          <p:cNvPr id="5" name="Content-Placeholder-9-6">
            <a:extLst xmlns:a="http://schemas.openxmlformats.org/drawingml/2006/main">
              <a:ext uri="{FF2B5EF4-FFF2-40B4-BE49-F238E27FC236}">
                <a16:creationId xmlns:a16="http://schemas.microsoft.com/office/drawing/2014/main" id="{6892692D-4EB8-49BC-9BA7-38FAE73E2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4016978"/>
            <a:ext cx="5537168" cy="164315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VERIFY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Tests, review, repair, and reruns add more calls.</a:t>
            </a:r>
          </a:p>
        </p:txBody>
      </p:sp>
      <p:sp>
        <p:nvSpPr>
          <p:cNvPr id="6" name="Content-Placeholder-10-7">
            <a:extLst xmlns:a="http://schemas.openxmlformats.org/drawingml/2006/main">
              <a:ext uri="{FF2B5EF4-FFF2-40B4-BE49-F238E27FC236}">
                <a16:creationId xmlns:a16="http://schemas.microsoft.com/office/drawing/2014/main" id="{17D4FD2D-A9A4-4905-A077-9BC496E05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6592" y="4016978"/>
            <a:ext cx="5537168" cy="164315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OPERATE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Retries, fallbacks, monitoring, and support continue after launch.</a:t>
            </a:r>
          </a:p>
        </p:txBody>
      </p:sp>
    </p:spTree>
    <p:extLst>
      <p:ext uri="{BB962C8B-B14F-4D97-AF65-F5344CB8AC3E}">
        <p14:creationId xmlns:p14="http://schemas.microsoft.com/office/powerpoint/2010/main" val="496904431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-3-1">
            <a:extLst xmlns:a="http://schemas.openxmlformats.org/drawingml/2006/main">
              <a:ext uri="{FF2B5EF4-FFF2-40B4-BE49-F238E27FC236}">
                <a16:creationId xmlns:a16="http://schemas.microsoft.com/office/drawing/2014/main" id="{60E97A14-39B4-467C-B6F8-76977C0F8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2579942"/>
            <a:ext cx="9448800" cy="36242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l">
              <a:defRPr sz="6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The model supplies potential capability.
The harness turns it into dependable work.</a:t>
            </a:r>
          </a:p>
        </p:txBody>
      </p:sp>
      <p:sp>
        <p:nvSpPr>
          <p:cNvPr id="2" name="Subtitle-4-2">
            <a:extLst xmlns:a="http://schemas.openxmlformats.org/drawingml/2006/main">
              <a:ext uri="{FF2B5EF4-FFF2-40B4-BE49-F238E27FC236}">
                <a16:creationId xmlns:a16="http://schemas.microsoft.com/office/drawing/2014/main" id="{2213B09A-02A7-453F-8979-CD5045594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92240"/>
            <a:ext cx="6157817" cy="64912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THE SYSTEM VIEW</a:t>
            </a:r>
          </a:p>
        </p:txBody>
      </p:sp>
      <p:sp>
        <p:nvSpPr>
          <p:cNvPr id="3" name="Subtitle-4-3">
            <a:extLst xmlns:a="http://schemas.openxmlformats.org/drawingml/2006/main">
              <a:ext uri="{FF2B5EF4-FFF2-40B4-BE49-F238E27FC236}">
                <a16:creationId xmlns:a16="http://schemas.microsoft.com/office/drawing/2014/main" id="{1DDAEC0F-A56B-48C0-A40D-ACEC1F602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92240"/>
            <a:ext cx="3911632" cy="64912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MODEL ≠ SYSTEM</a:t>
            </a:r>
          </a:p>
        </p:txBody>
      </p:sp>
    </p:spTree>
    <p:extLst>
      <p:ext uri="{BB962C8B-B14F-4D97-AF65-F5344CB8AC3E}">
        <p14:creationId xmlns:p14="http://schemas.microsoft.com/office/powerpoint/2010/main" val="2118957413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Slide-Number-Placeholder-1-2">
            <a:extLst xmlns:a="http://schemas.openxmlformats.org/drawingml/2006/main">
              <a:ext uri="{FF2B5EF4-FFF2-40B4-BE49-F238E27FC236}">
                <a16:creationId xmlns:a16="http://schemas.microsoft.com/office/drawing/2014/main" id="{B717BBDB-CDBE-4B5E-93D3-7A97D21D4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219" y="6278594"/>
            <a:ext cx="519113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4</a:t>
            </a:r>
          </a:p>
        </p:txBody>
      </p:sp>
      <p:sp>
        <p:nvSpPr>
          <p:cNvPr id="2" name="Title-2-3">
            <a:extLst xmlns:a="http://schemas.openxmlformats.org/drawingml/2006/main">
              <a:ext uri="{FF2B5EF4-FFF2-40B4-BE49-F238E27FC236}">
                <a16:creationId xmlns:a16="http://schemas.microsoft.com/office/drawing/2014/main" id="{E608A015-940F-4BE1-8CE9-6CD4A7CB0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The harness is everything surrounding the model</a:t>
            </a:r>
          </a:p>
        </p:txBody>
      </p:sp>
      <p:sp>
        <p:nvSpPr>
          <p:cNvPr id="3" name="Content-Placeholder-9-4">
            <a:extLst xmlns:a="http://schemas.openxmlformats.org/drawingml/2006/main">
              <a:ext uri="{FF2B5EF4-FFF2-40B4-BE49-F238E27FC236}">
                <a16:creationId xmlns:a16="http://schemas.microsoft.com/office/drawing/2014/main" id="{53F82D03-BD63-42CB-9773-FD2615FB4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2031968"/>
            <a:ext cx="5537168" cy="16430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CONTEXT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Instructions, repository knowledge, memory, and compacted history.</a:t>
            </a:r>
          </a:p>
        </p:txBody>
      </p:sp>
      <p:sp>
        <p:nvSpPr>
          <p:cNvPr id="4" name="Content-Placeholder-10-5">
            <a:extLst xmlns:a="http://schemas.openxmlformats.org/drawingml/2006/main">
              <a:ext uri="{FF2B5EF4-FFF2-40B4-BE49-F238E27FC236}">
                <a16:creationId xmlns:a16="http://schemas.microsoft.com/office/drawing/2014/main" id="{6B64FA7B-00D8-4CDD-B28B-90A12D2D8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6592" y="2031968"/>
            <a:ext cx="5537168" cy="16430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ACTION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Tools, permissions, planning, and persistent state.</a:t>
            </a:r>
          </a:p>
        </p:txBody>
      </p:sp>
      <p:sp>
        <p:nvSpPr>
          <p:cNvPr id="5" name="Content-Placeholder-9-6">
            <a:extLst xmlns:a="http://schemas.openxmlformats.org/drawingml/2006/main">
              <a:ext uri="{FF2B5EF4-FFF2-40B4-BE49-F238E27FC236}">
                <a16:creationId xmlns:a16="http://schemas.microsoft.com/office/drawing/2014/main" id="{AE2DEBE7-3F7D-4A94-97BD-7388E08F2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4016978"/>
            <a:ext cx="5537168" cy="164315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PROOF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Tests, rubrics, review, and acceptance checks.</a:t>
            </a:r>
          </a:p>
        </p:txBody>
      </p:sp>
      <p:sp>
        <p:nvSpPr>
          <p:cNvPr id="6" name="Content-Placeholder-10-7">
            <a:extLst xmlns:a="http://schemas.openxmlformats.org/drawingml/2006/main">
              <a:ext uri="{FF2B5EF4-FFF2-40B4-BE49-F238E27FC236}">
                <a16:creationId xmlns:a16="http://schemas.microsoft.com/office/drawing/2014/main" id="{79C4B4D2-4A81-4F83-BEA3-8535B1EA1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6592" y="4016978"/>
            <a:ext cx="5537168" cy="164315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RECOVERY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Retries, escalation, fallbacks, and clear handoffs.</a:t>
            </a:r>
          </a:p>
        </p:txBody>
      </p:sp>
    </p:spTree>
    <p:extLst>
      <p:ext uri="{BB962C8B-B14F-4D97-AF65-F5344CB8AC3E}">
        <p14:creationId xmlns:p14="http://schemas.microsoft.com/office/powerpoint/2010/main" val="312260834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Google-Shape-532-p58-2">
            <a:extLst xmlns:a="http://schemas.openxmlformats.org/drawingml/2006/main">
              <a:ext uri="{FF2B5EF4-FFF2-40B4-BE49-F238E27FC236}">
                <a16:creationId xmlns:a16="http://schemas.microsoft.com/office/drawing/2014/main" id="{80026EEE-1722-4813-A944-0A62C3D85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5</a:t>
            </a:r>
          </a:p>
        </p:txBody>
      </p:sp>
      <p:sp>
        <p:nvSpPr>
          <p:cNvPr id="2" name="Google-Shape-533-p58-3">
            <a:extLst xmlns:a="http://schemas.openxmlformats.org/drawingml/2006/main">
              <a:ext uri="{FF2B5EF4-FFF2-40B4-BE49-F238E27FC236}">
                <a16:creationId xmlns:a16="http://schemas.microsoft.com/office/drawing/2014/main" id="{D3FB3C33-5974-417C-A452-B35F12C66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Local models are moving into useful work</a:t>
            </a:r>
          </a:p>
        </p:txBody>
      </p:sp>
      <p:sp>
        <p:nvSpPr>
          <p:cNvPr id="3" name="Google-Shape-534-p58-4">
            <a:extLst xmlns:a="http://schemas.openxmlformats.org/drawingml/2006/main">
              <a:ext uri="{FF2B5EF4-FFF2-40B4-BE49-F238E27FC236}">
                <a16:creationId xmlns:a16="http://schemas.microsoft.com/office/drawing/2014/main" id="{5F57F1C6-2D32-4A54-9072-7EBAE1F7C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365468"/>
            <a:ext cx="3568732" cy="2628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GOOD TODAY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Extraction, classification, summaries, routing, routine transformations, and first-pass analysis.</a:t>
            </a:r>
          </a:p>
        </p:txBody>
      </p:sp>
      <p:sp>
        <p:nvSpPr>
          <p:cNvPr id="4" name="Content-Placeholder-1-5">
            <a:extLst xmlns:a="http://schemas.openxmlformats.org/drawingml/2006/main">
              <a:ext uri="{FF2B5EF4-FFF2-40B4-BE49-F238E27FC236}">
                <a16:creationId xmlns:a16="http://schemas.microsoft.com/office/drawing/2014/main" id="{1DAF2231-516A-4179-8490-3BBC8900D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365468"/>
            <a:ext cx="3568732" cy="2628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STILL LIMITED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The hardest ambiguous, long-horizon, and consequential tasks may need stronger systems.</a:t>
            </a:r>
          </a:p>
        </p:txBody>
      </p:sp>
      <p:sp>
        <p:nvSpPr>
          <p:cNvPr id="5" name="Content-Placeholder-2-6">
            <a:extLst xmlns:a="http://schemas.openxmlformats.org/drawingml/2006/main">
              <a:ext uri="{FF2B5EF4-FFF2-40B4-BE49-F238E27FC236}">
                <a16:creationId xmlns:a16="http://schemas.microsoft.com/office/drawing/2014/main" id="{43E1775B-E4F9-42F0-94F0-0E9167618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1682" y="3365468"/>
            <a:ext cx="3568732" cy="2628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WHY LOCAL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Control, offline use, data location, predictable availability, and low marginal inference cost.</a:t>
            </a:r>
          </a:p>
        </p:txBody>
      </p:sp>
    </p:spTree>
    <p:extLst>
      <p:ext uri="{BB962C8B-B14F-4D97-AF65-F5344CB8AC3E}">
        <p14:creationId xmlns:p14="http://schemas.microsoft.com/office/powerpoint/2010/main" val="233004994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Slide-Number-Placeholder-3-2">
            <a:extLst xmlns:a="http://schemas.openxmlformats.org/drawingml/2006/main">
              <a:ext uri="{FF2B5EF4-FFF2-40B4-BE49-F238E27FC236}">
                <a16:creationId xmlns:a16="http://schemas.microsoft.com/office/drawing/2014/main" id="{3D31DB7B-5845-45EA-9689-CDED356EB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6</a:t>
            </a:r>
          </a:p>
        </p:txBody>
      </p:sp>
      <p:sp>
        <p:nvSpPr>
          <p:cNvPr id="2" name="Title-10-3">
            <a:extLst xmlns:a="http://schemas.openxmlformats.org/drawingml/2006/main">
              <a:ext uri="{FF2B5EF4-FFF2-40B4-BE49-F238E27FC236}">
                <a16:creationId xmlns:a16="http://schemas.microsoft.com/office/drawing/2014/main" id="{F167D41D-7EA9-454E-9215-188AC799A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Quantization makes local inference practical—with tradeoffs</a:t>
            </a:r>
          </a:p>
        </p:txBody>
      </p:sp>
      <p:cxnSp>
        <p:nvCxnSpPr>
          <p:cNvPr id="18" name="Google-Shape-2259-p159-4"/>
          <p:cNvCxnSpPr/>
          <p:nvPr/>
        </p:nvCxnSpPr>
        <p:spPr>
          <a:xfrm xmlns:a="http://schemas.openxmlformats.org/drawingml/2006/main">
            <a:off x="337757" y="5341620"/>
            <a:ext cx="12245435" cy="286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000000"/>
            </a:solidFill>
            <a:prstDash val="solid"/>
          </a:ln>
        </p:spPr>
      </p:cxnSp>
      <p:sp>
        <p:nvSpPr>
          <p:cNvPr id="4" name="Google-Shape-2260-p159-5">
            <a:extLst xmlns:a="http://schemas.openxmlformats.org/drawingml/2006/main">
              <a:ext uri="{FF2B5EF4-FFF2-40B4-BE49-F238E27FC236}">
                <a16:creationId xmlns:a16="http://schemas.microsoft.com/office/drawing/2014/main" id="{AC0B4A38-0338-402C-B330-8B62C1ADE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757" y="5288089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5" name="Google-Shape-2261-p159-6">
            <a:extLst xmlns:a="http://schemas.openxmlformats.org/drawingml/2006/main">
              <a:ext uri="{FF2B5EF4-FFF2-40B4-BE49-F238E27FC236}">
                <a16:creationId xmlns:a16="http://schemas.microsoft.com/office/drawing/2014/main" id="{6FAD4E3F-6759-4F31-B442-457B42C7C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770" y="5288089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6" name="Google-Shape-2262-p159-7">
            <a:extLst xmlns:a="http://schemas.openxmlformats.org/drawingml/2006/main">
              <a:ext uri="{FF2B5EF4-FFF2-40B4-BE49-F238E27FC236}">
                <a16:creationId xmlns:a16="http://schemas.microsoft.com/office/drawing/2014/main" id="{3A9F66E2-970D-449E-80B7-2479E6A0B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6070" y="5288089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7" name="Rounded-Rectangle-19-8">
            <a:extLst xmlns:a="http://schemas.openxmlformats.org/drawingml/2006/main">
              <a:ext uri="{FF2B5EF4-FFF2-40B4-BE49-F238E27FC236}">
                <a16:creationId xmlns:a16="http://schemas.microsoft.com/office/drawing/2014/main" id="{96D827A9-47E5-4ED7-AF88-DCC7C1D83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401794"/>
            <a:ext cx="3568732" cy="3619500"/>
          </a:xfrm>
          <a:prstGeom xmlns:a="http://schemas.openxmlformats.org/drawingml/2006/main" prst="roundRect">
            <a:avLst>
              <a:gd name="adj" fmla="val 2135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8" name="Content-Placeholder-8-9">
            <a:extLst xmlns:a="http://schemas.openxmlformats.org/drawingml/2006/main">
              <a:ext uri="{FF2B5EF4-FFF2-40B4-BE49-F238E27FC236}">
                <a16:creationId xmlns:a16="http://schemas.microsoft.com/office/drawing/2014/main" id="{8727F64A-DCC1-4089-9E39-128441A96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421" y="1806797"/>
            <a:ext cx="2949321" cy="256679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FIT</a:t>
            </a:r>
          </a:p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Reduced precision can shrink memory requirements enough to run a model on a laptop.</a:t>
            </a:r>
          </a:p>
        </p:txBody>
      </p:sp>
      <p:sp>
        <p:nvSpPr>
          <p:cNvPr id="9" name="Rounded-Rectangle-21-10">
            <a:extLst xmlns:a="http://schemas.openxmlformats.org/drawingml/2006/main">
              <a:ext uri="{FF2B5EF4-FFF2-40B4-BE49-F238E27FC236}">
                <a16:creationId xmlns:a16="http://schemas.microsoft.com/office/drawing/2014/main" id="{98056792-3EA6-4280-B8C9-3190C8C0B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8443" y="1401794"/>
            <a:ext cx="3568732" cy="3619500"/>
          </a:xfrm>
          <a:prstGeom xmlns:a="http://schemas.openxmlformats.org/drawingml/2006/main" prst="roundRect">
            <a:avLst>
              <a:gd name="adj" fmla="val 2135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10" name="Content-Placeholder-8-11">
            <a:extLst xmlns:a="http://schemas.openxmlformats.org/drawingml/2006/main">
              <a:ext uri="{FF2B5EF4-FFF2-40B4-BE49-F238E27FC236}">
                <a16:creationId xmlns:a16="http://schemas.microsoft.com/office/drawing/2014/main" id="{8DBF7CEC-50BF-4DB6-9D34-9C52069D9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8196" y="1806797"/>
            <a:ext cx="2949321" cy="256679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TRADEOFF</a:t>
            </a:r>
          </a:p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Smaller representations may reduce accuracy; the effect depends on model, task, and quantization.</a:t>
            </a:r>
          </a:p>
        </p:txBody>
      </p:sp>
      <p:sp>
        <p:nvSpPr>
          <p:cNvPr id="11" name="Rounded-Rectangle-23-12">
            <a:extLst xmlns:a="http://schemas.openxmlformats.org/drawingml/2006/main">
              <a:ext uri="{FF2B5EF4-FFF2-40B4-BE49-F238E27FC236}">
                <a16:creationId xmlns:a16="http://schemas.microsoft.com/office/drawing/2014/main" id="{D258E523-E8AE-4B9D-8F50-06DF7FF37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7506" y="1401794"/>
            <a:ext cx="3568732" cy="3619500"/>
          </a:xfrm>
          <a:prstGeom xmlns:a="http://schemas.openxmlformats.org/drawingml/2006/main" prst="roundRect">
            <a:avLst>
              <a:gd name="adj" fmla="val 2135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12" name="Content-Placeholder-8-13">
            <a:extLst xmlns:a="http://schemas.openxmlformats.org/drawingml/2006/main">
              <a:ext uri="{FF2B5EF4-FFF2-40B4-BE49-F238E27FC236}">
                <a16:creationId xmlns:a16="http://schemas.microsoft.com/office/drawing/2014/main" id="{F3C6F0A5-6639-443C-9693-06C98DA73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7259" y="1806797"/>
            <a:ext cx="2949321" cy="256679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RECORD</a:t>
            </a:r>
          </a:p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Capture model, quantization, context, hardware, runtime, and settings.</a:t>
            </a:r>
          </a:p>
        </p:txBody>
      </p:sp>
      <p:sp>
        <p:nvSpPr>
          <p:cNvPr id="13" name="Text-Placeholder-16-14">
            <a:extLst xmlns:a="http://schemas.openxmlformats.org/drawingml/2006/main">
              <a:ext uri="{FF2B5EF4-FFF2-40B4-BE49-F238E27FC236}">
                <a16:creationId xmlns:a16="http://schemas.microsoft.com/office/drawing/2014/main" id="{BE939A3D-4806-44DE-9C93-26F5B87E0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770" y="5602414"/>
            <a:ext cx="2595944" cy="39195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QUALITY</a:t>
            </a:r>
          </a:p>
        </p:txBody>
      </p:sp>
      <p:sp>
        <p:nvSpPr>
          <p:cNvPr id="14" name="Text-Placeholder-16-15">
            <a:extLst xmlns:a="http://schemas.openxmlformats.org/drawingml/2006/main">
              <a:ext uri="{FF2B5EF4-FFF2-40B4-BE49-F238E27FC236}">
                <a16:creationId xmlns:a16="http://schemas.microsoft.com/office/drawing/2014/main" id="{643B11B8-A98D-45E0-8591-8E71DC7D0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906" y="5602414"/>
            <a:ext cx="2595944" cy="39195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MEMORY</a:t>
            </a:r>
          </a:p>
        </p:txBody>
      </p:sp>
      <p:sp>
        <p:nvSpPr>
          <p:cNvPr id="15" name="Text-Placeholder-16-16">
            <a:extLst xmlns:a="http://schemas.openxmlformats.org/drawingml/2006/main">
              <a:ext uri="{FF2B5EF4-FFF2-40B4-BE49-F238E27FC236}">
                <a16:creationId xmlns:a16="http://schemas.microsoft.com/office/drawing/2014/main" id="{3E99248D-65F7-45B1-B51B-6B37398D1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5409" y="5602414"/>
            <a:ext cx="2595944" cy="39195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EVIDENCE</a:t>
            </a:r>
          </a:p>
        </p:txBody>
      </p:sp>
    </p:spTree>
    <p:extLst>
      <p:ext uri="{BB962C8B-B14F-4D97-AF65-F5344CB8AC3E}">
        <p14:creationId xmlns:p14="http://schemas.microsoft.com/office/powerpoint/2010/main" val="2021610701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-3-1">
            <a:extLst xmlns:a="http://schemas.openxmlformats.org/drawingml/2006/main">
              <a:ext uri="{FF2B5EF4-FFF2-40B4-BE49-F238E27FC236}">
                <a16:creationId xmlns:a16="http://schemas.microsoft.com/office/drawing/2014/main" id="{2951458F-1466-4178-95F0-E84FACB82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738789"/>
            <a:ext cx="9448800" cy="249145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l">
              <a:defRPr sz="6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Name the level of work,
not the model</a:t>
            </a:r>
          </a:p>
        </p:txBody>
      </p:sp>
      <p:sp>
        <p:nvSpPr>
          <p:cNvPr id="2" name="Subtitle-4-2">
            <a:extLst xmlns:a="http://schemas.openxmlformats.org/drawingml/2006/main">
              <a:ext uri="{FF2B5EF4-FFF2-40B4-BE49-F238E27FC236}">
                <a16:creationId xmlns:a16="http://schemas.microsoft.com/office/drawing/2014/main" id="{55771CF5-B0A1-48EE-AB5D-CCEB085E1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4742212"/>
            <a:ext cx="5702332" cy="108023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Roles stay understandable even while model names change.</a:t>
            </a:r>
          </a:p>
        </p:txBody>
      </p:sp>
      <p:sp>
        <p:nvSpPr>
          <p:cNvPr id="3" name="Subtitle-4-3">
            <a:extLst xmlns:a="http://schemas.openxmlformats.org/drawingml/2006/main">
              <a:ext uri="{FF2B5EF4-FFF2-40B4-BE49-F238E27FC236}">
                <a16:creationId xmlns:a16="http://schemas.microsoft.com/office/drawing/2014/main" id="{41B4F558-B615-4F4A-8C04-7A57B6C81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92240"/>
            <a:ext cx="5702332" cy="64912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A BETTER ABSTRACTION</a:t>
            </a:r>
          </a:p>
        </p:txBody>
      </p:sp>
    </p:spTree>
    <p:extLst>
      <p:ext uri="{BB962C8B-B14F-4D97-AF65-F5344CB8AC3E}">
        <p14:creationId xmlns:p14="http://schemas.microsoft.com/office/powerpoint/2010/main" val="1731278884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Slide-Number-Placeholder-1-2">
            <a:extLst xmlns:a="http://schemas.openxmlformats.org/drawingml/2006/main">
              <a:ext uri="{FF2B5EF4-FFF2-40B4-BE49-F238E27FC236}">
                <a16:creationId xmlns:a16="http://schemas.microsoft.com/office/drawing/2014/main" id="{D5E0E100-7C6D-4161-9C91-8BB61D223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219" y="6278594"/>
            <a:ext cx="519113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7</a:t>
            </a:r>
          </a:p>
        </p:txBody>
      </p:sp>
      <p:sp>
        <p:nvSpPr>
          <p:cNvPr id="2" name="Title-2-3">
            <a:extLst xmlns:a="http://schemas.openxmlformats.org/drawingml/2006/main">
              <a:ext uri="{FF2B5EF4-FFF2-40B4-BE49-F238E27FC236}">
                <a16:creationId xmlns:a16="http://schemas.microsoft.com/office/drawing/2014/main" id="{D2CD8A35-74A4-458E-BFDC-77B7514EC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A simple organizational model vocabulary</a:t>
            </a:r>
          </a:p>
        </p:txBody>
      </p:sp>
      <p:sp>
        <p:nvSpPr>
          <p:cNvPr id="3" name="Content-Placeholder-9-4">
            <a:extLst xmlns:a="http://schemas.openxmlformats.org/drawingml/2006/main">
              <a:ext uri="{FF2B5EF4-FFF2-40B4-BE49-F238E27FC236}">
                <a16:creationId xmlns:a16="http://schemas.microsoft.com/office/drawing/2014/main" id="{2EBA61DE-1C9F-470D-9481-E9D911904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2031968"/>
            <a:ext cx="5537168" cy="16430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UTILITY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Formatting, extraction, classification, and tightly bounded transformations.</a:t>
            </a:r>
          </a:p>
        </p:txBody>
      </p:sp>
      <p:sp>
        <p:nvSpPr>
          <p:cNvPr id="4" name="Content-Placeholder-10-5">
            <a:extLst xmlns:a="http://schemas.openxmlformats.org/drawingml/2006/main">
              <a:ext uri="{FF2B5EF4-FFF2-40B4-BE49-F238E27FC236}">
                <a16:creationId xmlns:a16="http://schemas.microsoft.com/office/drawing/2014/main" id="{6203711C-8038-4573-B23E-B382686B1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6592" y="2031968"/>
            <a:ext cx="5537168" cy="16430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WORKHORSE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Routine coding, summaries, documentation, and ordinary analysis.</a:t>
            </a:r>
          </a:p>
        </p:txBody>
      </p:sp>
      <p:sp>
        <p:nvSpPr>
          <p:cNvPr id="5" name="Content-Placeholder-9-6">
            <a:extLst xmlns:a="http://schemas.openxmlformats.org/drawingml/2006/main">
              <a:ext uri="{FF2B5EF4-FFF2-40B4-BE49-F238E27FC236}">
                <a16:creationId xmlns:a16="http://schemas.microsoft.com/office/drawing/2014/main" id="{69606F29-E5F6-4BDF-A0B9-536038E3A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4016978"/>
            <a:ext cx="5537168" cy="164315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SPECIALIST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Debugging, review, multi-file work, and domain analysis.</a:t>
            </a:r>
          </a:p>
        </p:txBody>
      </p:sp>
      <p:sp>
        <p:nvSpPr>
          <p:cNvPr id="6" name="Content-Placeholder-10-7">
            <a:extLst xmlns:a="http://schemas.openxmlformats.org/drawingml/2006/main">
              <a:ext uri="{FF2B5EF4-FFF2-40B4-BE49-F238E27FC236}">
                <a16:creationId xmlns:a16="http://schemas.microsoft.com/office/drawing/2014/main" id="{16C205D0-663E-48F5-BB6A-9185959A9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6592" y="4016978"/>
            <a:ext cx="5537168" cy="164315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DEEP THINKER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Architecture, ambiguity, difficult synthesis, and recovery.</a:t>
            </a:r>
          </a:p>
        </p:txBody>
      </p:sp>
    </p:spTree>
    <p:extLst>
      <p:ext uri="{BB962C8B-B14F-4D97-AF65-F5344CB8AC3E}">
        <p14:creationId xmlns:p14="http://schemas.microsoft.com/office/powerpoint/2010/main" val="1455400083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Google-Shape-532-p58-2">
            <a:extLst xmlns:a="http://schemas.openxmlformats.org/drawingml/2006/main">
              <a:ext uri="{FF2B5EF4-FFF2-40B4-BE49-F238E27FC236}">
                <a16:creationId xmlns:a16="http://schemas.microsoft.com/office/drawing/2014/main" id="{0B30EABB-B148-4024-B5AE-2903B6F79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8</a:t>
            </a:r>
          </a:p>
        </p:txBody>
      </p:sp>
      <p:sp>
        <p:nvSpPr>
          <p:cNvPr id="2" name="Google-Shape-533-p58-3">
            <a:extLst xmlns:a="http://schemas.openxmlformats.org/drawingml/2006/main">
              <a:ext uri="{FF2B5EF4-FFF2-40B4-BE49-F238E27FC236}">
                <a16:creationId xmlns:a16="http://schemas.microsoft.com/office/drawing/2014/main" id="{1D7D1A4E-DCE4-4A37-B0BF-9C4BC1C48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Capability, thought, and speed are different questions</a:t>
            </a:r>
          </a:p>
        </p:txBody>
      </p:sp>
      <p:sp>
        <p:nvSpPr>
          <p:cNvPr id="3" name="Google-Shape-534-p58-4">
            <a:extLst xmlns:a="http://schemas.openxmlformats.org/drawingml/2006/main">
              <a:ext uri="{FF2B5EF4-FFF2-40B4-BE49-F238E27FC236}">
                <a16:creationId xmlns:a16="http://schemas.microsoft.com/office/drawing/2014/main" id="{D2293108-D09F-4F7D-B1A6-49B22BEE1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365468"/>
            <a:ext cx="3568732" cy="2628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CAPABILITY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How difficult is the work, and what level of model has passed similar tasks?</a:t>
            </a:r>
          </a:p>
        </p:txBody>
      </p:sp>
      <p:sp>
        <p:nvSpPr>
          <p:cNvPr id="4" name="Content-Placeholder-1-5">
            <a:extLst xmlns:a="http://schemas.openxmlformats.org/drawingml/2006/main">
              <a:ext uri="{FF2B5EF4-FFF2-40B4-BE49-F238E27FC236}">
                <a16:creationId xmlns:a16="http://schemas.microsoft.com/office/drawing/2014/main" id="{C46D8757-5D08-400F-865F-C1F9B2C62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365468"/>
            <a:ext cx="3568732" cy="2628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SERVICE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How quickly must it respond, and what may the workflow spend?</a:t>
            </a:r>
          </a:p>
        </p:txBody>
      </p:sp>
      <p:sp>
        <p:nvSpPr>
          <p:cNvPr id="5" name="Content-Placeholder-2-6">
            <a:extLst xmlns:a="http://schemas.openxmlformats.org/drawingml/2006/main">
              <a:ext uri="{FF2B5EF4-FFF2-40B4-BE49-F238E27FC236}">
                <a16:creationId xmlns:a16="http://schemas.microsoft.com/office/drawing/2014/main" id="{C342589A-A3F2-4A71-81FB-1772E3CEF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1682" y="3365468"/>
            <a:ext cx="3568732" cy="2628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THOUGHT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How much reasoning effort does this request deserve?</a:t>
            </a:r>
          </a:p>
        </p:txBody>
      </p:sp>
    </p:spTree>
    <p:extLst>
      <p:ext uri="{BB962C8B-B14F-4D97-AF65-F5344CB8AC3E}">
        <p14:creationId xmlns:p14="http://schemas.microsoft.com/office/powerpoint/2010/main" val="1605216219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-3-1">
            <a:extLst xmlns:a="http://schemas.openxmlformats.org/drawingml/2006/main">
              <a:ext uri="{FF2B5EF4-FFF2-40B4-BE49-F238E27FC236}">
                <a16:creationId xmlns:a16="http://schemas.microsoft.com/office/drawing/2014/main" id="{A61E17E9-E944-4477-927A-CFBB662FA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2579942"/>
            <a:ext cx="9448800" cy="36242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l">
              <a:defRPr sz="6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The router asks what level of capability,
thought, speed, cost, and control this task needs.</a:t>
            </a:r>
          </a:p>
        </p:txBody>
      </p:sp>
      <p:sp>
        <p:nvSpPr>
          <p:cNvPr id="2" name="Subtitle-4-2">
            <a:extLst xmlns:a="http://schemas.openxmlformats.org/drawingml/2006/main">
              <a:ext uri="{FF2B5EF4-FFF2-40B4-BE49-F238E27FC236}">
                <a16:creationId xmlns:a16="http://schemas.microsoft.com/office/drawing/2014/main" id="{5285FE3D-6CDC-4971-97E5-8A8CA7A33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92240"/>
            <a:ext cx="6157817" cy="64912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MODEL ROUTING</a:t>
            </a:r>
          </a:p>
        </p:txBody>
      </p:sp>
      <p:sp>
        <p:nvSpPr>
          <p:cNvPr id="3" name="Subtitle-4-3">
            <a:extLst xmlns:a="http://schemas.openxmlformats.org/drawingml/2006/main">
              <a:ext uri="{FF2B5EF4-FFF2-40B4-BE49-F238E27FC236}">
                <a16:creationId xmlns:a16="http://schemas.microsoft.com/office/drawing/2014/main" id="{A6682ABF-C414-405E-B3EC-1E2D3CAB3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92240"/>
            <a:ext cx="3911632" cy="64912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AN EMERGING CATEGORY</a:t>
            </a:r>
          </a:p>
        </p:txBody>
      </p:sp>
    </p:spTree>
    <p:extLst>
      <p:ext uri="{BB962C8B-B14F-4D97-AF65-F5344CB8AC3E}">
        <p14:creationId xmlns:p14="http://schemas.microsoft.com/office/powerpoint/2010/main" val="183657223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Slide-Number-Placeholder-1-2">
            <a:extLst xmlns:a="http://schemas.openxmlformats.org/drawingml/2006/main">
              <a:ext uri="{FF2B5EF4-FFF2-40B4-BE49-F238E27FC236}">
                <a16:creationId xmlns:a16="http://schemas.microsoft.com/office/drawing/2014/main" id="{6337B908-85A1-49B6-8777-3C091B4F7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219" y="6278594"/>
            <a:ext cx="519113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9</a:t>
            </a:r>
          </a:p>
        </p:txBody>
      </p:sp>
      <p:sp>
        <p:nvSpPr>
          <p:cNvPr id="2" name="Title-2-3">
            <a:extLst xmlns:a="http://schemas.openxmlformats.org/drawingml/2006/main">
              <a:ext uri="{FF2B5EF4-FFF2-40B4-BE49-F238E27FC236}">
                <a16:creationId xmlns:a16="http://schemas.microsoft.com/office/drawing/2014/main" id="{FC8144A5-96FA-4924-A0A7-2EFEC2AB2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Routing approaches will multiply</a:t>
            </a:r>
          </a:p>
        </p:txBody>
      </p:sp>
      <p:sp>
        <p:nvSpPr>
          <p:cNvPr id="3" name="Content-Placeholder-9-4">
            <a:extLst xmlns:a="http://schemas.openxmlformats.org/drawingml/2006/main">
              <a:ext uri="{FF2B5EF4-FFF2-40B4-BE49-F238E27FC236}">
                <a16:creationId xmlns:a16="http://schemas.microsoft.com/office/drawing/2014/main" id="{8FE5F5E4-C5CE-4266-B2F0-EE0E22229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2031968"/>
            <a:ext cx="5537168" cy="16430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RULES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Known task classes map to explicit organizational policy.</a:t>
            </a:r>
          </a:p>
        </p:txBody>
      </p:sp>
      <p:sp>
        <p:nvSpPr>
          <p:cNvPr id="4" name="Content-Placeholder-10-5">
            <a:extLst xmlns:a="http://schemas.openxmlformats.org/drawingml/2006/main">
              <a:ext uri="{FF2B5EF4-FFF2-40B4-BE49-F238E27FC236}">
                <a16:creationId xmlns:a16="http://schemas.microsoft.com/office/drawing/2014/main" id="{B911053F-19B2-4CB9-8AE6-BC03ED05E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6592" y="2031968"/>
            <a:ext cx="5537168" cy="16430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CLASSIFIERS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Complexity or semantic similarity predicts an appropriate model.</a:t>
            </a:r>
          </a:p>
        </p:txBody>
      </p:sp>
      <p:sp>
        <p:nvSpPr>
          <p:cNvPr id="5" name="Content-Placeholder-9-6">
            <a:extLst xmlns:a="http://schemas.openxmlformats.org/drawingml/2006/main">
              <a:ext uri="{FF2B5EF4-FFF2-40B4-BE49-F238E27FC236}">
                <a16:creationId xmlns:a16="http://schemas.microsoft.com/office/drawing/2014/main" id="{E890306F-AE16-4CD5-9B60-6722F19F4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4016978"/>
            <a:ext cx="5537168" cy="164315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CASCADES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Start economically, then escalate after low confidence or failure.</a:t>
            </a:r>
          </a:p>
        </p:txBody>
      </p:sp>
      <p:sp>
        <p:nvSpPr>
          <p:cNvPr id="6" name="Content-Placeholder-10-7">
            <a:extLst xmlns:a="http://schemas.openxmlformats.org/drawingml/2006/main">
              <a:ext uri="{FF2B5EF4-FFF2-40B4-BE49-F238E27FC236}">
                <a16:creationId xmlns:a16="http://schemas.microsoft.com/office/drawing/2014/main" id="{84C8AAA3-84A7-4F54-9C85-FBDE19450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6592" y="4016978"/>
            <a:ext cx="5537168" cy="164315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AGENTIC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A system chooses models, tools, and verification dynamically.</a:t>
            </a:r>
          </a:p>
        </p:txBody>
      </p:sp>
    </p:spTree>
    <p:extLst>
      <p:ext uri="{BB962C8B-B14F-4D97-AF65-F5344CB8AC3E}">
        <p14:creationId xmlns:p14="http://schemas.microsoft.com/office/powerpoint/2010/main" val="816781515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Slide-Number-Placeholder-3-2">
            <a:extLst xmlns:a="http://schemas.openxmlformats.org/drawingml/2006/main">
              <a:ext uri="{FF2B5EF4-FFF2-40B4-BE49-F238E27FC236}">
                <a16:creationId xmlns:a16="http://schemas.microsoft.com/office/drawing/2014/main" id="{FBEA5AB3-A95F-4C92-956E-23511DF69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10</a:t>
            </a:r>
          </a:p>
        </p:txBody>
      </p:sp>
      <p:sp>
        <p:nvSpPr>
          <p:cNvPr id="2" name="Title-10-3">
            <a:extLst xmlns:a="http://schemas.openxmlformats.org/drawingml/2006/main">
              <a:ext uri="{FF2B5EF4-FFF2-40B4-BE49-F238E27FC236}">
                <a16:creationId xmlns:a16="http://schemas.microsoft.com/office/drawing/2014/main" id="{AB067C25-A821-49C8-B461-E2FD3E3D4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OpenRouter is an example—not the lesson</a:t>
            </a:r>
          </a:p>
        </p:txBody>
      </p:sp>
      <p:cxnSp>
        <p:nvCxnSpPr>
          <p:cNvPr id="18" name="Google-Shape-2259-p159-4"/>
          <p:cNvCxnSpPr/>
          <p:nvPr/>
        </p:nvCxnSpPr>
        <p:spPr>
          <a:xfrm xmlns:a="http://schemas.openxmlformats.org/drawingml/2006/main">
            <a:off x="337757" y="5341620"/>
            <a:ext cx="12245435" cy="286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000000"/>
            </a:solidFill>
            <a:prstDash val="solid"/>
          </a:ln>
        </p:spPr>
      </p:cxnSp>
      <p:sp>
        <p:nvSpPr>
          <p:cNvPr id="4" name="Google-Shape-2260-p159-5">
            <a:extLst xmlns:a="http://schemas.openxmlformats.org/drawingml/2006/main">
              <a:ext uri="{FF2B5EF4-FFF2-40B4-BE49-F238E27FC236}">
                <a16:creationId xmlns:a16="http://schemas.microsoft.com/office/drawing/2014/main" id="{9069DEB5-57EF-4106-A7B5-DC0D89877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757" y="5288089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5" name="Google-Shape-2261-p159-6">
            <a:extLst xmlns:a="http://schemas.openxmlformats.org/drawingml/2006/main">
              <a:ext uri="{FF2B5EF4-FFF2-40B4-BE49-F238E27FC236}">
                <a16:creationId xmlns:a16="http://schemas.microsoft.com/office/drawing/2014/main" id="{A9C05337-3FEF-4AAB-B2A2-48FD385EB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770" y="5288089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6" name="Google-Shape-2262-p159-7">
            <a:extLst xmlns:a="http://schemas.openxmlformats.org/drawingml/2006/main">
              <a:ext uri="{FF2B5EF4-FFF2-40B4-BE49-F238E27FC236}">
                <a16:creationId xmlns:a16="http://schemas.microsoft.com/office/drawing/2014/main" id="{AD59AA3F-FD5B-413C-9BC0-4F86E8DB7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6070" y="5288089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7" name="Rounded-Rectangle-19-8">
            <a:extLst xmlns:a="http://schemas.openxmlformats.org/drawingml/2006/main">
              <a:ext uri="{FF2B5EF4-FFF2-40B4-BE49-F238E27FC236}">
                <a16:creationId xmlns:a16="http://schemas.microsoft.com/office/drawing/2014/main" id="{0FA65E60-9A6F-4260-AA9E-F9AB1EE27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401794"/>
            <a:ext cx="3568732" cy="3619500"/>
          </a:xfrm>
          <a:prstGeom xmlns:a="http://schemas.openxmlformats.org/drawingml/2006/main" prst="roundRect">
            <a:avLst>
              <a:gd name="adj" fmla="val 2135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8" name="Content-Placeholder-8-9">
            <a:extLst xmlns:a="http://schemas.openxmlformats.org/drawingml/2006/main">
              <a:ext uri="{FF2B5EF4-FFF2-40B4-BE49-F238E27FC236}">
                <a16:creationId xmlns:a16="http://schemas.microsoft.com/office/drawing/2014/main" id="{A10EB16B-6FBD-4400-93BD-DA0E9C4D2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421" y="1806797"/>
            <a:ext cx="2949321" cy="256679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WHY IT IS VISIBLE</a:t>
            </a:r>
          </a:p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One API can expose many models, with automatic model and provider routing.</a:t>
            </a:r>
          </a:p>
        </p:txBody>
      </p:sp>
      <p:sp>
        <p:nvSpPr>
          <p:cNvPr id="9" name="Rounded-Rectangle-21-10">
            <a:extLst xmlns:a="http://schemas.openxmlformats.org/drawingml/2006/main">
              <a:ext uri="{FF2B5EF4-FFF2-40B4-BE49-F238E27FC236}">
                <a16:creationId xmlns:a16="http://schemas.microsoft.com/office/drawing/2014/main" id="{C96E19B1-911E-4C0E-B6D0-73DBBE4E1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8443" y="1401794"/>
            <a:ext cx="3568732" cy="3619500"/>
          </a:xfrm>
          <a:prstGeom xmlns:a="http://schemas.openxmlformats.org/drawingml/2006/main" prst="roundRect">
            <a:avLst>
              <a:gd name="adj" fmla="val 2135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10" name="Content-Placeholder-8-11">
            <a:extLst xmlns:a="http://schemas.openxmlformats.org/drawingml/2006/main">
              <a:ext uri="{FF2B5EF4-FFF2-40B4-BE49-F238E27FC236}">
                <a16:creationId xmlns:a16="http://schemas.microsoft.com/office/drawing/2014/main" id="{60A8D651-95C4-48AB-AD73-075B3E2A4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8196" y="1806797"/>
            <a:ext cx="2949321" cy="256679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WHY IT IS TIMELY</a:t>
            </a:r>
          </a:p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Reported acquisition talks signal that routing and inference economics may be strategically valuable.</a:t>
            </a:r>
          </a:p>
        </p:txBody>
      </p:sp>
      <p:sp>
        <p:nvSpPr>
          <p:cNvPr id="11" name="Rounded-Rectangle-23-12">
            <a:extLst xmlns:a="http://schemas.openxmlformats.org/drawingml/2006/main">
              <a:ext uri="{FF2B5EF4-FFF2-40B4-BE49-F238E27FC236}">
                <a16:creationId xmlns:a16="http://schemas.microsoft.com/office/drawing/2014/main" id="{3A899EC8-862C-4FD1-ACCC-DC10BD667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7506" y="1401794"/>
            <a:ext cx="3568732" cy="3619500"/>
          </a:xfrm>
          <a:prstGeom xmlns:a="http://schemas.openxmlformats.org/drawingml/2006/main" prst="roundRect">
            <a:avLst>
              <a:gd name="adj" fmla="val 2135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12" name="Content-Placeholder-8-13">
            <a:extLst xmlns:a="http://schemas.openxmlformats.org/drawingml/2006/main">
              <a:ext uri="{FF2B5EF4-FFF2-40B4-BE49-F238E27FC236}">
                <a16:creationId xmlns:a16="http://schemas.microsoft.com/office/drawing/2014/main" id="{5864E9F9-8FAC-42F8-816D-44470BBCE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7259" y="1806797"/>
            <a:ext cx="2949321" cy="256679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COURSE POSITION</a:t>
            </a:r>
          </a:p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We do not use or recommend it. The class remains provider-neutral.</a:t>
            </a:r>
          </a:p>
        </p:txBody>
      </p:sp>
      <p:sp>
        <p:nvSpPr>
          <p:cNvPr id="13" name="Text-Placeholder-16-14">
            <a:extLst xmlns:a="http://schemas.openxmlformats.org/drawingml/2006/main">
              <a:ext uri="{FF2B5EF4-FFF2-40B4-BE49-F238E27FC236}">
                <a16:creationId xmlns:a16="http://schemas.microsoft.com/office/drawing/2014/main" id="{D2A637F3-04C4-4B04-A311-F49A93314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770" y="5602414"/>
            <a:ext cx="2595944" cy="39195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MARKET SIGNAL</a:t>
            </a:r>
          </a:p>
        </p:txBody>
      </p:sp>
      <p:sp>
        <p:nvSpPr>
          <p:cNvPr id="14" name="Text-Placeholder-16-15">
            <a:extLst xmlns:a="http://schemas.openxmlformats.org/drawingml/2006/main">
              <a:ext uri="{FF2B5EF4-FFF2-40B4-BE49-F238E27FC236}">
                <a16:creationId xmlns:a16="http://schemas.microsoft.com/office/drawing/2014/main" id="{DCA5A05E-EC17-4029-8EAC-711D7066C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906" y="5602414"/>
            <a:ext cx="2595944" cy="39195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EXAMPLE</a:t>
            </a:r>
          </a:p>
        </p:txBody>
      </p:sp>
      <p:sp>
        <p:nvSpPr>
          <p:cNvPr id="15" name="Text-Placeholder-16-16">
            <a:extLst xmlns:a="http://schemas.openxmlformats.org/drawingml/2006/main">
              <a:ext uri="{FF2B5EF4-FFF2-40B4-BE49-F238E27FC236}">
                <a16:creationId xmlns:a16="http://schemas.microsoft.com/office/drawing/2014/main" id="{F8D25506-7A5E-4CC6-93D7-76809C773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5409" y="5602414"/>
            <a:ext cx="2595944" cy="39195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BOUNDARY</a:t>
            </a:r>
          </a:p>
        </p:txBody>
      </p:sp>
    </p:spTree>
    <p:extLst>
      <p:ext uri="{BB962C8B-B14F-4D97-AF65-F5344CB8AC3E}">
        <p14:creationId xmlns:p14="http://schemas.microsoft.com/office/powerpoint/2010/main" val="104567247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-3-1">
            <a:extLst xmlns:a="http://schemas.openxmlformats.org/drawingml/2006/main">
              <a:ext uri="{FF2B5EF4-FFF2-40B4-BE49-F238E27FC236}">
                <a16:creationId xmlns:a16="http://schemas.microsoft.com/office/drawing/2014/main" id="{CA1DE58A-6F59-4B46-9B45-CF790C37D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2579942"/>
            <a:ext cx="9448800" cy="36242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l">
              <a:defRPr sz="6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The lab remains the proven model tournament.</a:t>
            </a:r>
          </a:p>
        </p:txBody>
      </p:sp>
      <p:sp>
        <p:nvSpPr>
          <p:cNvPr id="2" name="Subtitle-4-2">
            <a:extLst xmlns:a="http://schemas.openxmlformats.org/drawingml/2006/main">
              <a:ext uri="{FF2B5EF4-FFF2-40B4-BE49-F238E27FC236}">
                <a16:creationId xmlns:a16="http://schemas.microsoft.com/office/drawing/2014/main" id="{0F91BBFD-9A65-42FC-BA54-C63E95B61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92240"/>
            <a:ext cx="6157817" cy="64912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NOW BUILD</a:t>
            </a:r>
          </a:p>
        </p:txBody>
      </p:sp>
      <p:sp>
        <p:nvSpPr>
          <p:cNvPr id="3" name="Subtitle-4-3">
            <a:extLst xmlns:a="http://schemas.openxmlformats.org/drawingml/2006/main">
              <a:ext uri="{FF2B5EF4-FFF2-40B4-BE49-F238E27FC236}">
                <a16:creationId xmlns:a16="http://schemas.microsoft.com/office/drawing/2014/main" id="{E9CEBE3D-4E3C-4AE2-AE2C-1D7146445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92240"/>
            <a:ext cx="3911632" cy="64912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NO EXTRA SCOPE</a:t>
            </a:r>
          </a:p>
        </p:txBody>
      </p:sp>
    </p:spTree>
    <p:extLst>
      <p:ext uri="{BB962C8B-B14F-4D97-AF65-F5344CB8AC3E}">
        <p14:creationId xmlns:p14="http://schemas.microsoft.com/office/powerpoint/2010/main" val="840844143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Slide-Number-Placeholder-1-2">
            <a:extLst xmlns:a="http://schemas.openxmlformats.org/drawingml/2006/main">
              <a:ext uri="{FF2B5EF4-FFF2-40B4-BE49-F238E27FC236}">
                <a16:creationId xmlns:a16="http://schemas.microsoft.com/office/drawing/2014/main" id="{0F44E546-2602-45B6-B811-0F40B18F9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219" y="6278594"/>
            <a:ext cx="519113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11</a:t>
            </a:r>
          </a:p>
        </p:txBody>
      </p:sp>
      <p:sp>
        <p:nvSpPr>
          <p:cNvPr id="2" name="Title-2-3">
            <a:extLst xmlns:a="http://schemas.openxmlformats.org/drawingml/2006/main">
              <a:ext uri="{FF2B5EF4-FFF2-40B4-BE49-F238E27FC236}">
                <a16:creationId xmlns:a16="http://schemas.microsoft.com/office/drawing/2014/main" id="{3C588456-6B6D-40BD-BEC0-251CE0D6B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The existing lab is already extensive</a:t>
            </a:r>
          </a:p>
        </p:txBody>
      </p:sp>
      <p:sp>
        <p:nvSpPr>
          <p:cNvPr id="3" name="Content-Placeholder-9-4">
            <a:extLst xmlns:a="http://schemas.openxmlformats.org/drawingml/2006/main">
              <a:ext uri="{FF2B5EF4-FFF2-40B4-BE49-F238E27FC236}">
                <a16:creationId xmlns:a16="http://schemas.microsoft.com/office/drawing/2014/main" id="{D0B41811-1D91-4174-A6A9-E4F87C23D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2031968"/>
            <a:ext cx="5537168" cy="16430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CONFIGURE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Choose contestants, judges, prompts, repetitions, timeouts, weights, and finalists.</a:t>
            </a:r>
          </a:p>
        </p:txBody>
      </p:sp>
      <p:sp>
        <p:nvSpPr>
          <p:cNvPr id="4" name="Content-Placeholder-10-5">
            <a:extLst xmlns:a="http://schemas.openxmlformats.org/drawingml/2006/main">
              <a:ext uri="{FF2B5EF4-FFF2-40B4-BE49-F238E27FC236}">
                <a16:creationId xmlns:a16="http://schemas.microsoft.com/office/drawing/2014/main" id="{936E9537-5187-4FB6-ACE2-E1E84E88F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6592" y="2031968"/>
            <a:ext cx="5537168" cy="16430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RUN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Pause, resume, subset, and preserve partial results.</a:t>
            </a:r>
          </a:p>
        </p:txBody>
      </p:sp>
      <p:sp>
        <p:nvSpPr>
          <p:cNvPr id="5" name="Content-Placeholder-9-6">
            <a:extLst xmlns:a="http://schemas.openxmlformats.org/drawingml/2006/main">
              <a:ext uri="{FF2B5EF4-FFF2-40B4-BE49-F238E27FC236}">
                <a16:creationId xmlns:a16="http://schemas.microsoft.com/office/drawing/2014/main" id="{3309AC5B-7C1E-493A-8B54-A05947915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4016978"/>
            <a:ext cx="5537168" cy="164315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COMPARE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Use quality, speed, consistency, and side-by-side ranking.</a:t>
            </a:r>
          </a:p>
        </p:txBody>
      </p:sp>
      <p:sp>
        <p:nvSpPr>
          <p:cNvPr id="6" name="Content-Placeholder-10-7">
            <a:extLst xmlns:a="http://schemas.openxmlformats.org/drawingml/2006/main">
              <a:ext uri="{FF2B5EF4-FFF2-40B4-BE49-F238E27FC236}">
                <a16:creationId xmlns:a16="http://schemas.microsoft.com/office/drawing/2014/main" id="{B693C4D8-F8D0-48BA-A561-F17F7729B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6592" y="4016978"/>
            <a:ext cx="5537168" cy="164315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INSPECT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Open raw responses and every judge’s commentary.</a:t>
            </a:r>
          </a:p>
        </p:txBody>
      </p:sp>
    </p:spTree>
    <p:extLst>
      <p:ext uri="{BB962C8B-B14F-4D97-AF65-F5344CB8AC3E}">
        <p14:creationId xmlns:p14="http://schemas.microsoft.com/office/powerpoint/2010/main" val="202642688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Google-Shape-532-p58-2">
            <a:extLst xmlns:a="http://schemas.openxmlformats.org/drawingml/2006/main">
              <a:ext uri="{FF2B5EF4-FFF2-40B4-BE49-F238E27FC236}">
                <a16:creationId xmlns:a16="http://schemas.microsoft.com/office/drawing/2014/main" id="{BD38070A-5F8A-4029-8A5B-F1B3C3C01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12</a:t>
            </a:r>
          </a:p>
        </p:txBody>
      </p:sp>
      <p:sp>
        <p:nvSpPr>
          <p:cNvPr id="2" name="Google-Shape-533-p58-3">
            <a:extLst xmlns:a="http://schemas.openxmlformats.org/drawingml/2006/main">
              <a:ext uri="{FF2B5EF4-FFF2-40B4-BE49-F238E27FC236}">
                <a16:creationId xmlns:a16="http://schemas.microsoft.com/office/drawing/2014/main" id="{BE69B323-6053-4D3E-9BEE-8AE8E78AB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Twenty-one prompts cover four kinds of work</a:t>
            </a:r>
          </a:p>
        </p:txBody>
      </p:sp>
      <p:sp>
        <p:nvSpPr>
          <p:cNvPr id="3" name="Google-Shape-534-p58-4">
            <a:extLst xmlns:a="http://schemas.openxmlformats.org/drawingml/2006/main">
              <a:ext uri="{FF2B5EF4-FFF2-40B4-BE49-F238E27FC236}">
                <a16:creationId xmlns:a16="http://schemas.microsoft.com/office/drawing/2014/main" id="{074C325D-FB67-459E-974D-4FB645653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365468"/>
            <a:ext cx="3568732" cy="2628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QUICK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Five short tasks test speed and basic competence.</a:t>
            </a:r>
          </a:p>
        </p:txBody>
      </p:sp>
      <p:sp>
        <p:nvSpPr>
          <p:cNvPr id="4" name="Content-Placeholder-1-5">
            <a:extLst xmlns:a="http://schemas.openxmlformats.org/drawingml/2006/main">
              <a:ext uri="{FF2B5EF4-FFF2-40B4-BE49-F238E27FC236}">
                <a16:creationId xmlns:a16="http://schemas.microsoft.com/office/drawing/2014/main" id="{5AD4C865-4B1C-404F-B940-AFCFF546E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365468"/>
            <a:ext cx="3568732" cy="2628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ANALYST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Ten OrchestratorAI prompts test evidence, challenge, synthesis, and decomposition.</a:t>
            </a:r>
          </a:p>
        </p:txBody>
      </p:sp>
      <p:sp>
        <p:nvSpPr>
          <p:cNvPr id="5" name="Content-Placeholder-2-6">
            <a:extLst xmlns:a="http://schemas.openxmlformats.org/drawingml/2006/main">
              <a:ext uri="{FF2B5EF4-FFF2-40B4-BE49-F238E27FC236}">
                <a16:creationId xmlns:a16="http://schemas.microsoft.com/office/drawing/2014/main" id="{7B32CA4F-AADC-4FFC-A924-C3BF24FD1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1682" y="3365468"/>
            <a:ext cx="3568732" cy="2628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TOOLS + VISION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Six tasks test function calls, selection, charts, OCR, and UI critique.</a:t>
            </a:r>
          </a:p>
        </p:txBody>
      </p:sp>
    </p:spTree>
    <p:extLst>
      <p:ext uri="{BB962C8B-B14F-4D97-AF65-F5344CB8AC3E}">
        <p14:creationId xmlns:p14="http://schemas.microsoft.com/office/powerpoint/2010/main" val="1891404444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Slide-Number-Placeholder-3-2">
            <a:extLst xmlns:a="http://schemas.openxmlformats.org/drawingml/2006/main">
              <a:ext uri="{FF2B5EF4-FFF2-40B4-BE49-F238E27FC236}">
                <a16:creationId xmlns:a16="http://schemas.microsoft.com/office/drawing/2014/main" id="{2C70D75C-811D-4616-BB14-F491735DE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13</a:t>
            </a:r>
          </a:p>
        </p:txBody>
      </p:sp>
      <p:sp>
        <p:nvSpPr>
          <p:cNvPr id="2" name="Title-10-3">
            <a:extLst xmlns:a="http://schemas.openxmlformats.org/drawingml/2006/main">
              <a:ext uri="{FF2B5EF4-FFF2-40B4-BE49-F238E27FC236}">
                <a16:creationId xmlns:a16="http://schemas.microsoft.com/office/drawing/2014/main" id="{56F9377A-63AE-4530-95EF-C5F0EF581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Repeated runs reveal more than a single score</a:t>
            </a:r>
          </a:p>
        </p:txBody>
      </p:sp>
      <p:cxnSp>
        <p:nvCxnSpPr>
          <p:cNvPr id="18" name="Google-Shape-2259-p159-4"/>
          <p:cNvCxnSpPr/>
          <p:nvPr/>
        </p:nvCxnSpPr>
        <p:spPr>
          <a:xfrm xmlns:a="http://schemas.openxmlformats.org/drawingml/2006/main">
            <a:off x="337757" y="5341620"/>
            <a:ext cx="12245435" cy="286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000000"/>
            </a:solidFill>
            <a:prstDash val="solid"/>
          </a:ln>
        </p:spPr>
      </p:cxnSp>
      <p:sp>
        <p:nvSpPr>
          <p:cNvPr id="4" name="Google-Shape-2260-p159-5">
            <a:extLst xmlns:a="http://schemas.openxmlformats.org/drawingml/2006/main">
              <a:ext uri="{FF2B5EF4-FFF2-40B4-BE49-F238E27FC236}">
                <a16:creationId xmlns:a16="http://schemas.microsoft.com/office/drawing/2014/main" id="{47521926-C320-4E59-B09F-EF311C9E7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757" y="5288089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5" name="Google-Shape-2261-p159-6">
            <a:extLst xmlns:a="http://schemas.openxmlformats.org/drawingml/2006/main">
              <a:ext uri="{FF2B5EF4-FFF2-40B4-BE49-F238E27FC236}">
                <a16:creationId xmlns:a16="http://schemas.microsoft.com/office/drawing/2014/main" id="{AFCE37E7-4154-4017-AC07-24010D4EB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770" y="5288089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6" name="Google-Shape-2262-p159-7">
            <a:extLst xmlns:a="http://schemas.openxmlformats.org/drawingml/2006/main">
              <a:ext uri="{FF2B5EF4-FFF2-40B4-BE49-F238E27FC236}">
                <a16:creationId xmlns:a16="http://schemas.microsoft.com/office/drawing/2014/main" id="{54D5F445-3D67-4349-B480-CB669A65E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6070" y="5288089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7" name="Rounded-Rectangle-19-8">
            <a:extLst xmlns:a="http://schemas.openxmlformats.org/drawingml/2006/main">
              <a:ext uri="{FF2B5EF4-FFF2-40B4-BE49-F238E27FC236}">
                <a16:creationId xmlns:a16="http://schemas.microsoft.com/office/drawing/2014/main" id="{92AD1E41-3D0C-4439-932D-C711FD40F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401794"/>
            <a:ext cx="3568732" cy="3619500"/>
          </a:xfrm>
          <a:prstGeom xmlns:a="http://schemas.openxmlformats.org/drawingml/2006/main" prst="roundRect">
            <a:avLst>
              <a:gd name="adj" fmla="val 2135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8" name="Content-Placeholder-8-9">
            <a:extLst xmlns:a="http://schemas.openxmlformats.org/drawingml/2006/main">
              <a:ext uri="{FF2B5EF4-FFF2-40B4-BE49-F238E27FC236}">
                <a16:creationId xmlns:a16="http://schemas.microsoft.com/office/drawing/2014/main" id="{E6CA8DEE-4DE2-4D47-B226-5B64B5B0B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421" y="1806797"/>
            <a:ext cx="2949321" cy="256679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BEST OF N</a:t>
            </a:r>
          </a:p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Shows the model’s observed ceiling on this task.</a:t>
            </a:r>
          </a:p>
        </p:txBody>
      </p:sp>
      <p:sp>
        <p:nvSpPr>
          <p:cNvPr id="9" name="Rounded-Rectangle-21-10">
            <a:extLst xmlns:a="http://schemas.openxmlformats.org/drawingml/2006/main">
              <a:ext uri="{FF2B5EF4-FFF2-40B4-BE49-F238E27FC236}">
                <a16:creationId xmlns:a16="http://schemas.microsoft.com/office/drawing/2014/main" id="{349830D6-162C-49C6-8FB1-3842B9820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8443" y="1401794"/>
            <a:ext cx="3568732" cy="3619500"/>
          </a:xfrm>
          <a:prstGeom xmlns:a="http://schemas.openxmlformats.org/drawingml/2006/main" prst="roundRect">
            <a:avLst>
              <a:gd name="adj" fmla="val 2135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10" name="Content-Placeholder-8-11">
            <a:extLst xmlns:a="http://schemas.openxmlformats.org/drawingml/2006/main">
              <a:ext uri="{FF2B5EF4-FFF2-40B4-BE49-F238E27FC236}">
                <a16:creationId xmlns:a16="http://schemas.microsoft.com/office/drawing/2014/main" id="{C931AC3B-447C-4B4E-81BB-3F1D6CB7C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8196" y="1806797"/>
            <a:ext cx="2949321" cy="256679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AVERAGE OF N</a:t>
            </a:r>
          </a:p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Shows typical performance across the selected runs.</a:t>
            </a:r>
          </a:p>
        </p:txBody>
      </p:sp>
      <p:sp>
        <p:nvSpPr>
          <p:cNvPr id="11" name="Rounded-Rectangle-23-12">
            <a:extLst xmlns:a="http://schemas.openxmlformats.org/drawingml/2006/main">
              <a:ext uri="{FF2B5EF4-FFF2-40B4-BE49-F238E27FC236}">
                <a16:creationId xmlns:a16="http://schemas.microsoft.com/office/drawing/2014/main" id="{0A34867E-9B26-4316-A433-7E547ED4D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7506" y="1401794"/>
            <a:ext cx="3568732" cy="3619500"/>
          </a:xfrm>
          <a:prstGeom xmlns:a="http://schemas.openxmlformats.org/drawingml/2006/main" prst="roundRect">
            <a:avLst>
              <a:gd name="adj" fmla="val 2135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12" name="Content-Placeholder-8-13">
            <a:extLst xmlns:a="http://schemas.openxmlformats.org/drawingml/2006/main">
              <a:ext uri="{FF2B5EF4-FFF2-40B4-BE49-F238E27FC236}">
                <a16:creationId xmlns:a16="http://schemas.microsoft.com/office/drawing/2014/main" id="{BB279C55-F365-4922-A512-6662ED6CC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7259" y="1806797"/>
            <a:ext cx="2949321" cy="256679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CONSISTENCY</a:t>
            </a:r>
          </a:p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Shows whether a seemingly strong result is dependable.</a:t>
            </a:r>
          </a:p>
        </p:txBody>
      </p:sp>
      <p:sp>
        <p:nvSpPr>
          <p:cNvPr id="13" name="Text-Placeholder-16-14">
            <a:extLst xmlns:a="http://schemas.openxmlformats.org/drawingml/2006/main">
              <a:ext uri="{FF2B5EF4-FFF2-40B4-BE49-F238E27FC236}">
                <a16:creationId xmlns:a16="http://schemas.microsoft.com/office/drawing/2014/main" id="{2C02C111-9FFD-4FED-A0B7-CAFC5E0FB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770" y="5602414"/>
            <a:ext cx="2595944" cy="39195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EXPECTATION</a:t>
            </a:r>
          </a:p>
        </p:txBody>
      </p:sp>
      <p:sp>
        <p:nvSpPr>
          <p:cNvPr id="14" name="Text-Placeholder-16-15">
            <a:extLst xmlns:a="http://schemas.openxmlformats.org/drawingml/2006/main">
              <a:ext uri="{FF2B5EF4-FFF2-40B4-BE49-F238E27FC236}">
                <a16:creationId xmlns:a16="http://schemas.microsoft.com/office/drawing/2014/main" id="{F3C05DD2-D76A-4C75-8745-B90E96ABF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906" y="5602414"/>
            <a:ext cx="2595944" cy="39195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CEILING</a:t>
            </a:r>
          </a:p>
        </p:txBody>
      </p:sp>
      <p:sp>
        <p:nvSpPr>
          <p:cNvPr id="15" name="Text-Placeholder-16-16">
            <a:extLst xmlns:a="http://schemas.openxmlformats.org/drawingml/2006/main">
              <a:ext uri="{FF2B5EF4-FFF2-40B4-BE49-F238E27FC236}">
                <a16:creationId xmlns:a16="http://schemas.microsoft.com/office/drawing/2014/main" id="{1CEC12BB-16AE-49C6-853F-2E0CE82CC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5409" y="5602414"/>
            <a:ext cx="2595944" cy="39195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RELIABILITY</a:t>
            </a:r>
          </a:p>
        </p:txBody>
      </p:sp>
    </p:spTree>
    <p:extLst>
      <p:ext uri="{BB962C8B-B14F-4D97-AF65-F5344CB8AC3E}">
        <p14:creationId xmlns:p14="http://schemas.microsoft.com/office/powerpoint/2010/main" val="1488921671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Slide-Number-Placeholder-1-2">
            <a:extLst xmlns:a="http://schemas.openxmlformats.org/drawingml/2006/main">
              <a:ext uri="{FF2B5EF4-FFF2-40B4-BE49-F238E27FC236}">
                <a16:creationId xmlns:a16="http://schemas.microsoft.com/office/drawing/2014/main" id="{86C204EC-F749-423A-9E4D-20ECCE219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219" y="6278594"/>
            <a:ext cx="519113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14</a:t>
            </a:r>
          </a:p>
        </p:txBody>
      </p:sp>
      <p:sp>
        <p:nvSpPr>
          <p:cNvPr id="2" name="Title-2-3">
            <a:extLst xmlns:a="http://schemas.openxmlformats.org/drawingml/2006/main">
              <a:ext uri="{FF2B5EF4-FFF2-40B4-BE49-F238E27FC236}">
                <a16:creationId xmlns:a16="http://schemas.microsoft.com/office/drawing/2014/main" id="{B5A30FE4-B223-43C5-96E6-280ED94B8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Round 1 asks four different questions</a:t>
            </a:r>
          </a:p>
        </p:txBody>
      </p:sp>
      <p:sp>
        <p:nvSpPr>
          <p:cNvPr id="3" name="Content-Placeholder-9-4">
            <a:extLst xmlns:a="http://schemas.openxmlformats.org/drawingml/2006/main">
              <a:ext uri="{FF2B5EF4-FFF2-40B4-BE49-F238E27FC236}">
                <a16:creationId xmlns:a16="http://schemas.microsoft.com/office/drawing/2014/main" id="{B61BEBBA-7836-4383-89E7-F3C920881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2031968"/>
            <a:ext cx="5537168" cy="16430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ACCURACY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Are conclusions correct and supported by the supplied data?</a:t>
            </a:r>
          </a:p>
        </p:txBody>
      </p:sp>
      <p:sp>
        <p:nvSpPr>
          <p:cNvPr id="4" name="Content-Placeholder-10-5">
            <a:extLst xmlns:a="http://schemas.openxmlformats.org/drawingml/2006/main">
              <a:ext uri="{FF2B5EF4-FFF2-40B4-BE49-F238E27FC236}">
                <a16:creationId xmlns:a16="http://schemas.microsoft.com/office/drawing/2014/main" id="{56969E07-E132-4503-A64D-16204B581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6592" y="2031968"/>
            <a:ext cx="5537168" cy="16430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REASONING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Does the response weigh evidence and alternatives?</a:t>
            </a:r>
          </a:p>
        </p:txBody>
      </p:sp>
      <p:sp>
        <p:nvSpPr>
          <p:cNvPr id="5" name="Content-Placeholder-9-6">
            <a:extLst xmlns:a="http://schemas.openxmlformats.org/drawingml/2006/main">
              <a:ext uri="{FF2B5EF4-FFF2-40B4-BE49-F238E27FC236}">
                <a16:creationId xmlns:a16="http://schemas.microsoft.com/office/drawing/2014/main" id="{AB775552-6B8D-445C-A01A-9A242AA73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4016978"/>
            <a:ext cx="5537168" cy="164315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STRUCTURE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Did it follow the required format and produce valid output?</a:t>
            </a:r>
          </a:p>
        </p:txBody>
      </p:sp>
      <p:sp>
        <p:nvSpPr>
          <p:cNvPr id="6" name="Content-Placeholder-10-7">
            <a:extLst xmlns:a="http://schemas.openxmlformats.org/drawingml/2006/main">
              <a:ext uri="{FF2B5EF4-FFF2-40B4-BE49-F238E27FC236}">
                <a16:creationId xmlns:a16="http://schemas.microsoft.com/office/drawing/2014/main" id="{D5685F91-95AF-4514-9B2B-6853DA578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6592" y="4016978"/>
            <a:ext cx="5537168" cy="164315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INSIGHT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Did it surface something useful beyond restating the prompt?</a:t>
            </a:r>
          </a:p>
        </p:txBody>
      </p:sp>
    </p:spTree>
    <p:extLst>
      <p:ext uri="{BB962C8B-B14F-4D97-AF65-F5344CB8AC3E}">
        <p14:creationId xmlns:p14="http://schemas.microsoft.com/office/powerpoint/2010/main" val="1625843857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Google-Shape-532-p58-2">
            <a:extLst xmlns:a="http://schemas.openxmlformats.org/drawingml/2006/main">
              <a:ext uri="{FF2B5EF4-FFF2-40B4-BE49-F238E27FC236}">
                <a16:creationId xmlns:a16="http://schemas.microsoft.com/office/drawing/2014/main" id="{0776536F-9635-40D3-B031-E3ED208F7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15</a:t>
            </a:r>
          </a:p>
        </p:txBody>
      </p:sp>
      <p:sp>
        <p:nvSpPr>
          <p:cNvPr id="2" name="Google-Shape-533-p58-3">
            <a:extLst xmlns:a="http://schemas.openxmlformats.org/drawingml/2006/main">
              <a:ext uri="{FF2B5EF4-FFF2-40B4-BE49-F238E27FC236}">
                <a16:creationId xmlns:a16="http://schemas.microsoft.com/office/drawing/2014/main" id="{C1C08AB8-AF44-4D6B-AB4A-87BE0572D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Multiple judges help—but agreement is not truth</a:t>
            </a:r>
          </a:p>
        </p:txBody>
      </p:sp>
      <p:sp>
        <p:nvSpPr>
          <p:cNvPr id="3" name="Google-Shape-534-p58-4">
            <a:extLst xmlns:a="http://schemas.openxmlformats.org/drawingml/2006/main">
              <a:ext uri="{FF2B5EF4-FFF2-40B4-BE49-F238E27FC236}">
                <a16:creationId xmlns:a16="http://schemas.microsoft.com/office/drawing/2014/main" id="{CC653B79-96CE-4492-A3E8-67D4E0610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365468"/>
            <a:ext cx="3568732" cy="2628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DIVERSITY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Different judges can reduce dependence on one model’s preferences.</a:t>
            </a:r>
          </a:p>
        </p:txBody>
      </p:sp>
      <p:sp>
        <p:nvSpPr>
          <p:cNvPr id="4" name="Content-Placeholder-1-5">
            <a:extLst xmlns:a="http://schemas.openxmlformats.org/drawingml/2006/main">
              <a:ext uri="{FF2B5EF4-FFF2-40B4-BE49-F238E27FC236}">
                <a16:creationId xmlns:a16="http://schemas.microsoft.com/office/drawing/2014/main" id="{487726EE-B8DB-4C26-A5A0-173CA0151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365468"/>
            <a:ext cx="3568732" cy="2628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HUMANS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Read disagreements and raw answers before accepting the podium.</a:t>
            </a:r>
          </a:p>
        </p:txBody>
      </p:sp>
      <p:sp>
        <p:nvSpPr>
          <p:cNvPr id="5" name="Content-Placeholder-2-6">
            <a:extLst xmlns:a="http://schemas.openxmlformats.org/drawingml/2006/main">
              <a:ext uri="{FF2B5EF4-FFF2-40B4-BE49-F238E27FC236}">
                <a16:creationId xmlns:a16="http://schemas.microsoft.com/office/drawing/2014/main" id="{40A4AD60-7601-4E3D-AABA-DC68F159C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1682" y="3365468"/>
            <a:ext cx="3568732" cy="2628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BIAS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Position, verbosity, style, family, and self-preference can still distort scores.</a:t>
            </a:r>
          </a:p>
        </p:txBody>
      </p:sp>
    </p:spTree>
    <p:extLst>
      <p:ext uri="{BB962C8B-B14F-4D97-AF65-F5344CB8AC3E}">
        <p14:creationId xmlns:p14="http://schemas.microsoft.com/office/powerpoint/2010/main" val="1850986667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lide-Number-Placeholder-3-2">
            <a:extLst xmlns:a="http://schemas.openxmlformats.org/drawingml/2006/main">
              <a:ext uri="{FF2B5EF4-FFF2-40B4-BE49-F238E27FC236}">
                <a16:creationId xmlns:a16="http://schemas.microsoft.com/office/drawing/2014/main" id="{676D7CA5-1107-4EE6-AD61-EA445E3DA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16</a:t>
            </a:r>
          </a:p>
        </p:txBody>
      </p:sp>
      <p:sp>
        <p:nvSpPr>
          <p:cNvPr id="2" name="Title-10-3">
            <a:extLst xmlns:a="http://schemas.openxmlformats.org/drawingml/2006/main">
              <a:ext uri="{FF2B5EF4-FFF2-40B4-BE49-F238E27FC236}">
                <a16:creationId xmlns:a16="http://schemas.microsoft.com/office/drawing/2014/main" id="{A65DFE21-A204-44E9-B355-180AD27FB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The class run has three visible movements</a:t>
            </a:r>
          </a:p>
        </p:txBody>
      </p:sp>
      <p:cxnSp>
        <p:nvCxnSpPr>
          <p:cNvPr id="15" name="Google-Shape-2259-p159-4"/>
          <p:cNvCxnSpPr/>
          <p:nvPr/>
        </p:nvCxnSpPr>
        <p:spPr>
          <a:xfrm xmlns:a="http://schemas.openxmlformats.org/drawingml/2006/main">
            <a:off x="337757" y="3373755"/>
            <a:ext cx="12245435" cy="286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000000"/>
            </a:solidFill>
            <a:prstDash val="solid"/>
          </a:ln>
        </p:spPr>
      </p:cxnSp>
      <p:sp>
        <p:nvSpPr>
          <p:cNvPr id="4" name="Google-Shape-2260-p159-5">
            <a:extLst xmlns:a="http://schemas.openxmlformats.org/drawingml/2006/main">
              <a:ext uri="{FF2B5EF4-FFF2-40B4-BE49-F238E27FC236}">
                <a16:creationId xmlns:a16="http://schemas.microsoft.com/office/drawing/2014/main" id="{75B66DDF-2873-4019-A27D-BB72F71E2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757" y="3320225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5" name="Google-Shape-2261-p159-6">
            <a:extLst xmlns:a="http://schemas.openxmlformats.org/drawingml/2006/main">
              <a:ext uri="{FF2B5EF4-FFF2-40B4-BE49-F238E27FC236}">
                <a16:creationId xmlns:a16="http://schemas.microsoft.com/office/drawing/2014/main" id="{E2A11A32-9769-4052-9816-B9A582511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770" y="3320225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6" name="Google-Shape-2262-p159-7">
            <a:extLst xmlns:a="http://schemas.openxmlformats.org/drawingml/2006/main">
              <a:ext uri="{FF2B5EF4-FFF2-40B4-BE49-F238E27FC236}">
                <a16:creationId xmlns:a16="http://schemas.microsoft.com/office/drawing/2014/main" id="{31FB69A7-49C6-4FB7-9452-1DD3C21B7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6070" y="3320225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7" name="Content-Placeholder-15-8">
            <a:extLst xmlns:a="http://schemas.openxmlformats.org/drawingml/2006/main">
              <a:ext uri="{FF2B5EF4-FFF2-40B4-BE49-F238E27FC236}">
                <a16:creationId xmlns:a16="http://schemas.microsoft.com/office/drawing/2014/main" id="{519BE7D9-50E7-48CB-B06C-4DE6B599D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2843308"/>
            <a:ext cx="1612868" cy="2624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SET UP</a:t>
            </a:r>
          </a:p>
        </p:txBody>
      </p:sp>
      <p:sp>
        <p:nvSpPr>
          <p:cNvPr id="8" name="Content-Placeholder-15-9">
            <a:extLst xmlns:a="http://schemas.openxmlformats.org/drawingml/2006/main">
              <a:ext uri="{FF2B5EF4-FFF2-40B4-BE49-F238E27FC236}">
                <a16:creationId xmlns:a16="http://schemas.microsoft.com/office/drawing/2014/main" id="{6DE960C6-EF77-406F-813B-03D364924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4156" y="2843308"/>
            <a:ext cx="1612868" cy="2624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RUN</a:t>
            </a:r>
          </a:p>
        </p:txBody>
      </p:sp>
      <p:sp>
        <p:nvSpPr>
          <p:cNvPr id="9" name="Content-Placeholder-15-10">
            <a:extLst xmlns:a="http://schemas.openxmlformats.org/drawingml/2006/main">
              <a:ext uri="{FF2B5EF4-FFF2-40B4-BE49-F238E27FC236}">
                <a16:creationId xmlns:a16="http://schemas.microsoft.com/office/drawing/2014/main" id="{150FEC4D-E452-4A0E-8D0D-455EF6335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3218" y="2843308"/>
            <a:ext cx="1612868" cy="2624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INTERPRET</a:t>
            </a:r>
          </a:p>
        </p:txBody>
      </p:sp>
      <p:sp>
        <p:nvSpPr>
          <p:cNvPr id="10" name="Text-Placeholder-16-11">
            <a:extLst xmlns:a="http://schemas.openxmlformats.org/drawingml/2006/main">
              <a:ext uri="{FF2B5EF4-FFF2-40B4-BE49-F238E27FC236}">
                <a16:creationId xmlns:a16="http://schemas.microsoft.com/office/drawing/2014/main" id="{5EC8FD88-4FB5-4DF8-89BF-C2AE12DAD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7111" y="3822668"/>
            <a:ext cx="3156109" cy="15862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Watch evidence arrive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Use pause, resume, subsets, and saved state while the dashboard fills.</a:t>
            </a:r>
          </a:p>
        </p:txBody>
      </p:sp>
      <p:sp>
        <p:nvSpPr>
          <p:cNvPr id="11" name="Text-Placeholder-16-12">
            <a:extLst xmlns:a="http://schemas.openxmlformats.org/drawingml/2006/main">
              <a:ext uri="{FF2B5EF4-FFF2-40B4-BE49-F238E27FC236}">
                <a16:creationId xmlns:a16="http://schemas.microsoft.com/office/drawing/2014/main" id="{F3138517-5E8F-4282-9424-F45411D32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859" y="3822668"/>
            <a:ext cx="3156109" cy="15862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Configure the field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Confirm Ollama, select contestants and judges, choose prompts, and set repetitions.</a:t>
            </a:r>
          </a:p>
        </p:txBody>
      </p:sp>
      <p:sp>
        <p:nvSpPr>
          <p:cNvPr id="12" name="Text-Placeholder-16-13">
            <a:extLst xmlns:a="http://schemas.openxmlformats.org/drawingml/2006/main">
              <a:ext uri="{FF2B5EF4-FFF2-40B4-BE49-F238E27FC236}">
                <a16:creationId xmlns:a16="http://schemas.microsoft.com/office/drawing/2014/main" id="{BFC1B482-41BC-40D4-934E-53A9F3DCA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7879" y="3822668"/>
            <a:ext cx="3156109" cy="15862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Read before deciding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Inspect raw answers, disagreements, speed, consistency, and Round 2.</a:t>
            </a:r>
          </a:p>
        </p:txBody>
      </p:sp>
    </p:spTree>
    <p:extLst>
      <p:ext uri="{BB962C8B-B14F-4D97-AF65-F5344CB8AC3E}">
        <p14:creationId xmlns:p14="http://schemas.microsoft.com/office/powerpoint/2010/main" val="1099843997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Slide-Number-Placeholder-1-2">
            <a:extLst xmlns:a="http://schemas.openxmlformats.org/drawingml/2006/main">
              <a:ext uri="{FF2B5EF4-FFF2-40B4-BE49-F238E27FC236}">
                <a16:creationId xmlns:a16="http://schemas.microsoft.com/office/drawing/2014/main" id="{C4993DBD-1469-4A73-9F02-6B78AB68D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219" y="6278594"/>
            <a:ext cx="519113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17</a:t>
            </a:r>
          </a:p>
        </p:txBody>
      </p:sp>
      <p:sp>
        <p:nvSpPr>
          <p:cNvPr id="2" name="Title-2-3">
            <a:extLst xmlns:a="http://schemas.openxmlformats.org/drawingml/2006/main">
              <a:ext uri="{FF2B5EF4-FFF2-40B4-BE49-F238E27FC236}">
                <a16:creationId xmlns:a16="http://schemas.microsoft.com/office/drawing/2014/main" id="{88BDAE7D-B907-464C-BC48-13E5B2D22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Use the results to have the larger conversation</a:t>
            </a:r>
          </a:p>
        </p:txBody>
      </p:sp>
      <p:sp>
        <p:nvSpPr>
          <p:cNvPr id="3" name="Content-Placeholder-9-4">
            <a:extLst xmlns:a="http://schemas.openxmlformats.org/drawingml/2006/main">
              <a:ext uri="{FF2B5EF4-FFF2-40B4-BE49-F238E27FC236}">
                <a16:creationId xmlns:a16="http://schemas.microsoft.com/office/drawing/2014/main" id="{4B68E430-7319-4F09-B37B-1E46CDAB1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2031968"/>
            <a:ext cx="5537168" cy="16430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WORKHORSE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Which model is fast and dependable on routine work?</a:t>
            </a:r>
          </a:p>
        </p:txBody>
      </p:sp>
      <p:sp>
        <p:nvSpPr>
          <p:cNvPr id="4" name="Content-Placeholder-10-5">
            <a:extLst xmlns:a="http://schemas.openxmlformats.org/drawingml/2006/main">
              <a:ext uri="{FF2B5EF4-FFF2-40B4-BE49-F238E27FC236}">
                <a16:creationId xmlns:a16="http://schemas.microsoft.com/office/drawing/2014/main" id="{34C2A538-60F4-43A8-84B4-492B3A816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6592" y="2031968"/>
            <a:ext cx="5537168" cy="16430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91440" tIns="45720" rIns="91440" bIns="45720"/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DEEP THINKER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Which difficult tasks justify the strongest result?</a:t>
            </a:r>
          </a:p>
        </p:txBody>
      </p:sp>
      <p:sp>
        <p:nvSpPr>
          <p:cNvPr id="5" name="Content-Placeholder-9-6">
            <a:extLst xmlns:a="http://schemas.openxmlformats.org/drawingml/2006/main">
              <a:ext uri="{FF2B5EF4-FFF2-40B4-BE49-F238E27FC236}">
                <a16:creationId xmlns:a16="http://schemas.microsoft.com/office/drawing/2014/main" id="{D0E85960-5F37-4EAF-9527-5995A5310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4016978"/>
            <a:ext cx="5537168" cy="164315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LOCAL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Where is local already good enough—and where is it not?</a:t>
            </a:r>
          </a:p>
        </p:txBody>
      </p:sp>
      <p:sp>
        <p:nvSpPr>
          <p:cNvPr id="6" name="Content-Placeholder-10-7">
            <a:extLst xmlns:a="http://schemas.openxmlformats.org/drawingml/2006/main">
              <a:ext uri="{FF2B5EF4-FFF2-40B4-BE49-F238E27FC236}">
                <a16:creationId xmlns:a16="http://schemas.microsoft.com/office/drawing/2014/main" id="{47B8C6B8-6293-4DF1-90DC-B545D1556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6592" y="4016978"/>
            <a:ext cx="5537168" cy="164315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ROUTING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What information would a future router need to decide well?</a:t>
            </a:r>
          </a:p>
        </p:txBody>
      </p:sp>
    </p:spTree>
    <p:extLst>
      <p:ext uri="{BB962C8B-B14F-4D97-AF65-F5344CB8AC3E}">
        <p14:creationId xmlns:p14="http://schemas.microsoft.com/office/powerpoint/2010/main" val="425058924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lide-Number-Placeholder-3-2">
            <a:extLst xmlns:a="http://schemas.openxmlformats.org/drawingml/2006/main">
              <a:ext uri="{FF2B5EF4-FFF2-40B4-BE49-F238E27FC236}">
                <a16:creationId xmlns:a16="http://schemas.microsoft.com/office/drawing/2014/main" id="{097B6DBA-9601-4FA7-B4CF-2801A1008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18</a:t>
            </a:r>
          </a:p>
        </p:txBody>
      </p:sp>
      <p:sp>
        <p:nvSpPr>
          <p:cNvPr id="2" name="Title-10-3">
            <a:extLst xmlns:a="http://schemas.openxmlformats.org/drawingml/2006/main">
              <a:ext uri="{FF2B5EF4-FFF2-40B4-BE49-F238E27FC236}">
                <a16:creationId xmlns:a16="http://schemas.microsoft.com/office/drawing/2014/main" id="{45D28FC3-92CB-454E-BF46-71BCB01AF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Phase 06 closes the improvement loop</a:t>
            </a:r>
          </a:p>
        </p:txBody>
      </p:sp>
      <p:cxnSp>
        <p:nvCxnSpPr>
          <p:cNvPr id="15" name="Google-Shape-2259-p159-4"/>
          <p:cNvCxnSpPr/>
          <p:nvPr/>
        </p:nvCxnSpPr>
        <p:spPr>
          <a:xfrm xmlns:a="http://schemas.openxmlformats.org/drawingml/2006/main">
            <a:off x="337757" y="3373755"/>
            <a:ext cx="12245435" cy="286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000000"/>
            </a:solidFill>
            <a:prstDash val="solid"/>
          </a:ln>
        </p:spPr>
      </p:cxnSp>
      <p:sp>
        <p:nvSpPr>
          <p:cNvPr id="4" name="Google-Shape-2260-p159-5">
            <a:extLst xmlns:a="http://schemas.openxmlformats.org/drawingml/2006/main">
              <a:ext uri="{FF2B5EF4-FFF2-40B4-BE49-F238E27FC236}">
                <a16:creationId xmlns:a16="http://schemas.microsoft.com/office/drawing/2014/main" id="{28892803-04FC-4F2C-83C1-2793D39B3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757" y="3320225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5" name="Google-Shape-2261-p159-6">
            <a:extLst xmlns:a="http://schemas.openxmlformats.org/drawingml/2006/main">
              <a:ext uri="{FF2B5EF4-FFF2-40B4-BE49-F238E27FC236}">
                <a16:creationId xmlns:a16="http://schemas.microsoft.com/office/drawing/2014/main" id="{3070A75A-1540-43ED-BE4D-71A5D06F3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770" y="3320225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6" name="Google-Shape-2262-p159-7">
            <a:extLst xmlns:a="http://schemas.openxmlformats.org/drawingml/2006/main">
              <a:ext uri="{FF2B5EF4-FFF2-40B4-BE49-F238E27FC236}">
                <a16:creationId xmlns:a16="http://schemas.microsoft.com/office/drawing/2014/main" id="{FE216FB0-698A-43E8-A8D1-5AD94DA52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6070" y="3320225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7" name="Content-Placeholder-15-8">
            <a:extLst xmlns:a="http://schemas.openxmlformats.org/drawingml/2006/main">
              <a:ext uri="{FF2B5EF4-FFF2-40B4-BE49-F238E27FC236}">
                <a16:creationId xmlns:a16="http://schemas.microsoft.com/office/drawing/2014/main" id="{9830A0F7-8094-464B-8A28-108473CFD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2843308"/>
            <a:ext cx="1612868" cy="2624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EVALUATE</a:t>
            </a:r>
          </a:p>
        </p:txBody>
      </p:sp>
      <p:sp>
        <p:nvSpPr>
          <p:cNvPr id="8" name="Content-Placeholder-15-9">
            <a:extLst xmlns:a="http://schemas.openxmlformats.org/drawingml/2006/main">
              <a:ext uri="{FF2B5EF4-FFF2-40B4-BE49-F238E27FC236}">
                <a16:creationId xmlns:a16="http://schemas.microsoft.com/office/drawing/2014/main" id="{5C6129FF-7E42-4536-B21C-571ADB7BE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4156" y="2843308"/>
            <a:ext cx="1612868" cy="2624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DECIDE</a:t>
            </a:r>
          </a:p>
        </p:txBody>
      </p:sp>
      <p:sp>
        <p:nvSpPr>
          <p:cNvPr id="9" name="Content-Placeholder-15-10">
            <a:extLst xmlns:a="http://schemas.openxmlformats.org/drawingml/2006/main">
              <a:ext uri="{FF2B5EF4-FFF2-40B4-BE49-F238E27FC236}">
                <a16:creationId xmlns:a16="http://schemas.microsoft.com/office/drawing/2014/main" id="{ED665114-278B-4FB2-B67C-ED20DF752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3218" y="2843308"/>
            <a:ext cx="1612868" cy="2624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IMPROVE</a:t>
            </a:r>
          </a:p>
        </p:txBody>
      </p:sp>
      <p:sp>
        <p:nvSpPr>
          <p:cNvPr id="10" name="Text-Placeholder-16-11">
            <a:extLst xmlns:a="http://schemas.openxmlformats.org/drawingml/2006/main">
              <a:ext uri="{FF2B5EF4-FFF2-40B4-BE49-F238E27FC236}">
                <a16:creationId xmlns:a16="http://schemas.microsoft.com/office/drawing/2014/main" id="{8B13E3DC-A6C2-4FC5-94CD-F4EC86E9B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7111" y="3822668"/>
            <a:ext cx="3156109" cy="15862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Choose with evidence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Describe which model fits which job instead of repeating a brand claim.</a:t>
            </a:r>
          </a:p>
        </p:txBody>
      </p:sp>
      <p:sp>
        <p:nvSpPr>
          <p:cNvPr id="11" name="Text-Placeholder-16-12">
            <a:extLst xmlns:a="http://schemas.openxmlformats.org/drawingml/2006/main">
              <a:ext uri="{FF2B5EF4-FFF2-40B4-BE49-F238E27FC236}">
                <a16:creationId xmlns:a16="http://schemas.microsoft.com/office/drawing/2014/main" id="{2E9454C0-1CE3-4577-8B4A-7B88C0E7C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859" y="3822668"/>
            <a:ext cx="3156109" cy="15862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Measure real work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Run models against your prompts, criteria, and operating constraints.</a:t>
            </a:r>
          </a:p>
        </p:txBody>
      </p:sp>
      <p:sp>
        <p:nvSpPr>
          <p:cNvPr id="12" name="Text-Placeholder-16-13">
            <a:extLst xmlns:a="http://schemas.openxmlformats.org/drawingml/2006/main">
              <a:ext uri="{FF2B5EF4-FFF2-40B4-BE49-F238E27FC236}">
                <a16:creationId xmlns:a16="http://schemas.microsoft.com/office/drawing/2014/main" id="{EB0E7D08-61E9-4163-B97B-A9CC92B5D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7879" y="3822668"/>
            <a:ext cx="3156109" cy="15862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Feed the system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Improve prompts, memory, skills, guardrails, and the next evaluation.</a:t>
            </a:r>
          </a:p>
        </p:txBody>
      </p:sp>
    </p:spTree>
    <p:extLst>
      <p:ext uri="{BB962C8B-B14F-4D97-AF65-F5344CB8AC3E}">
        <p14:creationId xmlns:p14="http://schemas.microsoft.com/office/powerpoint/2010/main" val="232269737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-3-1">
            <a:extLst xmlns:a="http://schemas.openxmlformats.org/drawingml/2006/main">
              <a:ext uri="{FF2B5EF4-FFF2-40B4-BE49-F238E27FC236}">
                <a16:creationId xmlns:a16="http://schemas.microsoft.com/office/drawing/2014/main" id="{45348841-18D1-4201-9913-CE3C04069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738789"/>
            <a:ext cx="9448800" cy="249145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l">
              <a:defRPr sz="6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Evaluate your work.
Choose the level.
Keep learning.</a:t>
            </a:r>
          </a:p>
        </p:txBody>
      </p:sp>
      <p:sp>
        <p:nvSpPr>
          <p:cNvPr id="2" name="Subtitle-4-2">
            <a:extLst xmlns:a="http://schemas.openxmlformats.org/drawingml/2006/main">
              <a:ext uri="{FF2B5EF4-FFF2-40B4-BE49-F238E27FC236}">
                <a16:creationId xmlns:a16="http://schemas.microsoft.com/office/drawing/2014/main" id="{321CB12A-51AF-4CB0-BDEA-3FE82C7E5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4973288"/>
            <a:ext cx="3568732" cy="108023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Winner follows work.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Harness shapes capability.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Routing applies evidence.</a:t>
            </a:r>
          </a:p>
        </p:txBody>
      </p:sp>
      <p:sp>
        <p:nvSpPr>
          <p:cNvPr id="3" name="Subtitle-4-3">
            <a:extLst xmlns:a="http://schemas.openxmlformats.org/drawingml/2006/main">
              <a:ext uri="{FF2B5EF4-FFF2-40B4-BE49-F238E27FC236}">
                <a16:creationId xmlns:a16="http://schemas.microsoft.com/office/drawing/2014/main" id="{EB45B681-655C-4CD3-8BFD-3309F3E4F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92240"/>
            <a:ext cx="1612868" cy="64912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PHASE 06</a:t>
            </a:r>
          </a:p>
        </p:txBody>
      </p:sp>
    </p:spTree>
    <p:extLst>
      <p:ext uri="{BB962C8B-B14F-4D97-AF65-F5344CB8AC3E}">
        <p14:creationId xmlns:p14="http://schemas.microsoft.com/office/powerpoint/2010/main" val="90981357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2026-07-27T20:25:49.4160000Z</dcterms:created>
  <dcterms:modified xsi:type="dcterms:W3CDTF">2026-07-27T20:25:49.4160000Z</dcterms:modified>
</coreProperties>
</file>