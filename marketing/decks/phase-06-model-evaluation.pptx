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c30c9ac29495a" /><Relationship Type="http://schemas.openxmlformats.org/officeDocument/2006/relationships/extended-properties" Target="/docProps/app.xml" Id="Raed3bef6b3084584" /><Relationship Type="http://schemas.openxmlformats.org/officeDocument/2006/relationships/officeDocument" Target="/ppt/presentation.xml" Id="Rdde11bf9ed94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a830444fc444fb"/>
  </p:sldMasterIdLst>
  <p:notesMasterIdLst>
    <p:notesMasterId xmlns:r="http://schemas.openxmlformats.org/officeDocument/2006/relationships" r:id="Ra5e98f3a3db2407c"/>
  </p:notesMasterIdLst>
  <p:sldIdLst>
    <p:sldId xmlns:r="http://schemas.openxmlformats.org/officeDocument/2006/relationships" id="256" r:id="R2737ea58e7484c80"/>
    <p:sldId xmlns:r="http://schemas.openxmlformats.org/officeDocument/2006/relationships" id="257" r:id="R6089fc4227e24e58"/>
    <p:sldId xmlns:r="http://schemas.openxmlformats.org/officeDocument/2006/relationships" id="258" r:id="Rc666079aa0604e26"/>
    <p:sldId xmlns:r="http://schemas.openxmlformats.org/officeDocument/2006/relationships" id="259" r:id="R70dccdee901b4588"/>
    <p:sldId xmlns:r="http://schemas.openxmlformats.org/officeDocument/2006/relationships" id="260" r:id="Rc274c0231a8f4523"/>
    <p:sldId xmlns:r="http://schemas.openxmlformats.org/officeDocument/2006/relationships" id="261" r:id="R57c6e0694d674e66"/>
    <p:sldId xmlns:r="http://schemas.openxmlformats.org/officeDocument/2006/relationships" id="262" r:id="R1bca1403e1d74253"/>
    <p:sldId xmlns:r="http://schemas.openxmlformats.org/officeDocument/2006/relationships" id="263" r:id="R448417b0227a44c5"/>
    <p:sldId xmlns:r="http://schemas.openxmlformats.org/officeDocument/2006/relationships" id="264" r:id="R43fe7ea112c348bd"/>
    <p:sldId xmlns:r="http://schemas.openxmlformats.org/officeDocument/2006/relationships" id="265" r:id="Rba86d588fcc446b5"/>
    <p:sldId xmlns:r="http://schemas.openxmlformats.org/officeDocument/2006/relationships" id="266" r:id="R6f6c4e8704ea4e95"/>
    <p:sldId xmlns:r="http://schemas.openxmlformats.org/officeDocument/2006/relationships" id="267" r:id="R8345e7a91f924909"/>
    <p:sldId xmlns:r="http://schemas.openxmlformats.org/officeDocument/2006/relationships" id="268" r:id="Rc1fe9898ebf3474b"/>
    <p:sldId xmlns:r="http://schemas.openxmlformats.org/officeDocument/2006/relationships" id="269" r:id="R723ce99cce7c4991"/>
    <p:sldId xmlns:r="http://schemas.openxmlformats.org/officeDocument/2006/relationships" id="270" r:id="R02e1df68438c4f48"/>
    <p:sldId xmlns:r="http://schemas.openxmlformats.org/officeDocument/2006/relationships" id="271" r:id="R25d2565296314290"/>
    <p:sldId xmlns:r="http://schemas.openxmlformats.org/officeDocument/2006/relationships" id="272" r:id="R6ab1a5de3e5f4de8"/>
    <p:sldId xmlns:r="http://schemas.openxmlformats.org/officeDocument/2006/relationships" id="273" r:id="Rd51f9c619e644dd2"/>
    <p:sldId xmlns:r="http://schemas.openxmlformats.org/officeDocument/2006/relationships" id="274" r:id="R59e3256bcb4148b5"/>
    <p:sldId xmlns:r="http://schemas.openxmlformats.org/officeDocument/2006/relationships" id="275" r:id="Rabb86ae36e4541e1"/>
    <p:sldId xmlns:r="http://schemas.openxmlformats.org/officeDocument/2006/relationships" id="276" r:id="R3fb344cfc1024c12"/>
    <p:sldId xmlns:r="http://schemas.openxmlformats.org/officeDocument/2006/relationships" id="277" r:id="Rf34c4097463c4241"/>
    <p:sldId xmlns:r="http://schemas.openxmlformats.org/officeDocument/2006/relationships" id="278" r:id="Raa39698d14804f00"/>
    <p:sldId xmlns:r="http://schemas.openxmlformats.org/officeDocument/2006/relationships" id="279" r:id="R3e9bc3994cc542c2"/>
    <p:sldId xmlns:r="http://schemas.openxmlformats.org/officeDocument/2006/relationships" id="280" r:id="Ra436821a9f1b4e56"/>
    <p:sldId xmlns:r="http://schemas.openxmlformats.org/officeDocument/2006/relationships" id="281" r:id="Re99491d133ca40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28154007c040f9" /><Relationship Type="http://schemas.openxmlformats.org/officeDocument/2006/relationships/slideMaster" Target="/ppt/slideMasters/slideMaster1.xml" Id="R32a830444fc444fb" /><Relationship Type="http://schemas.openxmlformats.org/officeDocument/2006/relationships/notesMaster" Target="/ppt/notesMasters/notesMaster1.xml" Id="Ra5e98f3a3db2407c" /><Relationship Type="http://schemas.openxmlformats.org/officeDocument/2006/relationships/presProps" Target="/ppt/presProps.xml" Id="R8c6271eac4da4387" /><Relationship Type="http://schemas.openxmlformats.org/officeDocument/2006/relationships/tableStyles" Target="/ppt/tableStyles.xml" Id="R6e05a55d71e3432d" /><Relationship Type="http://schemas.openxmlformats.org/officeDocument/2006/relationships/slide" Target="/ppt/slides/slide1.xml" Id="R2737ea58e7484c80" /><Relationship Type="http://schemas.openxmlformats.org/officeDocument/2006/relationships/slide" Target="/ppt/slides/slide2.xml" Id="R6089fc4227e24e58" /><Relationship Type="http://schemas.openxmlformats.org/officeDocument/2006/relationships/slide" Target="/ppt/slides/slide3.xml" Id="Rc666079aa0604e26" /><Relationship Type="http://schemas.openxmlformats.org/officeDocument/2006/relationships/slide" Target="/ppt/slides/slide4.xml" Id="R70dccdee901b4588" /><Relationship Type="http://schemas.openxmlformats.org/officeDocument/2006/relationships/slide" Target="/ppt/slides/slide5.xml" Id="Rc274c0231a8f4523" /><Relationship Type="http://schemas.openxmlformats.org/officeDocument/2006/relationships/slide" Target="/ppt/slides/slide6.xml" Id="R57c6e0694d674e66" /><Relationship Type="http://schemas.openxmlformats.org/officeDocument/2006/relationships/slide" Target="/ppt/slides/slide7.xml" Id="R1bca1403e1d74253" /><Relationship Type="http://schemas.openxmlformats.org/officeDocument/2006/relationships/slide" Target="/ppt/slides/slide8.xml" Id="R448417b0227a44c5" /><Relationship Type="http://schemas.openxmlformats.org/officeDocument/2006/relationships/slide" Target="/ppt/slides/slide9.xml" Id="R43fe7ea112c348bd" /><Relationship Type="http://schemas.openxmlformats.org/officeDocument/2006/relationships/slide" Target="/ppt/slides/slide10.xml" Id="Rba86d588fcc446b5" /><Relationship Type="http://schemas.openxmlformats.org/officeDocument/2006/relationships/slide" Target="/ppt/slides/slide11.xml" Id="R6f6c4e8704ea4e95" /><Relationship Type="http://schemas.openxmlformats.org/officeDocument/2006/relationships/slide" Target="/ppt/slides/slide12.xml" Id="R8345e7a91f924909" /><Relationship Type="http://schemas.openxmlformats.org/officeDocument/2006/relationships/slide" Target="/ppt/slides/slide13.xml" Id="Rc1fe9898ebf3474b" /><Relationship Type="http://schemas.openxmlformats.org/officeDocument/2006/relationships/slide" Target="/ppt/slides/slide14.xml" Id="R723ce99cce7c4991" /><Relationship Type="http://schemas.openxmlformats.org/officeDocument/2006/relationships/slide" Target="/ppt/slides/slide15.xml" Id="R02e1df68438c4f48" /><Relationship Type="http://schemas.openxmlformats.org/officeDocument/2006/relationships/slide" Target="/ppt/slides/slide16.xml" Id="R25d2565296314290" /><Relationship Type="http://schemas.openxmlformats.org/officeDocument/2006/relationships/slide" Target="/ppt/slides/slide17.xml" Id="R6ab1a5de3e5f4de8" /><Relationship Type="http://schemas.openxmlformats.org/officeDocument/2006/relationships/slide" Target="/ppt/slides/slide18.xml" Id="Rd51f9c619e644dd2" /><Relationship Type="http://schemas.openxmlformats.org/officeDocument/2006/relationships/slide" Target="/ppt/slides/slide19.xml" Id="R59e3256bcb4148b5" /><Relationship Type="http://schemas.openxmlformats.org/officeDocument/2006/relationships/slide" Target="/ppt/slides/slide20.xml" Id="Rabb86ae36e4541e1" /><Relationship Type="http://schemas.openxmlformats.org/officeDocument/2006/relationships/slide" Target="/ppt/slides/slide21.xml" Id="R3fb344cfc1024c12" /><Relationship Type="http://schemas.openxmlformats.org/officeDocument/2006/relationships/slide" Target="/ppt/slides/slide22.xml" Id="Rf34c4097463c4241" /><Relationship Type="http://schemas.openxmlformats.org/officeDocument/2006/relationships/slide" Target="/ppt/slides/slide23.xml" Id="Raa39698d14804f00" /><Relationship Type="http://schemas.openxmlformats.org/officeDocument/2006/relationships/slide" Target="/ppt/slides/slide24.xml" Id="R3e9bc3994cc542c2" /><Relationship Type="http://schemas.openxmlformats.org/officeDocument/2006/relationships/slide" Target="/ppt/slides/slide25.xml" Id="Ra436821a9f1b4e56" /><Relationship Type="http://schemas.openxmlformats.org/officeDocument/2006/relationships/slide" Target="/ppt/slides/slide26.xml" Id="Re99491d133ca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790e9ff8ed42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a8b160adc5401e" /><Relationship Type="http://schemas.openxmlformats.org/officeDocument/2006/relationships/notesMaster" Target="/ppt/notesMasters/notesMaster1.xml" Id="R5b2222159d82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f1860a9aa40ab" /><Relationship Type="http://schemas.openxmlformats.org/officeDocument/2006/relationships/notesMaster" Target="/ppt/notesMasters/notesMaster1.xml" Id="Ra169681f44a64c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57b9c104344770" /><Relationship Type="http://schemas.openxmlformats.org/officeDocument/2006/relationships/notesMaster" Target="/ppt/notesMasters/notesMaster1.xml" Id="R7950b093406b47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238d774224579" /><Relationship Type="http://schemas.openxmlformats.org/officeDocument/2006/relationships/notesMaster" Target="/ppt/notesMasters/notesMaster1.xml" Id="R957d5fd4c2cf4c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e78c6e4a3742d2" /><Relationship Type="http://schemas.openxmlformats.org/officeDocument/2006/relationships/notesMaster" Target="/ppt/notesMasters/notesMaster1.xml" Id="R733a83199bd440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8964d697c846f6" /><Relationship Type="http://schemas.openxmlformats.org/officeDocument/2006/relationships/notesMaster" Target="/ppt/notesMasters/notesMaster1.xml" Id="Rcba380d5d31e48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8fb198812b4c7f" /><Relationship Type="http://schemas.openxmlformats.org/officeDocument/2006/relationships/notesMaster" Target="/ppt/notesMasters/notesMaster1.xml" Id="R60c2a38a1d494f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b581a5377447f1" /><Relationship Type="http://schemas.openxmlformats.org/officeDocument/2006/relationships/notesMaster" Target="/ppt/notesMasters/notesMaster1.xml" Id="R03761c15ce7041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2fa38c1f2543e8" /><Relationship Type="http://schemas.openxmlformats.org/officeDocument/2006/relationships/notesMaster" Target="/ppt/notesMasters/notesMaster1.xml" Id="R97e8196630684e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4b45abbb8d4dc0" /><Relationship Type="http://schemas.openxmlformats.org/officeDocument/2006/relationships/notesMaster" Target="/ppt/notesMasters/notesMaster1.xml" Id="Rf33bea1d494e47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927126a5044eb6" /><Relationship Type="http://schemas.openxmlformats.org/officeDocument/2006/relationships/notesMaster" Target="/ppt/notesMasters/notesMaster1.xml" Id="R9844a1f3d7d644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a8c7a5d7cbf45de" /><Relationship Type="http://schemas.openxmlformats.org/officeDocument/2006/relationships/notesMaster" Target="/ppt/notesMasters/notesMaster1.xml" Id="R394161cbbb6548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b061de45974171" /><Relationship Type="http://schemas.openxmlformats.org/officeDocument/2006/relationships/notesMaster" Target="/ppt/notesMasters/notesMaster1.xml" Id="R79b6f172816a4d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abf3dceed7456a" /><Relationship Type="http://schemas.openxmlformats.org/officeDocument/2006/relationships/notesMaster" Target="/ppt/notesMasters/notesMaster1.xml" Id="R9d16b35fa5c14e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771e600eee46c3" /><Relationship Type="http://schemas.openxmlformats.org/officeDocument/2006/relationships/notesMaster" Target="/ppt/notesMasters/notesMaster1.xml" Id="R3ad8d431120c48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a2aa2a499b4915" /><Relationship Type="http://schemas.openxmlformats.org/officeDocument/2006/relationships/notesMaster" Target="/ppt/notesMasters/notesMaster1.xml" Id="Ra57a6bffe7324c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c4d0d3ec6f4a35" /><Relationship Type="http://schemas.openxmlformats.org/officeDocument/2006/relationships/notesMaster" Target="/ppt/notesMasters/notesMaster1.xml" Id="Rbc815f3bddd24d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1edd65de194297" /><Relationship Type="http://schemas.openxmlformats.org/officeDocument/2006/relationships/notesMaster" Target="/ppt/notesMasters/notesMaster1.xml" Id="R20838916330f411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a9664130b64bc7" /><Relationship Type="http://schemas.openxmlformats.org/officeDocument/2006/relationships/notesMaster" Target="/ppt/notesMasters/notesMaster1.xml" Id="R7d8b3987769a440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68c0d94dda42ac" /><Relationship Type="http://schemas.openxmlformats.org/officeDocument/2006/relationships/notesMaster" Target="/ppt/notesMasters/notesMaster1.xml" Id="Rcc7e3562d8334b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ded36380fe645ae" /><Relationship Type="http://schemas.openxmlformats.org/officeDocument/2006/relationships/notesMaster" Target="/ppt/notesMasters/notesMaster1.xml" Id="R8260baf167544c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d31c4d1c5b24acf" /><Relationship Type="http://schemas.openxmlformats.org/officeDocument/2006/relationships/notesMaster" Target="/ppt/notesMasters/notesMaster1.xml" Id="R4f327dd1992f4dc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0c2ef55ba44f7c" /><Relationship Type="http://schemas.openxmlformats.org/officeDocument/2006/relationships/notesMaster" Target="/ppt/notesMasters/notesMaster1.xml" Id="Rffa9e46e2a874c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a1ee724be6846a8" /><Relationship Type="http://schemas.openxmlformats.org/officeDocument/2006/relationships/notesMaster" Target="/ppt/notesMasters/notesMaster1.xml" Id="Rb48955c93c63467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2c375dd2f8450a" /><Relationship Type="http://schemas.openxmlformats.org/officeDocument/2006/relationships/notesMaster" Target="/ppt/notesMasters/notesMaster1.xml" Id="R8e55ac75d99d489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315bc93a8c84174" /><Relationship Type="http://schemas.openxmlformats.org/officeDocument/2006/relationships/notesMaster" Target="/ppt/notesMasters/notesMaster1.xml" Id="R4a70cc225ffb40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reminding learners that this is the final technical phase. The lab itself remains the established tournament. The new economics, harness, local-model, role, and routing material gives them a stronger way to interpret what they see.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name the model they normally select and why. Then ask whether their answer came from their own workload or from reputation, marketing, and public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lecture. These are discussion threads around the existing lab; they are not extra implementation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criticize the habit; it was rational under the experience people were given. The lesson is that personal-plan economics are not a safe production assumption.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exactly when pricing will change. Explain that a production architecture must survive changes in subscription limits, API prices, promotions, and provider strategy.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https://help.openai.com/en/articles/20001106</a:t>
            </a:r>
          </a:p>
          <a:p xmlns:a="http://schemas.openxmlformats.org/drawingml/2006/main">
            <a:r>
              <a:t>- https://openai.com/index/codex-flexible-pricing-for-teams/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room to estimate how many model calls sit behind one seemingly simple agent request. Emphasize total workflow cost, not just the price of a single completion.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transition from economics to engineering. The model is crucial, but it does not act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https://openai.com/index/harness-engineering/</a:t>
            </a:r>
          </a:p>
          <a:p xmlns:a="http://schemas.openxmlformats.org/drawingml/2006/main">
            <a:r>
              <a:t>- https://www.anthropic.com/engineering/effective-harnesses-for-long-running-agents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discussion, not a new lab comparison. Connect each quadrant to an earlier course phase. Point out that harness assumptions can become stale as models improve.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https://www.anthropic.com/engineering/harness-design-long-running-apps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both extremes: local models are neither toys nor automatic frontier replacements. Ask which workloads in the learners’ organizations could already be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https://docs.ollama.com/faq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quantization in plain language. Also correct the claim that local equals free or automatically private; the surrounding system still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https://docs.ollama.com/faq</a:t>
            </a:r>
          </a:p>
          <a:p xmlns:a="http://schemas.openxmlformats.org/drawingml/2006/main">
            <a:r>
              <a:t>- https://ollama.readthedocs.io/en/import/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roles as a discussion vocabulary. This does not change the lab or require a routing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place familiar tasks into the four roles. A critical reviewer can be discussed as an independent verification role when consequences justify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conceptual. The lab does not add reasoning-level experiments. Use the instructor’s example: a deep thinker might be one configuration with heavy thought; a workhorse might be a fast model with light thought.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routing without tying it to a company. Stress that routing is broader than selecting a model 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Also mention provider routing: choosing an endpoint after a model has been selected. Sometimes the correct route is a cache, deterministic function, database query, or human.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https://github.com/lm-sys/RouteLLM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clearly that acquisition discussions are reports, not a completed transaction, and that this slide is time-sensitive. OpenRouter is included only because the instructor can speak from direct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https://openrouter.ai/docs/guides/routing/routers/auto-router</a:t>
            </a:r>
          </a:p>
          <a:p xmlns:a="http://schemas.openxmlformats.org/drawingml/2006/main">
            <a:r>
              <a:t>- https://openrouter.ai/docs/guides/routing/provider-selection</a:t>
            </a:r>
          </a:p>
          <a:p xmlns:a="http://schemas.openxmlformats.org/drawingml/2006/main">
            <a:r>
              <a:t>- https://www.axios.com/2026/07/24/stripe-openrouter-merger-ai-currency</a:t>
            </a:r>
          </a:p>
          <a:p xmlns:a="http://schemas.openxmlformats.org/drawingml/2006/main">
            <a:r>
              <a:t>- https://www.theinformation.com/briefings/stripe-talks-buy-startup-openrouter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boundary explicit before beginning the technical work: no router, reasoning-level experiment, or harness comparison is being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existing intention. Everything is configured from the dashboard; the class is not extending the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this spread matters. Models can be excellent on one class and weak on another; the lab should not hide those differences.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memorable comparison from the lab: 7, 7, 7 may be more useful than 9, 3,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rubric before looking at winners. Ask where each criterion is objective and where judgment enters.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deepest evaluation caution. Correlated judges can agree and all be wrong. The lab skips self-scoring, but human inspection still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https://www.anthropic.com/engineering/demystifying-evals-for-ai-agents</a:t>
            </a:r>
          </a:p>
          <a:p xmlns:a="http://schemas.openxmlformats.org/drawingml/2006/main">
            <a:r>
              <a:t>- https://eugeneyan.com/writing/llm-evaluators/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operational bridge into the lab. If the full run is slow, keep teaching with a cached result 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questions use the lab’s evidence without extending the lab. Require learners to cite a chart or raw response when making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explicitly to Phase 02 guardrails, Phase 03 memory, and Phase 05 skills. Evaluation gives the organization a way to keep improving all of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by asking each learner for one task they would put into the evaluation next and which model role they predict it belongs 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91a5d0e82f41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c9e43d7d3248ee" /><Relationship Type="http://schemas.openxmlformats.org/officeDocument/2006/relationships/slideLayout" Target="/ppt/slideLayouts/slideLayout1.xml" Id="R6344150097eb43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44150097eb43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74944f63f4628" /><Relationship Type="http://schemas.openxmlformats.org/officeDocument/2006/relationships/notesSlide" Target="/ppt/notesSlides/notesSlide1.xml" Id="R6327d08bca4e44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c8e37f4134356" /><Relationship Type="http://schemas.openxmlformats.org/officeDocument/2006/relationships/notesSlide" Target="/ppt/notesSlides/notesSlide2.xml" Id="R0ebc698021f541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e90029a0e44d5" /><Relationship Type="http://schemas.openxmlformats.org/officeDocument/2006/relationships/notesSlide" Target="/ppt/notesSlides/notesSlide3.xml" Id="Rfd43e4196ec44e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a7a75ae3c4a1e" /><Relationship Type="http://schemas.openxmlformats.org/officeDocument/2006/relationships/notesSlide" Target="/ppt/notesSlides/notesSlide4.xml" Id="R4377d9aaca6a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bf6daface44a1" /><Relationship Type="http://schemas.openxmlformats.org/officeDocument/2006/relationships/notesSlide" Target="/ppt/notesSlides/notesSlide5.xml" Id="Re4c6ac4d58ed49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ff51982b44f18" /><Relationship Type="http://schemas.openxmlformats.org/officeDocument/2006/relationships/notesSlide" Target="/ppt/notesSlides/notesSlide6.xml" Id="R434a07de66c44f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34f207bcf40ae" /><Relationship Type="http://schemas.openxmlformats.org/officeDocument/2006/relationships/notesSlide" Target="/ppt/notesSlides/notesSlide7.xml" Id="R6026feac5ebb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b46cabc924ba9" /><Relationship Type="http://schemas.openxmlformats.org/officeDocument/2006/relationships/notesSlide" Target="/ppt/notesSlides/notesSlide8.xml" Id="R75e0b2cbb7394a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ba228dbe340d3" /><Relationship Type="http://schemas.openxmlformats.org/officeDocument/2006/relationships/notesSlide" Target="/ppt/notesSlides/notesSlide9.xml" Id="R2cb543457ad74e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6fa2aeaff4e64" /><Relationship Type="http://schemas.openxmlformats.org/officeDocument/2006/relationships/notesSlide" Target="/ppt/notesSlides/notesSlide10.xml" Id="R5b02906980ed45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0800574074ed1" /><Relationship Type="http://schemas.openxmlformats.org/officeDocument/2006/relationships/notesSlide" Target="/ppt/notesSlides/notesSlide11.xml" Id="R37e1d51a30b345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168918bd94787" /><Relationship Type="http://schemas.openxmlformats.org/officeDocument/2006/relationships/notesSlide" Target="/ppt/notesSlides/notesSlide12.xml" Id="R28f9bd9dda1243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8cb2263fe4355" /><Relationship Type="http://schemas.openxmlformats.org/officeDocument/2006/relationships/notesSlide" Target="/ppt/notesSlides/notesSlide13.xml" Id="R30ed1ae187b946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e20f697874a13" /><Relationship Type="http://schemas.openxmlformats.org/officeDocument/2006/relationships/notesSlide" Target="/ppt/notesSlides/notesSlide14.xml" Id="R83b60f0556c342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dafa7b56447e6" /><Relationship Type="http://schemas.openxmlformats.org/officeDocument/2006/relationships/notesSlide" Target="/ppt/notesSlides/notesSlide15.xml" Id="Rde2e1f0ee98642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ff408446a4428" /><Relationship Type="http://schemas.openxmlformats.org/officeDocument/2006/relationships/notesSlide" Target="/ppt/notesSlides/notesSlide16.xml" Id="R4387ee1493d942f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a96089fea459a" /><Relationship Type="http://schemas.openxmlformats.org/officeDocument/2006/relationships/notesSlide" Target="/ppt/notesSlides/notesSlide17.xml" Id="Rf2e34e66889f40a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ac77a4d951420f" /><Relationship Type="http://schemas.openxmlformats.org/officeDocument/2006/relationships/notesSlide" Target="/ppt/notesSlides/notesSlide18.xml" Id="R2d36f9ee7cc34c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0f178a54d47d0" /><Relationship Type="http://schemas.openxmlformats.org/officeDocument/2006/relationships/notesSlide" Target="/ppt/notesSlides/notesSlide19.xml" Id="Rfa485ebba5f64a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55cd0ee2b408a" /><Relationship Type="http://schemas.openxmlformats.org/officeDocument/2006/relationships/notesSlide" Target="/ppt/notesSlides/notesSlide20.xml" Id="R436ceb496db445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7f1b137914dde" /><Relationship Type="http://schemas.openxmlformats.org/officeDocument/2006/relationships/notesSlide" Target="/ppt/notesSlides/notesSlide21.xml" Id="R341519f08a2b46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0cba7dd824ce0" /><Relationship Type="http://schemas.openxmlformats.org/officeDocument/2006/relationships/notesSlide" Target="/ppt/notesSlides/notesSlide22.xml" Id="R0de15d8ce0e4468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cfddea8244868" /><Relationship Type="http://schemas.openxmlformats.org/officeDocument/2006/relationships/notesSlide" Target="/ppt/notesSlides/notesSlide23.xml" Id="R9ba8077692b444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8b4253f144596" /><Relationship Type="http://schemas.openxmlformats.org/officeDocument/2006/relationships/notesSlide" Target="/ppt/notesSlides/notesSlide24.xml" Id="R1d4a2151a3dc4b9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60b9c2c2d49d7" /><Relationship Type="http://schemas.openxmlformats.org/officeDocument/2006/relationships/notesSlide" Target="/ppt/notesSlides/notesSlide25.xml" Id="R8d705ffa520d4d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a42b8b00c4311" /><Relationship Type="http://schemas.openxmlformats.org/officeDocument/2006/relationships/notesSlide" Target="/ppt/notesSlides/notesSlide26.xml" Id="R4dbbc4a3f78546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8632480-13B7-44A4-8E6F-E78044BA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Evaluation, model roles,
and routing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2E696B0-0358-4723-84D6-C86453F7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Build the proven eval lab. Use its evidence to make better model decisions.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AF8D3F1-13C1-4B4B-B7B6-3576B2E7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PHASE 06</a:t>
            </a:r>
          </a:p>
        </p:txBody>
      </p:sp>
    </p:spTree>
    <p:extLst>
      <p:ext uri="{BB962C8B-B14F-4D97-AF65-F5344CB8AC3E}">
        <p14:creationId xmlns:p14="http://schemas.microsoft.com/office/powerpoint/2010/main" val="15777036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9435252-5DC4-4873-916B-868FFAC3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model is good enough
for this work—and how do we know?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452AF923-6D5A-4607-A863-D8EBA4F0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QUESTION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5FA0CAA-0C30-4656-82FD-D4DBF151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YOUR WORKLOAD</a:t>
            </a:r>
          </a:p>
        </p:txBody>
      </p:sp>
    </p:spTree>
    <p:extLst>
      <p:ext uri="{BB962C8B-B14F-4D97-AF65-F5344CB8AC3E}">
        <p14:creationId xmlns:p14="http://schemas.microsoft.com/office/powerpoint/2010/main" val="153571281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2B24090-FEC4-4A59-927C-D3C9A471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F4B979D-E7D5-46AB-9531-6F1316B8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conversations frame the lab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8DCD34D-2B8F-4D40-812D-AF7E99F4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ECONOMICS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“use the best model” has felt almost free—and why that assumption may not scale.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9E414950-92BB-4FE7-8BDC-4B7B0C06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ROUTING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future systems can choose the right level of model for the task.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DE931BCB-20E6-4462-B583-CA823E6E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frontier models, local models, and the harness each contribute to useful work.</a:t>
            </a:r>
          </a:p>
        </p:txBody>
      </p:sp>
    </p:spTree>
    <p:extLst>
      <p:ext uri="{BB962C8B-B14F-4D97-AF65-F5344CB8AC3E}">
        <p14:creationId xmlns:p14="http://schemas.microsoft.com/office/powerpoint/2010/main" val="7981261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04B1E66-637F-43C7-9DD1-92111E6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01F0645-19E3-463A-B185-9F01F9FC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Generous access created a reasonable habit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ABDBF7D-6A68-466A-9314-E79CFF0E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41BE9D4-8102-44A1-A7B3-37340DD5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B935890-F0E9-4D7F-B3CB-1F774E47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5BAB7C47-0FBA-4986-B96D-04C5D46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2F973B86-BA80-418A-832D-26C42950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PERSONAL PLANS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monthly subscriptions often delivered far more apparent token value than their price.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8D4579AC-E644-40C2-B57A-0FFDE787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E93D7C76-F67B-43DF-93C3-693F41B0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PROMOTIONAL ERA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 usage and subsidized adoption made marginal inference feel invisible.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4BDB2E59-DFD4-45E0-B748-B62A4732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C8D1FDB-CC8D-4988-8B40-9923EBAE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DEFAULT BEHAVIOR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Many developers simply leave the strongest available model selected.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92F9301E-8622-4270-AD08-3B3B5826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EXPECTATION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C887CA43-B710-4559-9B36-AB9B3D97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C353911A-46EF-4CD1-B782-333D4691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HABIT</a:t>
            </a:r>
          </a:p>
        </p:txBody>
      </p:sp>
    </p:spTree>
    <p:extLst>
      <p:ext uri="{BB962C8B-B14F-4D97-AF65-F5344CB8AC3E}">
        <p14:creationId xmlns:p14="http://schemas.microsoft.com/office/powerpoint/2010/main" val="9881176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96A24B8-B80A-49A6-ABAB-57A502BE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subscription is a purchasing arrangement.
It is not an architecture.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A3A7673-9DB8-4844-BA24-B54AEDEA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DURABLE POINT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E12F682-ECDC-46F8-BF92-8BB19D0C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NOT A PRICE FORECAST</a:t>
            </a:r>
          </a:p>
        </p:txBody>
      </p:sp>
    </p:spTree>
    <p:extLst>
      <p:ext uri="{BB962C8B-B14F-4D97-AF65-F5344CB8AC3E}">
        <p14:creationId xmlns:p14="http://schemas.microsoft.com/office/powerpoint/2010/main" val="13529934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D882F0C-FB68-45AD-967A-F675F58C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3AC7B72-5237-45D3-A84A-1D85207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request can become an expensive workflow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785BE39-15BC-41E2-B28E-B51FFDB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agent may interpret, decompose, and research before changing anything.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29079B5-A604-4F2C-A76B-94A47CCD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Implementation can involve many tool calls and multiple model turns.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892692D-4EB8-49BC-9BA7-38FAE73E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Tests, review, repair, and reruns add more calls.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7D4FD2D-A9A4-4905-A077-9BC496E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OPERATE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Retries, fallbacks, monitoring, and support continue after launch.</a:t>
            </a:r>
          </a:p>
        </p:txBody>
      </p:sp>
    </p:spTree>
    <p:extLst>
      <p:ext uri="{BB962C8B-B14F-4D97-AF65-F5344CB8AC3E}">
        <p14:creationId xmlns:p14="http://schemas.microsoft.com/office/powerpoint/2010/main" val="496904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0E97A14-39B4-467C-B6F8-76977C0F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model supplies potential capability.
The harness turns it into dependable work.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213B09A-02A7-453F-8979-CD504559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SYSTEM VIEW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DDAEC0F-A56B-48C0-A40D-ACEC1F6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 ≠ SYSTEM</a:t>
            </a:r>
          </a:p>
        </p:txBody>
      </p:sp>
    </p:spTree>
    <p:extLst>
      <p:ext uri="{BB962C8B-B14F-4D97-AF65-F5344CB8AC3E}">
        <p14:creationId xmlns:p14="http://schemas.microsoft.com/office/powerpoint/2010/main" val="21189574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717BBDB-CDBE-4B5E-93D3-7A97D21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608A015-940F-4BE1-8CE9-6CD4A7CB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harness is everything surrounding the model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53F82D03-BD63-42CB-9773-FD2615FB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Instructions, repository knowledge, memory, and compacted history.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B64FA7B-00D8-4CDD-B28B-90A12D2D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Tools, permissions, planning, and persistent state.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E2DEBE7-3F7D-4A94-97BD-7388E08F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PROOF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Tests, rubrics, review, and acceptance checks.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9C4B4D2-4A81-4F83-BEA3-8535B1EA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Retries, escalation, fallbacks, and clear handoffs.</a:t>
            </a:r>
          </a:p>
        </p:txBody>
      </p:sp>
    </p:spTree>
    <p:extLst>
      <p:ext uri="{BB962C8B-B14F-4D97-AF65-F5344CB8AC3E}">
        <p14:creationId xmlns:p14="http://schemas.microsoft.com/office/powerpoint/2010/main" val="3122608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0026EEE-1722-4813-A944-0A62C3D8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3FB3C33-5974-417C-A452-B35F12C6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models are moving into useful work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F57F1C6-2D32-4A54-9072-7EBAE1F7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GOOD TODAY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Extraction, classification, summaries, routing, routine transformations, and first-pass analysis.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DAF2231-516A-4179-8490-3BBC890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STILL LIMITED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hardest ambiguous, long-horizon, and consequential tasks may need stronger systems.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43E1775B-E4F9-42F0-94F0-0E916761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WHY LOCAL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Control, offline use, data location, predictable availability, and low marginal inference cost.</a:t>
            </a:r>
          </a:p>
        </p:txBody>
      </p:sp>
    </p:spTree>
    <p:extLst>
      <p:ext uri="{BB962C8B-B14F-4D97-AF65-F5344CB8AC3E}">
        <p14:creationId xmlns:p14="http://schemas.microsoft.com/office/powerpoint/2010/main" val="2330049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D31DB7B-5845-45EA-9689-CDED356E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167D41D-7EA9-454E-9215-188AC799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Quantization makes local inference practical—with tradeoffs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AC0B4A38-0338-402C-B330-8B62C1AD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FAD4E3F-6759-4F31-B442-457B42C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A9F66E2-970D-449E-80B7-2479E6A0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6D827A9-47E5-4ED7-AF88-DCC7C1D8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8727F64A-DCC1-4089-9E39-128441A9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Reduced precision can shrink memory requirements enough to run a model on a laptop.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98056792-3EA6-4280-B8C9-3190C8C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8DBF7CEC-50BF-4DB6-9D34-9C52069D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TRADEOFF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Smaller representations may reduce accuracy; the effect depends on model, task, and quantization.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258E523-E8AE-4B9D-8F50-06DF7FF3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F3C6F0A5-6639-443C-9693-06C98DA7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model, quantization, context, hardware, runtime, and settings.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BE939A3D-4806-44DE-9C93-26F5B87E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QUALITY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643B11B8-A98D-45E0-8591-8E71DC7D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MEMORY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E99248D-65F7-45B1-B51B-6B37398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02161070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2951458F-1466-4178-95F0-E84FACB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Name the level of work,
not the model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5771CF5-B0A1-48EE-AB5D-CCEB085E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Roles stay understandable even while model names change.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1B4F558-B615-4F4A-8C04-7A57B6C8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BETTER ABSTRACTION</a:t>
            </a:r>
          </a:p>
        </p:txBody>
      </p:sp>
    </p:spTree>
    <p:extLst>
      <p:ext uri="{BB962C8B-B14F-4D97-AF65-F5344CB8AC3E}">
        <p14:creationId xmlns:p14="http://schemas.microsoft.com/office/powerpoint/2010/main" val="17312788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5E0E100-7C6D-4161-9C91-8BB61D22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D2CD8A35-74A4-458E-BFDC-77B7514E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simple organizational model vocabulary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EBA61DE-1C9F-470D-9481-E9D91190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UTILITY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Formatting, extraction, classification, and tightly bounded transformations.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203711C-8038-4573-B23E-B382686B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WORKHORSE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Routine coding, summaries, documentation, and ordinary analysis.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9606F29-E5F6-4BDF-A0B9-536038E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SPECIALIST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Debugging, review, multi-file work, and domain analysis.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6C205D0-663E-48F5-BB6A-9185959A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DEEP THINKER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Architecture, ambiguity, difficult synthesis,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4554000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B30EABB-B148-4024-B5AE-2903B6F7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D7D1A4E-DCE4-4A37-B0BF-9C4BC1C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Capability, thought, and speed are different questions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D2293108-D09F-4F7D-B1A6-49B22BEE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difficult is the work, and what level of model has passed similar tasks?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C46D8757-5D08-400F-865F-C1F9B2C6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SERVICE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quickly must it respond, and what may the workflow spend?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342589A-A3F2-4A71-81FB-1772E3CE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THOUGHT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How much reasoning effort does this request deserve?</a:t>
            </a:r>
          </a:p>
        </p:txBody>
      </p:sp>
    </p:spTree>
    <p:extLst>
      <p:ext uri="{BB962C8B-B14F-4D97-AF65-F5344CB8AC3E}">
        <p14:creationId xmlns:p14="http://schemas.microsoft.com/office/powerpoint/2010/main" val="160521621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61E17E9-E944-4477-927A-CFBB662F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router asks what level of capability,
thought, speed, cost, and control this task needs.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285FE3D-6CDC-4971-97E5-8A8CA7A3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 ROUTING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6682ABF-C414-405E-B3EC-1E2D3CA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 EMERGING CATEGORY</a:t>
            </a:r>
          </a:p>
        </p:txBody>
      </p:sp>
    </p:spTree>
    <p:extLst>
      <p:ext uri="{BB962C8B-B14F-4D97-AF65-F5344CB8AC3E}">
        <p14:creationId xmlns:p14="http://schemas.microsoft.com/office/powerpoint/2010/main" val="18365722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337B908-85A1-49B6-8777-3C091B4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C8144A5-96FA-4924-A0A7-2EFEC2A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Routing approaches will multiply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FE5F5E4-C5CE-4266-B2F0-EE0E2222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RULES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Known task classes map to explicit organizational policy.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911053F-19B2-4CB9-8AE6-BC03ED05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CLASSIFIERS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Complexity or semantic similarity predicts an appropriate model.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890306F-AE16-4CD5-9B60-6722F19F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CASCADES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 economically, then escalate after low confidence or failure.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4C8AAA3-84A7-4F54-9C85-FBDE1945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AGENTIC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system chooses models, tools, and verification dynamically.</a:t>
            </a:r>
          </a:p>
        </p:txBody>
      </p:sp>
    </p:spTree>
    <p:extLst>
      <p:ext uri="{BB962C8B-B14F-4D97-AF65-F5344CB8AC3E}">
        <p14:creationId xmlns:p14="http://schemas.microsoft.com/office/powerpoint/2010/main" val="81678151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BEA5AB3-A95F-4C92-956E-23511DF6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B067C25-A821-49C8-B461-E2FD3E3D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OpenRouter is an example—not the lesson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069DEB5-57EF-4106-A7B5-DC0D8987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9C05337-3FEF-4AAB-B2A2-48FD385E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AD59AA3F-FD5B-413C-9BC0-4F86E8DB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FA65E60-9A6F-4260-AA9E-F9AB1EE2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10EB16B-6FBD-4400-93BD-DA0E9C4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IS VISIBLE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API can expose many models, with automatic model and provider routing.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96E19B1-911E-4C0E-B6D0-73DBBE4E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0A8D651-95C4-48AB-AD73-075B3E2A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IS TIMELY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Reported acquisition talks signal that routing and inference economics may be strategically valuable.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3A899EC8-862C-4FD1-ACCC-DC10BD66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5864E9F9-8FAC-42F8-816D-44470BBC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COURSE POSITION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 do not use or recommend it. The class remains provider-neutral.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D2A637F3-04C4-4B04-A311-F49A9331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MARKET SIGNAL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DCA5A05E-EC17-4029-8EAC-711D7066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EXAMPLE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F8D25506-7A5E-4CC6-93D7-76809C77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</p:spTree>
    <p:extLst>
      <p:ext uri="{BB962C8B-B14F-4D97-AF65-F5344CB8AC3E}">
        <p14:creationId xmlns:p14="http://schemas.microsoft.com/office/powerpoint/2010/main" val="104567247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CA1DE58A-6F59-4B46-9B45-CF790C37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lab remains the proven model tournament.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F91BBFD-9A65-42FC-BA54-C63E95B6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NOW BUILD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9CEBE3D-4E3C-4AE2-AE2C-1D714644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EXTRA SCOPE</a:t>
            </a:r>
          </a:p>
        </p:txBody>
      </p:sp>
    </p:spTree>
    <p:extLst>
      <p:ext uri="{BB962C8B-B14F-4D97-AF65-F5344CB8AC3E}">
        <p14:creationId xmlns:p14="http://schemas.microsoft.com/office/powerpoint/2010/main" val="84084414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F44E546-2602-45B6-B811-0F40B18F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3C588456-6B6D-40BD-BEC0-251CE0D6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existing lab is already extensive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0B41811-1D91-4174-A6A9-E4F87C23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CONFIGURE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Choose contestants, judges, prompts, repetitions, timeouts, weights, and finalists.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36E9537-5187-4FB6-ACE2-E1E84E88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Pause, resume, subset, and preserve partial results.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309AC5B-7C1E-493A-8B54-A0594791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quality, speed, consistency, and side-by-side ranking.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693C4D8-F8D0-48BA-A561-F17F7729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 raw responses and every judge’s commentary.</a:t>
            </a:r>
          </a:p>
        </p:txBody>
      </p:sp>
    </p:spTree>
    <p:extLst>
      <p:ext uri="{BB962C8B-B14F-4D97-AF65-F5344CB8AC3E}">
        <p14:creationId xmlns:p14="http://schemas.microsoft.com/office/powerpoint/2010/main" val="2026426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D38070A-5F8A-4029-8A5B-F1B3C3C0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E69B323-6053-4D3E-9BEE-8AE8E78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Twenty-one prompts cover four kinds of work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74C325D-FB67-459E-974D-4FB64565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QUICK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Five short tasks test speed and basic competence.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5AD4C865-4B1C-404F-B940-AFCFF546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ANALYST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Ten OrchestratorAI prompts test evidence, challenge, synthesis, and decomposition.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7B32CA4F-AADC-4FFC-A924-C3BF24FD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TOOLS + VISION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Six tasks test function calls, selection, charts, OCR, and UI critique.</a:t>
            </a:r>
          </a:p>
        </p:txBody>
      </p:sp>
    </p:spTree>
    <p:extLst>
      <p:ext uri="{BB962C8B-B14F-4D97-AF65-F5344CB8AC3E}">
        <p14:creationId xmlns:p14="http://schemas.microsoft.com/office/powerpoint/2010/main" val="18914044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2C70D75C-811D-4616-BB14-F491735D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6F9377A-63AE-4530-95EF-C5F0EF58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Repeated runs reveal more than a single score</a:t>
            </a:r>
          </a:p>
        </p:txBody>
      </p:sp>
      <p:cxnSp>
        <p:nvCxnSpPr>
          <p:cNvPr id="27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7521926-C320-4E59-B09F-EF311C9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FCE37E7-4154-4017-AC07-24010D4E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4D5F445-3D67-4349-B480-CB669A65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2AD1E41-3D0C-4439-932D-C711FD40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E6CA8DEE-4DE2-4D47-B226-5B64B5B0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OF 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Shows the model’s observed ceiling on this task.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49830D6-162C-49C6-8FB1-3842B98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931AC3B-447C-4B4E-81BB-3F1D6CB7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AVERAGE OF N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Shows typical performance across the selected runs.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0A34867E-9B26-4316-A433-7E547ED4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BB279C55-F365-4922-A512-6662ED6C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CONSISTENCY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Shows whether a seemingly strong result is dependable.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2C02C111-9FFD-4FED-A0B7-CAFC5E0F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EXPECTATION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3C05DD2-D76A-4C75-8745-B90E96AB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CEILING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1CEC12BB-16AE-49C6-853F-2E0CE82C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4889216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6C204EC-F749-423A-9E4D-20ECCE2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B5A30FE4-B223-43C5-96E6-280ED94B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Round 1 asks four different questions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61BEBBA-7836-4383-89E7-F3C92088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ACCURACY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Are conclusions correct and supported by the supplied data?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6969E07-E132-4503-A64D-16204B5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REASONING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Does the response weigh evidence and alternatives?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B775552-6B8D-445C-A01A-9A242AA7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Did it follow the required format and produce valid output?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5685F91-95AF-4514-9B2B-6853DA57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INSIGHT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Did it surface something useful beyond restating the prompt?</a:t>
            </a:r>
          </a:p>
        </p:txBody>
      </p:sp>
    </p:spTree>
    <p:extLst>
      <p:ext uri="{BB962C8B-B14F-4D97-AF65-F5344CB8AC3E}">
        <p14:creationId xmlns:p14="http://schemas.microsoft.com/office/powerpoint/2010/main" val="162584385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76536F-9635-40D3-B031-E3ED208F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1C08AB8-AF44-4D6B-AB4A-87BE0572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Multiple judges help—but agreement is not truth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C653B79-96CE-4492-A3E8-67D4E061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DIVERSITY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 judges can reduce dependence on one model’s preferences.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487726EE-B8DB-4C26-A5A0-173CA015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disagreements and raw answers before accepting the podium.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40A4AD60-7601-4E3D-AABA-DC68F159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BIAS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Position, verbosity, style, family, and self-preference can still distort scores.</a:t>
            </a:r>
          </a:p>
        </p:txBody>
      </p:sp>
    </p:spTree>
    <p:extLst>
      <p:ext uri="{BB962C8B-B14F-4D97-AF65-F5344CB8AC3E}">
        <p14:creationId xmlns:p14="http://schemas.microsoft.com/office/powerpoint/2010/main" val="185098666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76D7CA5-1107-4EE6-AD61-EA445E3D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65DFE21-A204-44E9-B355-180AD27F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class run has three visible movements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5B66DDF-2873-4019-A27D-BB72F71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2A11A32-9769-4052-9816-B9A58251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31FB69A7-49C6-4FB7-9452-1DD3C21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19BE7D9-50E7-48CB-B06C-4DE6B59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SET UP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DE960C6-EF77-406F-813B-03D3649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50FEC4D-E452-4A0E-8D0D-455EF633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INTERPRET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EC8FD88-4FB5-4DF8-89BF-C2AE12DA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Watch evidence arrive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pause, resume, subsets, and saved state while the dashboard fills.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3138517-5E8F-4282-9424-F45411D3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Configure the field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Ollama, select contestants and judges, choose prompts, and set repetitions.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FC1B482-41BC-40D4-934E-53A9F3DC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 before deciding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raw answers, disagreements, speed, consistency, and Round 2.</a:t>
            </a:r>
          </a:p>
        </p:txBody>
      </p:sp>
    </p:spTree>
    <p:extLst>
      <p:ext uri="{BB962C8B-B14F-4D97-AF65-F5344CB8AC3E}">
        <p14:creationId xmlns:p14="http://schemas.microsoft.com/office/powerpoint/2010/main" val="10998439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4993DBD-1469-4A73-9F02-6B78AB68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8BDAE7D-B907-464C-BC48-13E5B2D2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results to have the larger conversation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4B68E430-7319-4F09-B37B-1E46CDA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WORKHORSE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model is fast and dependable on routine work?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4C2A538-60F4-43A8-84B4-492B3A81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DEEP THINKER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Which difficult tasks justify the strongest result?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0E85960-5F37-4EAF-9527-5995A531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is local already good enough—and where is it not?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7B8C6B8-6293-4DF1-90DC-B545D155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ROUTING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information would a future router need to decide well?</a:t>
            </a:r>
          </a:p>
        </p:txBody>
      </p:sp>
    </p:spTree>
    <p:extLst>
      <p:ext uri="{BB962C8B-B14F-4D97-AF65-F5344CB8AC3E}">
        <p14:creationId xmlns:p14="http://schemas.microsoft.com/office/powerpoint/2010/main" val="42505892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097B6DBA-9601-4FA7-B4CF-2801A100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5D28FC3-92CB-454E-BF46-71BCB01A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Phase 06 closes the improvement loop</a:t>
            </a:r>
          </a:p>
        </p:txBody>
      </p:sp>
      <p:cxnSp>
        <p:nvCxnSpPr>
          <p:cNvPr id="24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28892803-04FC-4F2C-83C1-2793D39B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070A75A-1540-43ED-BE4D-71A5D06F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FE216FB0-698A-43E8-A8D1-5AD94DA5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830A0F7-8094-464B-8A28-108473CF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C6129FF-7E42-4536-B21C-571ADB7B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D665114-278B-4FB2-B67C-ED20DF75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IMPROVE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8B13E3DC-A6C2-4FC5-94CD-F4EC86E9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Choose with evidence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Describe which model fits which job instead of repeating a brand claim.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E9454C0-1CE3-4577-8B4A-7B88C0E7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real work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models against your prompts, criteria, and operating constraints.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B0E7D08-61E9-4163-B97B-A9CC92B5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Feed the system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Improve prompts, memory, skills, guardrails, and the next evaluation.</a:t>
            </a:r>
          </a:p>
        </p:txBody>
      </p:sp>
    </p:spTree>
    <p:extLst>
      <p:ext uri="{BB962C8B-B14F-4D97-AF65-F5344CB8AC3E}">
        <p14:creationId xmlns:p14="http://schemas.microsoft.com/office/powerpoint/2010/main" val="23226973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45348841-18D1-4201-9913-CE3C0406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Evaluate your work.
Choose the level.
Keep learning.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321CB12A-51AF-4CB0-BDEA-3FE82C7E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Winner follows work.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Harness shapes capability.</a:t>
            </a:r>
          </a:p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Routing applies evidence.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B45B681-655C-4CD3-8BFD-3309F3E4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PHASE 06</a:t>
            </a:r>
          </a:p>
        </p:txBody>
      </p:sp>
    </p:spTree>
    <p:extLst>
      <p:ext uri="{BB962C8B-B14F-4D97-AF65-F5344CB8AC3E}">
        <p14:creationId xmlns:p14="http://schemas.microsoft.com/office/powerpoint/2010/main" val="909813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2026-08-06T13:19:42.8240000Z</dcterms:created>
  <dcterms:modified xsi:type="dcterms:W3CDTF">2026-08-06T13:19:42.8240000Z</dcterms:modified>
</coreProperties>
</file>