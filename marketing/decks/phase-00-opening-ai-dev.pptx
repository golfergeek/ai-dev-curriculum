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43c03463594a4a" /><Relationship Type="http://schemas.openxmlformats.org/officeDocument/2006/relationships/extended-properties" Target="/docProps/app.xml" Id="R1f0e061161bf4fd6" /><Relationship Type="http://schemas.openxmlformats.org/officeDocument/2006/relationships/officeDocument" Target="/ppt/presentation.xml" Id="Rba1c46fba57544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54f2a07baf4038"/>
  </p:sldMasterIdLst>
  <p:notesMasterIdLst>
    <p:notesMasterId xmlns:r="http://schemas.openxmlformats.org/officeDocument/2006/relationships" r:id="Rb2807e6fc12e45c7"/>
  </p:notesMasterIdLst>
  <p:sldIdLst>
    <p:sldId xmlns:r="http://schemas.openxmlformats.org/officeDocument/2006/relationships" id="256" r:id="R626fe8fcdb484dc3"/>
    <p:sldId xmlns:r="http://schemas.openxmlformats.org/officeDocument/2006/relationships" id="257" r:id="R6d76c406194545c2"/>
    <p:sldId xmlns:r="http://schemas.openxmlformats.org/officeDocument/2006/relationships" id="258" r:id="R21a9117706b74687"/>
    <p:sldId xmlns:r="http://schemas.openxmlformats.org/officeDocument/2006/relationships" id="259" r:id="R22355ef358704d91"/>
    <p:sldId xmlns:r="http://schemas.openxmlformats.org/officeDocument/2006/relationships" id="260" r:id="R7b133eff774145c4"/>
    <p:sldId xmlns:r="http://schemas.openxmlformats.org/officeDocument/2006/relationships" id="261" r:id="Rec50848dcd004211"/>
    <p:sldId xmlns:r="http://schemas.openxmlformats.org/officeDocument/2006/relationships" id="262" r:id="R76343f76edaf4868"/>
    <p:sldId xmlns:r="http://schemas.openxmlformats.org/officeDocument/2006/relationships" id="263" r:id="Rc764f534aba14005"/>
    <p:sldId xmlns:r="http://schemas.openxmlformats.org/officeDocument/2006/relationships" id="264" r:id="R9fd6734277cd4abc"/>
    <p:sldId xmlns:r="http://schemas.openxmlformats.org/officeDocument/2006/relationships" id="265" r:id="R9818b46ec4f745c6"/>
    <p:sldId xmlns:r="http://schemas.openxmlformats.org/officeDocument/2006/relationships" id="266" r:id="Rb4a1937cf1e842ae"/>
    <p:sldId xmlns:r="http://schemas.openxmlformats.org/officeDocument/2006/relationships" id="267" r:id="R50268dd5a0254455"/>
    <p:sldId xmlns:r="http://schemas.openxmlformats.org/officeDocument/2006/relationships" id="268" r:id="R726dd1a7a8834714"/>
    <p:sldId xmlns:r="http://schemas.openxmlformats.org/officeDocument/2006/relationships" id="269" r:id="R77967a9fdfc44260"/>
    <p:sldId xmlns:r="http://schemas.openxmlformats.org/officeDocument/2006/relationships" id="270" r:id="R5fdbec5ad8e048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a8a4ca1a7e4d1c" /><Relationship Type="http://schemas.openxmlformats.org/officeDocument/2006/relationships/slideMaster" Target="/ppt/slideMasters/slideMaster1.xml" Id="Re854f2a07baf4038" /><Relationship Type="http://schemas.openxmlformats.org/officeDocument/2006/relationships/notesMaster" Target="/ppt/notesMasters/notesMaster1.xml" Id="Rb2807e6fc12e45c7" /><Relationship Type="http://schemas.openxmlformats.org/officeDocument/2006/relationships/presProps" Target="/ppt/presProps.xml" Id="R81f89789eef24164" /><Relationship Type="http://schemas.openxmlformats.org/officeDocument/2006/relationships/tableStyles" Target="/ppt/tableStyles.xml" Id="Rc350b202c5964c5b" /><Relationship Type="http://schemas.openxmlformats.org/officeDocument/2006/relationships/slide" Target="/ppt/slides/slide1.xml" Id="R626fe8fcdb484dc3" /><Relationship Type="http://schemas.openxmlformats.org/officeDocument/2006/relationships/slide" Target="/ppt/slides/slide2.xml" Id="R6d76c406194545c2" /><Relationship Type="http://schemas.openxmlformats.org/officeDocument/2006/relationships/slide" Target="/ppt/slides/slide3.xml" Id="R21a9117706b74687" /><Relationship Type="http://schemas.openxmlformats.org/officeDocument/2006/relationships/slide" Target="/ppt/slides/slide4.xml" Id="R22355ef358704d91" /><Relationship Type="http://schemas.openxmlformats.org/officeDocument/2006/relationships/slide" Target="/ppt/slides/slide5.xml" Id="R7b133eff774145c4" /><Relationship Type="http://schemas.openxmlformats.org/officeDocument/2006/relationships/slide" Target="/ppt/slides/slide6.xml" Id="Rec50848dcd004211" /><Relationship Type="http://schemas.openxmlformats.org/officeDocument/2006/relationships/slide" Target="/ppt/slides/slide7.xml" Id="R76343f76edaf4868" /><Relationship Type="http://schemas.openxmlformats.org/officeDocument/2006/relationships/slide" Target="/ppt/slides/slide8.xml" Id="Rc764f534aba14005" /><Relationship Type="http://schemas.openxmlformats.org/officeDocument/2006/relationships/slide" Target="/ppt/slides/slide9.xml" Id="R9fd6734277cd4abc" /><Relationship Type="http://schemas.openxmlformats.org/officeDocument/2006/relationships/slide" Target="/ppt/slides/slide10.xml" Id="R9818b46ec4f745c6" /><Relationship Type="http://schemas.openxmlformats.org/officeDocument/2006/relationships/slide" Target="/ppt/slides/slide11.xml" Id="Rb4a1937cf1e842ae" /><Relationship Type="http://schemas.openxmlformats.org/officeDocument/2006/relationships/slide" Target="/ppt/slides/slide12.xml" Id="R50268dd5a0254455" /><Relationship Type="http://schemas.openxmlformats.org/officeDocument/2006/relationships/slide" Target="/ppt/slides/slide13.xml" Id="R726dd1a7a8834714" /><Relationship Type="http://schemas.openxmlformats.org/officeDocument/2006/relationships/slide" Target="/ppt/slides/slide14.xml" Id="R77967a9fdfc44260" /><Relationship Type="http://schemas.openxmlformats.org/officeDocument/2006/relationships/slide" Target="/ppt/slides/slide15.xml" Id="R5fdbec5ad8e048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a417058cff46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00d582a748489f" /><Relationship Type="http://schemas.openxmlformats.org/officeDocument/2006/relationships/notesMaster" Target="/ppt/notesMasters/notesMaster1.xml" Id="R5b8c45bcfe424b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dcdcd0c44f419b" /><Relationship Type="http://schemas.openxmlformats.org/officeDocument/2006/relationships/notesMaster" Target="/ppt/notesMasters/notesMaster1.xml" Id="Rc6042d6b90af44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5a55fc43da4f09" /><Relationship Type="http://schemas.openxmlformats.org/officeDocument/2006/relationships/notesMaster" Target="/ppt/notesMasters/notesMaster1.xml" Id="R9adf7b245dc641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59e6cce88f4568" /><Relationship Type="http://schemas.openxmlformats.org/officeDocument/2006/relationships/notesMaster" Target="/ppt/notesMasters/notesMaster1.xml" Id="R15a2528b8d474c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dd941babbc4af0" /><Relationship Type="http://schemas.openxmlformats.org/officeDocument/2006/relationships/notesMaster" Target="/ppt/notesMasters/notesMaster1.xml" Id="R8401f68f4ddf40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b2e4bf2cb742b5" /><Relationship Type="http://schemas.openxmlformats.org/officeDocument/2006/relationships/notesMaster" Target="/ppt/notesMasters/notesMaster1.xml" Id="Ra61145a8d14044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3d9e4faff24558" /><Relationship Type="http://schemas.openxmlformats.org/officeDocument/2006/relationships/notesMaster" Target="/ppt/notesMasters/notesMaster1.xml" Id="R7caf018c6b2f43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363b7439224233" /><Relationship Type="http://schemas.openxmlformats.org/officeDocument/2006/relationships/notesMaster" Target="/ppt/notesMasters/notesMaster1.xml" Id="R1bcb3ee49cda45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790380a91849e8" /><Relationship Type="http://schemas.openxmlformats.org/officeDocument/2006/relationships/notesMaster" Target="/ppt/notesMasters/notesMaster1.xml" Id="R6e291c57527744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70f512476e428c" /><Relationship Type="http://schemas.openxmlformats.org/officeDocument/2006/relationships/notesMaster" Target="/ppt/notesMasters/notesMaster1.xml" Id="Rc6106d83b17f40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466d28668948d4" /><Relationship Type="http://schemas.openxmlformats.org/officeDocument/2006/relationships/notesMaster" Target="/ppt/notesMasters/notesMaster1.xml" Id="R73d181d20b264a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e52df687a547de" /><Relationship Type="http://schemas.openxmlformats.org/officeDocument/2006/relationships/notesMaster" Target="/ppt/notesMasters/notesMaster1.xml" Id="R2e094bc067fc44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b27941b456945b2" /><Relationship Type="http://schemas.openxmlformats.org/officeDocument/2006/relationships/notesMaster" Target="/ppt/notesMasters/notesMaster1.xml" Id="R18cc1e5ff38c46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1023e93db14556" /><Relationship Type="http://schemas.openxmlformats.org/officeDocument/2006/relationships/notesMaster" Target="/ppt/notesMasters/notesMaster1.xml" Id="R1956c8a5370c4a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82b84522ea24923" /><Relationship Type="http://schemas.openxmlformats.org/officeDocument/2006/relationships/notesMaster" Target="/ppt/notesMasters/notesMaster1.xml" Id="R4fbd9167c94047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promise: this is not a tool demo. It is a new software process.</a:t>
            </a:r>
          </a:p>
          <a:p xmlns:a="http://schemas.openxmlformats.org/drawingml/2006/main">
            <a:r>
              <a:t>Frame the discussion before mentioning any specific app or coding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business-history setup.</a:t>
            </a:r>
          </a:p>
          <a:p xmlns:a="http://schemas.openxmlformats.org/drawingml/2006/main">
            <a:r>
              <a:t>The point is not that SaaS goes away; the point is that AI changes when custom software is worth considering.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one of the core lines. Slow down and let it land.</a:t>
            </a:r>
          </a:p>
          <a:p xmlns:a="http://schemas.openxmlformats.org/drawingml/2006/main">
            <a:r>
              <a:t>Tie it to internal tools, workflow automation, dashboards, and line-of-business apps.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sets up the model-versus-harness distinction.</a:t>
            </a:r>
          </a:p>
          <a:p xmlns:a="http://schemas.openxmlformats.org/drawingml/2006/main">
            <a:r>
              <a:t>Emphasize that each step moved humans up a level of abstraction.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terms crisply. Model: reasoning engine. Harness: the operating environment.</a:t>
            </a:r>
          </a:p>
          <a:p xmlns:a="http://schemas.openxmlformats.org/drawingml/2006/main">
            <a:r>
              <a:t>Use Cursor, Claude Code, and Codex as the concrete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key contention.</a:t>
            </a:r>
          </a:p>
          <a:p xmlns:a="http://schemas.openxmlformats.org/drawingml/2006/main">
            <a:r>
              <a:t>Say: we are learning the shape of the next development environment before it is fully packaged.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introduce speed to acceptable confidence.</a:t>
            </a:r>
          </a:p>
          <a:p xmlns:a="http://schemas.openxmlformats.org/drawingml/2006/main">
            <a:r>
              <a:t>Do not imply no review. The point is choosing the proof burden.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to avoid sounding reckless.</a:t>
            </a:r>
          </a:p>
          <a:p xmlns:a="http://schemas.openxmlformats.org/drawingml/2006/main">
            <a:r>
              <a:t>Acknowledge that some domains need much more proof before moving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concept: acceptable time to move on.</a:t>
            </a:r>
          </a:p>
          <a:p xmlns:a="http://schemas.openxmlformats.org/drawingml/2006/main">
            <a:r>
              <a:t>Position it as normal business judgment, not carelessness.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high-assurance instead of serious code.</a:t>
            </a:r>
          </a:p>
          <a:p xmlns:a="http://schemas.openxmlformats.org/drawingml/2006/main">
            <a:r>
              <a:t>This lets you be ambitious without dismissing careful engineering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grounded: say these systems are evidence that evaluation is becoming a core harness capability.</a:t>
            </a:r>
          </a:p>
          <a:p xmlns:a="http://schemas.openxmlformats.org/drawingml/2006/main">
            <a:r>
              <a:t>Do not overclaim perfect review. The point is rate of improvement and scale.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transition from philosophy to course structure.</a:t>
            </a:r>
          </a:p>
          <a:p xmlns:a="http://schemas.openxmlformats.org/drawingml/2006/main">
            <a:r>
              <a:t>Point out that guardrails are integrated into the development flow, not bolted on as a compliance lecture.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linger on every phase. Use this to show that the course architecture is deliberate.</a:t>
            </a:r>
          </a:p>
          <a:p xmlns:a="http://schemas.openxmlformats.org/drawingml/2006/main">
            <a:r>
              <a:t>Point out that build topics and governance topics are interleaved.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sells the practical value of the course.</a:t>
            </a:r>
          </a:p>
          <a:p xmlns:a="http://schemas.openxmlformats.org/drawingml/2006/main">
            <a:r>
              <a:t>Mention that these are small, reviewable documents, not a giant policy binder.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Leave the deck here.</a:t>
            </a:r>
          </a:p>
          <a:p xmlns:a="http://schemas.openxmlformats.org/drawingml/2006/main">
            <a:r>
              <a:t>Open the codebase and intention file. Ask the prediction questions before starting the agent.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96bd7269854b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2387462dd94a5e" /><Relationship Type="http://schemas.openxmlformats.org/officeDocument/2006/relationships/slideLayout" Target="/ppt/slideLayouts/slideLayout1.xml" Id="Rc0973c1b78504d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973c1b78504d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2883c16f74802" /><Relationship Type="http://schemas.openxmlformats.org/officeDocument/2006/relationships/notesSlide" Target="/ppt/notesSlides/notesSlide1.xml" Id="Rdfc2d497640642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c12b150364b41" /><Relationship Type="http://schemas.openxmlformats.org/officeDocument/2006/relationships/notesSlide" Target="/ppt/notesSlides/notesSlide2.xml" Id="R89e4a4eba15040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813b66ec446a5" /><Relationship Type="http://schemas.openxmlformats.org/officeDocument/2006/relationships/notesSlide" Target="/ppt/notesSlides/notesSlide3.xml" Id="R2782bc1556cc4d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ee3ea6ade4a5e" /><Relationship Type="http://schemas.openxmlformats.org/officeDocument/2006/relationships/notesSlide" Target="/ppt/notesSlides/notesSlide4.xml" Id="Rdd42b6e8e8d64e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8e85584044052" /><Relationship Type="http://schemas.openxmlformats.org/officeDocument/2006/relationships/notesSlide" Target="/ppt/notesSlides/notesSlide5.xml" Id="Rf00644c966574f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bf492f2624eb6" /><Relationship Type="http://schemas.openxmlformats.org/officeDocument/2006/relationships/notesSlide" Target="/ppt/notesSlides/notesSlide6.xml" Id="R83de989beddb42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bffc5bd874315" /><Relationship Type="http://schemas.openxmlformats.org/officeDocument/2006/relationships/notesSlide" Target="/ppt/notesSlides/notesSlide7.xml" Id="Rfb0e9752cf0c47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020232efb4352" /><Relationship Type="http://schemas.openxmlformats.org/officeDocument/2006/relationships/notesSlide" Target="/ppt/notesSlides/notesSlide8.xml" Id="Re68898cd9f1b47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e4f0449b54763" /><Relationship Type="http://schemas.openxmlformats.org/officeDocument/2006/relationships/notesSlide" Target="/ppt/notesSlides/notesSlide9.xml" Id="R0b10a17dc0b04e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b0a9112474252" /><Relationship Type="http://schemas.openxmlformats.org/officeDocument/2006/relationships/notesSlide" Target="/ppt/notesSlides/notesSlide10.xml" Id="Rcd9f13a1eea74b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578ba77924436" /><Relationship Type="http://schemas.openxmlformats.org/officeDocument/2006/relationships/notesSlide" Target="/ppt/notesSlides/notesSlide11.xml" Id="Rc15bdd95f2c040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85c834ddc4f7c" /><Relationship Type="http://schemas.openxmlformats.org/officeDocument/2006/relationships/notesSlide" Target="/ppt/notesSlides/notesSlide12.xml" Id="R6819583f3a4149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16cb38ccb4aed" /><Relationship Type="http://schemas.openxmlformats.org/officeDocument/2006/relationships/notesSlide" Target="/ppt/notesSlides/notesSlide13.xml" Id="R92728504dd9f4e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388a2a7cc4f5e" /><Relationship Type="http://schemas.openxmlformats.org/officeDocument/2006/relationships/notesSlide" Target="/ppt/notesSlides/notesSlide14.xml" Id="Rf1b4f5dc00984f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9f33ef80046e0" /><Relationship Type="http://schemas.openxmlformats.org/officeDocument/2006/relationships/notesSlide" Target="/ppt/notesSlides/notesSlide15.xml" Id="R8109486ec66445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6EFDF-20DB-4AF2-B864-764D42FB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790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AI Development Changed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5042E-0E9F-49B3-B6B2-738EA7C5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8191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The Software Equation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9F7A5-5941-4A83-BE61-E578F343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0646C"/>
                </a:solidFill>
              </a:defRPr>
            </a:pPr>
            <a:r>
              <a:rPr sz="1875" b="0">
                <a:solidFill>
                  <a:srgbClr val="60646C"/>
                </a:solidFill>
              </a:rPr>
              <a:t>Phase 00 opening conversation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BF0B9-83A6-4201-B575-297FEB0F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FB29E-F1F4-4B3E-8A6D-9BE54ADD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7524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00000"/>
                </a:solidFill>
              </a:defRPr>
            </a:pPr>
            <a:r>
              <a:rPr sz="2175" b="0">
                <a:solidFill>
                  <a:srgbClr val="000000"/>
                </a:solidFill>
              </a:rPr>
              <a:t>Custom software is becoming fast enough, cheap enough, and verifiable enough to matter again.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7D87F9-3AA5-4E04-B5E8-E6B31374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932108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C4EE93-A399-4152-939C-A38ECD0D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3CF63-D9D7-40CC-906D-59F71D09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For decades, teams chose between fit and speed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AEBE3-B185-410C-B390-7898AE74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21A4C9-0740-4781-AEBC-AD29E4CE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E47A1A-EA34-4CD4-AC1F-F6E1BD1C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Custom software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25D21-2F19-4008-A9E3-22BE40B0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0A4BC-D7FC-4013-9E71-DF7F16B9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Tailored to the business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C2D99-49C4-4312-82AC-62821934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95BC4-386B-4EF2-9B24-2D46EEE4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Slow to fund and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19FF8-6C9B-41CC-94E3-9A9AAC2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7CAFB-3992-4B83-91B0-3C7B9E0D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Expensive to 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A374C-336C-4EDB-96EB-0806CDB4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SaaS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05A3B-3DE4-4FD7-AC46-1E515357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2BC0A-F023-4035-B756-54BA4ADA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Economical and available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F2605-2B1D-4510-A242-B79C0C75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2FC11-DCC5-43B7-9939-0411C970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Generic by design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41E65-6C87-484F-A658-E2EC74E9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182FB-671D-4EF2-8519-CB75DA6B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Workarounds become 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55323C-60A1-4CB6-8D68-20962F2F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946307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4328C-F7EF-47B9-AB20-369CB672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70241-7E90-477F-8920-A1B4F9E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AI changes the custom software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061DB-D052-414D-ADEE-FCB0D5C5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46C"/>
                </a:solidFill>
              </a:defRPr>
            </a:pPr>
            <a:r>
              <a:rPr sz="1725" b="0">
                <a:solidFill>
                  <a:srgbClr val="60646C"/>
                </a:solidFill>
              </a:rPr>
              <a:t>The old penalty for tailoring software is shrinking. That reopens problems SMBs learned to ignore.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5416F-637B-456F-9138-043698C5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EFDEC-8392-410D-9EF2-00E81192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195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Idea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FF0F1-617B-4D54-89EE-EBDAFD5F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00500"/>
            <a:ext cx="857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4137E-94D6-403E-8944-F90769A4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385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C7737-A4BC-410B-A4B8-0E900894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0195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Intention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2FA1B-6285-414F-9458-801614E2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00500"/>
            <a:ext cx="8572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453FE-5CE7-4393-9249-C79A9BAE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63855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F6AF0-96FD-4D5A-8699-90874169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195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Verified slice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47457-34FF-4221-B892-B5A558D3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Prototype safely into development, instead of prototype and rewrite.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DEA68-82EF-4C85-B429-D0A28668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382324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036F1D-755C-4084-B359-80F3A66D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4CFDF-04D0-472C-AECB-F0591611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progression is bigger than autocomplete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63987-4D56-48F2-9BD8-170FC894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B4EA21-51B0-4A57-99C8-8E98FB2B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576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Autocomplete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5C5A3-92B0-48ED-BFD4-32B0D422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finish my 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75EE5-899F-48B5-8D60-CAAC92F1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86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58877-D849-49B3-8204-8F1D08AC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997092-12F5-411E-A3ED-57493F6A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Chat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DF558-5F3E-40B9-8197-2648F5FD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6720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answer my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0C631-FCEA-4E6E-AC8F-C70DB234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886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197E8-9519-4582-9D88-2317B7CE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CA266-1998-479A-A17C-3EC16EE3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576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Agents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537FA4-D676-42AC-8876-9A3CBEE5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26720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plan and execute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18AF1-FD86-4BBF-B6D0-65DDFD3E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86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B364F8-AEF0-4E21-9830-6E25A99D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49F71-424D-4710-87EE-D4B2B454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Harnessed</a:t>
            </a:r>
          </a:p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dev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A4DAE-24D1-4CD2-B818-8F5757F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6720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repo, tools,</a:t>
            </a:r>
          </a:p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5DA32-5924-4E69-8963-F88F8402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8620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4D4393-3757-4711-B180-5F426BCA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0BD54B-9631-42D2-966F-1D188F45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576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AI-native</a:t>
            </a:r>
          </a:p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process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B753C-5FA6-4FCD-A6BC-28309C3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67200"/>
            <a:ext cx="1638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define, build,</a:t>
            </a:r>
          </a:p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CB3C7A-4903-482C-AA89-CD35107C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The scarce skill moves upward: from typing code to operating the system that produces and validates 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241FDC-48D5-4666-9274-9ABA251B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169394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BCD918-185C-4F83-8908-652F9108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2505A-ED96-422D-8102-564A8F7F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They are often arguing against the chat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78ECEB-DFCA-4A2C-83ED-898ADA7A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46C"/>
                </a:solidFill>
              </a:defRPr>
            </a:pPr>
            <a:r>
              <a:rPr sz="1725" b="0">
                <a:solidFill>
                  <a:srgbClr val="60646C"/>
                </a:solidFill>
              </a:rPr>
              <a:t>Modern AI development is not a naked model. It is a model inside a working environment.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55DC0-33F2-498D-BEF2-F884BEAA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3048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0D89E-3C19-4812-A10F-1589BD3C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290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07305-E01A-44DB-BE21-C6790E8D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4812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60646C"/>
                </a:solidFill>
              </a:defRPr>
            </a:pPr>
            <a:r>
              <a:rPr sz="1950" b="0">
                <a:solidFill>
                  <a:srgbClr val="60646C"/>
                </a:solidFill>
              </a:rPr>
              <a:t>Reasoning</a:t>
            </a:r>
          </a:p>
          <a:p xmlns:a="http://schemas.openxmlformats.org/drawingml/2006/main">
            <a:pPr algn="ctr">
              <a:defRPr sz="1950" b="0">
                <a:solidFill>
                  <a:srgbClr val="60646C"/>
                </a:solidFill>
              </a:defRPr>
            </a:pPr>
            <a:r>
              <a:rPr sz="1950" b="0">
                <a:solidFill>
                  <a:srgbClr val="60646C"/>
                </a:solidFill>
              </a:rPr>
              <a:t>writing</a:t>
            </a:r>
          </a:p>
          <a:p xmlns:a="http://schemas.openxmlformats.org/drawingml/2006/main">
            <a:pPr algn="ctr">
              <a:defRPr sz="1950" b="0">
                <a:solidFill>
                  <a:srgbClr val="60646C"/>
                </a:solidFill>
              </a:defRPr>
            </a:pPr>
            <a:r>
              <a:rPr sz="1950" b="0">
                <a:solidFill>
                  <a:srgbClr val="60646C"/>
                </a:solidFill>
              </a:rPr>
              <a:t>critiquing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7E045-AB28-4072-9ECC-F0FA1338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7909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E6D51-5A9F-4904-AF51-AD2ECD82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9875"/>
            <a:ext cx="523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278F3-43DF-46E1-8C88-2BC36885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95625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Harness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68E9C-1308-400B-9A0F-A399C423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48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E2E5D-F415-4883-80AF-5401EA63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48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repo access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17ABC-6F52-42DC-A641-F31A9DA5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29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FC4F6-F996-405B-AAD8-E531612B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terminal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428EA-5734-42B3-B188-CCE76C42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10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E09EA-E084-4B84-A86F-F51BFB99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browser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99E7CE-DA62-4B7A-9A4A-13A4998A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91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C65BB1-4721-4CA8-A25C-04B59F4F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91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49A9D-69D6-4AE4-B56D-1004FDC8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48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7E988F-49EC-4927-AF5E-DF35AA81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48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rules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642241-9116-4203-8E8C-76223813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29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B31D5-849F-4CCA-92F5-63FF38D8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229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memory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07D1C-393F-4E6B-9A5F-41BF2390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10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C6B40-7765-417B-9A3F-94813E42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610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permissions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0EA92-93E8-4349-A93D-834AB107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91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7B85BE-D20E-40EA-A3FA-9E6BCA9A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99110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agents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D17C1-2614-4613-98DD-EB507427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12733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C9018-CEAD-4F7F-B183-7D8502A6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AB19EB-9C20-4193-A0F3-EDCD04C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process we add today becomes the harness tomorrow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164F8-7DB0-4E84-BD03-6C89C478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00000"/>
                </a:solidFill>
              </a:defRPr>
            </a:pPr>
            <a:r>
              <a:rPr sz="3225" b="1">
                <a:solidFill>
                  <a:srgbClr val="000000"/>
                </a:solidFill>
              </a:rPr>
              <a:t>Today we bolt process onto the harness.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4C44B-24D9-4A7E-AD59-7C6BF157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3D8DFF"/>
                </a:solidFill>
              </a:defRPr>
            </a:pPr>
            <a:r>
              <a:rPr sz="3225" b="1">
                <a:solidFill>
                  <a:srgbClr val="3D8DFF"/>
                </a:solidFill>
              </a:rPr>
              <a:t>Tomorrow the harness ships with that process built 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B459A-A7BA-48C5-A21C-92300D89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C7DBB-1EFF-4DBF-A46A-2D1D7E80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PRDs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6489A-1C05-4D11-A034-2432A1CC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38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C011B-736B-456E-A322-ADFBB7A0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plans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792C5-275A-4690-BBB6-810472C3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38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E76C2-7731-4BAC-ACAF-21B6A79F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evals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48E11-F250-4920-9CE4-F49C53FF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38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A5BA9-3821-4E0A-85C2-933F3486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browser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5DF31-9003-4002-9735-1A138038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3865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523A8-80E9-4304-BDDF-63AF39F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code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0033F-ED4B-47A4-8388-8BAFB0B2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911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FC4821-4C06-4BBE-9360-CE859E63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673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3CA0F-A96D-4FBB-A2DB-3D91F09C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911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970B36-BA15-4018-941B-5BA6DAD5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guardrails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7DB2D2-9D6E-4768-AB97-B701ACAB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911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C561E1-C185-422E-AD3D-F16162A5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0673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security scans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3DDE13-55F9-481F-8D52-D78E021A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991100"/>
            <a:ext cx="1676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1E30DB-2485-4068-B1E4-879E18EE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673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cloud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E80CB5-D62D-4F48-85E8-A22786E7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3260402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24C02-240D-4751-9842-4D2FB799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37375-2161-4BAB-A25F-3E86871B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bottleneck moves from production to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DE690-31F6-4156-8074-3201EB30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0CFDE-C32E-439B-8282-FD5E0510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Old bottleneck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CA484-87EE-4412-AA2E-84B3DF5D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814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2410C"/>
                </a:solidFill>
              </a:defRPr>
            </a:pPr>
            <a:r>
              <a:rPr sz="2700" b="1">
                <a:solidFill>
                  <a:srgbClr val="C2410C"/>
                </a:solidFill>
              </a:rPr>
              <a:t>Can we build it?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BC89A-27F4-49DB-825A-47C0FE2F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8000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3D43B-38BB-4F50-8990-487B4DC4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337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New bottleneck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5ADD6-3147-4CA3-A808-ABED2E03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862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Can we trust it enough to move on?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4B389-91CB-42D0-9F24-14DF72FD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62375"/>
            <a:ext cx="8763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E6D4D-07DC-4583-8A41-1BA86FB2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175616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CDDF04-0856-4794-AA2C-3B965BEC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D9D4D-AD6A-4E21-8428-3F4FCA63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new tradeoff is cadence versus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30035-F9AD-4932-9380-23FB99A8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A68B1-4B52-4AD8-9618-2C3FCD87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338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Faster cadence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AB9EF-E7B0-4DA0-88C3-6684B4B7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33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Higher assurance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56BF2-6A99-4649-B6A8-16683027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90950"/>
            <a:ext cx="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9845A2-2846-4AD5-A29C-054157E6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33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prototype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AF008-63A9-4391-901E-9DE9923F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90950"/>
            <a:ext cx="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3456D-6478-425A-9B70-D0B30D35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33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business 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60228D-10B2-4E7A-B173-2100F36A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90950"/>
            <a:ext cx="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5F0D2-D6D8-4ED8-9977-167AD882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333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regulated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CF3AC-8B58-499F-AD2E-0E9A410C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5F90D0-0BF7-48B4-B781-A246AB22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33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life-critical system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651A4-8DFA-4468-BDD3-92605E57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Humans remain essential, but the question changes: where do they create confidence that automation cannot?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B9D1C9-4D6A-4FCC-A595-5A75D6E0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348346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6B5D7-196B-460A-8924-1A1236D4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35777-17DB-403E-B4D4-CB030D30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Business software runs on acceptable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BA8DD-FCB1-4487-974D-A624AAC1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46C"/>
                </a:solidFill>
              </a:defRPr>
            </a:pPr>
            <a:r>
              <a:rPr sz="1725" b="0">
                <a:solidFill>
                  <a:srgbClr val="60646C"/>
                </a:solidFill>
              </a:rPr>
              <a:t>This is not a lower standard. It is practical risk management when recovery is possible and the blast radius is bounded.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71EDC-580D-4B33-91AF-0BABC952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8EB5B-5F3F-473A-9DD4-5E045A6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3375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Does it solve the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9FEA1-944E-43C8-858B-C9C0BFA3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56C18-8C84-4BFF-AA96-C6A23CF7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9095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Is it obviously broken?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84609-90D9-4455-A38D-B8870E05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48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5D230-6225-457F-9E52-8ED7C9B6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4815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Can the team understand it?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34469-89AE-427A-B9EC-579B2EC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2B787-2160-4240-BA2E-A4C4F1A6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0535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Can we recover if something goes wrong?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DF968E-5EF3-4F6F-92E5-3B8EAD1F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625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A3031-5F09-43CE-B1AD-5D3B4A27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62550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Is this an acceptable time to move 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AFDF4-ED86-4008-A8A4-47592595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297502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3E278F-387F-47BA-856B-5B19B7CD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4B695-679E-4F0E-9472-137A8AD1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High-assurance work adopts AI with a higher proof burden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0BD85-288E-476D-9215-C5F07B50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48000"/>
            <a:ext cx="4762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20B6C-6DDD-4F58-9F08-D44CCBB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33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Pragmatic business software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D552A-0B37-409D-96E3-AF6A2DB2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86517-58C5-4145-ADD1-A919C451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052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guardrails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28774-9BBF-424A-A0B2-4CA567F0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29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A7FF9-9443-40F9-B04D-AA197436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automated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7919E-D2B0-46AB-A5B4-45C3E048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529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A4561-2FC1-4FE2-83A7-40FB4D92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529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fast human challenge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A2843-0136-4CE6-A8D1-B0D4517D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3742D-91EB-46CF-99C5-0ED6573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768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bounded blast radius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3157CE-3E05-4D1B-8570-DD58BFC4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48000"/>
            <a:ext cx="4762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5F40E9-3A2C-443B-8F50-681E07B9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337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High-assurance software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808123-335D-47BC-A851-5E46B5BC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05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B37D2-6EE3-4D0E-950F-321EA237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auditability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25038-CB13-421A-9F6A-58A3BE76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29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9859EE-A0EB-48E6-B8EB-DBB75849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formal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341B0-407F-4CF1-B9DD-520854B2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529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A793E9-B920-4B4E-883A-CD147575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529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regulatory process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A89091-B3A6-47B3-8C7C-3AF92528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70D28B-2BED-40B1-B159-9014F504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768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human accountability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AEB848-39BA-46FB-9292-F7072DD0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054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Both paths use AI. They differ in how much proof is required before moving 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593111-A648-4115-9092-E04A04AD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837228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2075D-BBE1-434F-B673-E9BFB728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6C79D-9BB5-4745-9E62-6B5EBD99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AI evaluation is the turning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C6E98-E99C-4406-9D57-664998E8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646C"/>
                </a:solidFill>
              </a:defRPr>
            </a:pPr>
            <a:r>
              <a:rPr sz="1725" b="0">
                <a:solidFill>
                  <a:srgbClr val="60646C"/>
                </a:solidFill>
              </a:rPr>
              <a:t>The strongest argument for slow human-heavy process weakens as harnessed models get better at finding, validating, and fixing issues.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CA2DD-5D54-4288-8A87-DFCAD715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1908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3439-9322-4022-9D22-BDAE9640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433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Mythos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BFFEC-7013-4511-9A28-907B12D5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46C"/>
                </a:solidFill>
              </a:defRPr>
            </a:pPr>
            <a:r>
              <a:rPr sz="1650" b="0">
                <a:solidFill>
                  <a:srgbClr val="60646C"/>
                </a:solidFill>
              </a:rPr>
              <a:t>AI vulnerability discovery at frontier capability.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44B3B-19B6-46EB-95D8-DE5C9FD4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38500"/>
            <a:ext cx="31908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F1C32-9B93-4F91-BF93-59C19862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5433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MDASH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A30DC-EF8C-4F97-9C8A-7D4ED72F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46C"/>
                </a:solidFill>
              </a:defRPr>
            </a:pPr>
            <a:r>
              <a:rPr sz="1650" b="0">
                <a:solidFill>
                  <a:srgbClr val="60646C"/>
                </a:solidFill>
              </a:rPr>
              <a:t>Multi-model agentic scanning around the codebase.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B56D5-F53C-443B-9BA3-E6990552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190875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7948F-4555-4AC2-AF2D-67712828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433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PR review agents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5C0F1C-E773-4910-920F-06481404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646C"/>
                </a:solidFill>
              </a:defRPr>
            </a:pPr>
            <a:r>
              <a:rPr sz="1650" b="0">
                <a:solidFill>
                  <a:srgbClr val="60646C"/>
                </a:solidFill>
              </a:rPr>
              <a:t>Specialized reviewers, confidence scoring, inline findings.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01C8B-8CD5-4A1E-88F9-0634D18B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D70AC-A872-480A-BA26-2F98BE21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646C"/>
                </a:solidFill>
              </a:defRPr>
            </a:pPr>
            <a:r>
              <a:rPr sz="825" b="0">
                <a:solidFill>
                  <a:srgbClr val="60646C"/>
                </a:solidFill>
              </a:rPr>
              <a:t>Sources: Anthropic Mythos research and Project Glasswing; Microsoft Security MDASH; Claude Code and Codex code-review docs.</a:t>
            </a:r>
          </a:p>
        </p:txBody>
      </p:sp>
    </p:spTree>
    <p:extLst>
      <p:ext uri="{BB962C8B-B14F-4D97-AF65-F5344CB8AC3E}">
        <p14:creationId xmlns:p14="http://schemas.microsoft.com/office/powerpoint/2010/main" val="14927485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3A48F-9A6C-4A99-997B-FED314BF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74767-FD04-441E-A23B-52680C75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This course teaches an AI-native development process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4A592-EB18-41BB-8E89-27E747C6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38500"/>
            <a:ext cx="2238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B8567-A594-460E-AE67-24D1E75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43300"/>
            <a:ext cx="1857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Define well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0EEA7-D423-4302-A7CD-5E5F754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057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0646C"/>
                </a:solidFill>
              </a:defRPr>
            </a:pPr>
            <a:r>
              <a:rPr sz="1425" b="0">
                <a:solidFill>
                  <a:srgbClr val="60646C"/>
                </a:solidFill>
              </a:rPr>
              <a:t>intention, PRD,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E26BB-0EE5-466E-BE1C-4E258E22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381000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23B37-4A00-495A-823F-6F5D6ACA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238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00E84-DF2D-4D16-81D7-EEB537B2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43300"/>
            <a:ext cx="1857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Build fast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D6BF8-A8B6-4ED3-B4DB-9EAD1D78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57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0646C"/>
                </a:solidFill>
              </a:defRPr>
            </a:pPr>
            <a:r>
              <a:rPr sz="1425" b="0">
                <a:solidFill>
                  <a:srgbClr val="60646C"/>
                </a:solidFill>
              </a:rPr>
              <a:t>agentic implementation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F6AEF-9BAF-45EC-9CC8-C26800DC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CD24E-8E85-451F-B41A-9EE1396C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38500"/>
            <a:ext cx="2238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0BB59-D230-42EC-8C51-6F42CA45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43300"/>
            <a:ext cx="1857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Verify hard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93305-DF1E-4CFC-ACBE-61864EF4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057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0646C"/>
                </a:solidFill>
              </a:defRPr>
            </a:pPr>
            <a:r>
              <a:rPr sz="1425" b="0">
                <a:solidFill>
                  <a:srgbClr val="60646C"/>
                </a:solidFill>
              </a:rPr>
              <a:t>tests, browser,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3C90D-09A0-4905-B37A-4144B508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81000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9E58E-EC19-4749-B36A-14FEBD58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38500"/>
            <a:ext cx="2238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4DCF85-6015-4B8D-AB1B-132617EA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1857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Decide consciously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DF498A-9647-4BBA-A7DB-2F86176D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57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0646C"/>
                </a:solidFill>
              </a:defRPr>
            </a:pPr>
            <a:r>
              <a:rPr sz="1425" b="0">
                <a:solidFill>
                  <a:srgbClr val="60646C"/>
                </a:solidFill>
              </a:rPr>
              <a:t>human boundaries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1B111-9F57-4698-8521-2ADE11DE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We are not teaching people to trust AI. We are teaching them to operate AI development systems.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AB5EE2-8395-4159-854F-EFF2D1D9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965925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159344-E3A5-4030-9780-1E807CA8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1E08B4-1155-4911-AD06-F142FC12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Each phase adds one capability to the 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1330B-433F-4392-9CD0-FF416B1A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1246D-7665-4542-A1D0-EB957F72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F19277-C5C8-4A2C-A3D6-3549D02C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B0995-D5CB-42D3-B48E-AA9A4094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intention -&gt; PRD -&gt; plan -&gt; build -&gt; verify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21763-1796-4AD1-969E-D4916553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87922-7B94-4DD9-A10C-F4BC876D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7496C0-7A92-48AD-894D-2E286378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384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Real app risk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91B09-3AB8-447C-9780-E4BD8EDD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670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auth, data, secrets, user isolation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FCC8D-1E45-4F44-BB84-8061046EA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D8560-0F1B-463E-A321-D51E9095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EDCFB7-3AC0-44B6-AEB9-6719C8F6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81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Quality gates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19239-D9E8-4AE8-8F2C-676A7D7B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99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review economics, scanners, tests, standards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D5B739-7CC7-4DB1-A425-3D37A869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354985-D399-49B0-9445-DE2EAB7C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BFB26-2C2B-4B85-A996-3FD2D4DE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242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Brownfield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424ED-F97E-43FF-80FC-8048B3C6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528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understand before changing the real repo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E2DA7C-58B4-4674-AC9F-4EDE057C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65833-0868-4D23-AB43-3CC770C5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D30298-CE95-4EBF-A355-7A2B27C0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67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Protocols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73D873-11E9-4E22-A32D-7E049758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9577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agent-to-agent and authorize-before-act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620DE3-FEC8-40F2-BF3D-40901798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CB30FB-0C69-4A8D-BFB9-8459F914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B20CB1-D08B-4F1C-966C-B15D4DC4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Skills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8E8E69-7197-46B2-A3A5-AECC2DA3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387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reusable context as organizational IP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67DB3A-BAD9-4FD5-898C-CD26F558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B5C8D1-FFE9-4A66-ABC1-B1655A7C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E86B04-44E0-4ECB-A9F6-B9C7C90E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53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Evals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02CC02-E3CE-425C-97D3-06F8C1ED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3816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646C"/>
                </a:solidFill>
              </a:defRPr>
            </a:pPr>
            <a:r>
              <a:rPr sz="1575" b="0">
                <a:solidFill>
                  <a:srgbClr val="60646C"/>
                </a:solidFill>
              </a:rPr>
              <a:t>model routing, quality, cost, procurement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C85FF-74B2-42A7-A8AB-54F61C4F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376259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119579-28D0-4BFC-8A99-2A94D6AC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0646C"/>
                </a:solidFill>
              </a:defRPr>
            </a:pPr>
            <a:r>
              <a:rPr sz="1125" b="1">
                <a:solidFill>
                  <a:srgbClr val="60646C"/>
                </a:solidFill>
              </a:rPr>
              <a:t>PHASE 00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F2D929-4E44-4D76-B201-35702049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781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app is the demonstration. The operating model is the deliverable.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7987B-43F0-46C4-BADB-850DD4D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45243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619EE-AB9D-4931-BB17-A4F96126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Built artifacts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0496E-B6C4-4D7C-94A4-C34F7747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57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E02405-25A7-481D-A864-6E9C6DA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76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working product slices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220BC-873C-4031-B133-1B73A586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773A2-A91C-41EA-8A94-1E8C9B7D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624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research reports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B0184-DF8C-4568-A77C-35C56CF3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672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1843E-DA2B-49EF-B0C4-FFDB46AF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672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eval labs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4FF4C-FB98-440C-AF9F-8A17080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720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04302-63DB-4A00-90C4-3545A0E0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72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verified outputs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707E3-8367-4E7C-A451-8367CFE5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52750"/>
            <a:ext cx="45243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65738-FE1A-49B0-86C5-66CF85C3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Team artifacts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94823-F948-4A9A-89B9-4047AA75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100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9D196-8FB7-4DC0-8072-8D5A639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100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harness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74CB7-CA58-4F86-9D8F-3CF9221E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9D2F5-AAA1-4DF6-8073-B5243D3D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767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instruction passport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5739B-C093-44E8-8A51-3C1A4A6F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434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1D0EB-384C-4120-B637-DA56DA74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artifact pipeline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E6E918-A990-4862-8CAE-C4433129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101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3B4743-954F-4EC7-9519-5BDF47BB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101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quality gates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27016C-E308-43E9-85AD-BC27FB25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768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621A69-CE79-460B-9EEA-6B57F023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8768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decision boundaries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2E9E41-8959-4E72-AC7D-559D26F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921374-C90B-41DE-8D1D-1FC371DD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4350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routing and spend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EFF11D-52AC-4046-B926-7C51D916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990093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8B1AB-73CE-46B4-9B77-B2D4BC33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3000"/>
            <a:ext cx="781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000000"/>
                </a:solidFill>
              </a:defRPr>
            </a:pPr>
            <a:r>
              <a:rPr sz="4200" b="1">
                <a:solidFill>
                  <a:srgbClr val="000000"/>
                </a:solidFill>
              </a:rPr>
              <a:t>Now we inspect the intention.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0EA771-A024-48D9-B6B7-B1C2F9BB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60646C"/>
                </a:solidFill>
              </a:defRPr>
            </a:pPr>
            <a:r>
              <a:rPr sz="2325" b="0">
                <a:solidFill>
                  <a:srgbClr val="60646C"/>
                </a:solidFill>
              </a:rPr>
              <a:t>Before the agent builds anything, we predict what the software should become.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851B4-F4C7-454F-9476-5D7C0033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1BFD3-A635-42E3-BBF4-A45418C3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Prediction prompts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E362D-4981-47D1-A014-D3CC6690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14AF3-7260-4F4C-ADFE-336A7F4C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777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What screens should exist?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6487F-B9BF-4F5C-AF84-945F5C1B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DBB71-96A4-403E-90ED-36AC57E7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777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What data will it need?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F20CC-CE45-4183-8FCB-BDE9AC0D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E0A97-98B0-4D8A-9A22-3796ED37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777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Where will the agent cut corners?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081BD-CA97-412A-9EFE-3AE4F22E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77663-76FD-4F80-ACD7-B13780D1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43600"/>
            <a:ext cx="777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How will we know it worked?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6A1CD0-27F3-49D1-AA0C-50EEA8DF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0646C"/>
                </a:solidFill>
              </a:defRPr>
            </a:pPr>
            <a:r>
              <a:rPr sz="975" b="0">
                <a:solidFill>
                  <a:srgbClr val="60646C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892262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2026-07-18T13:03:12.0590000Z</dcterms:created>
  <dcterms:modified xsi:type="dcterms:W3CDTF">2026-07-18T13:03:12.0590000Z</dcterms:modified>
</coreProperties>
</file>