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e02283151743e3" /><Relationship Type="http://schemas.openxmlformats.org/officeDocument/2006/relationships/extended-properties" Target="/docProps/app.xml" Id="R491db531c0684d23" /><Relationship Type="http://schemas.openxmlformats.org/officeDocument/2006/relationships/officeDocument" Target="/ppt/presentation.xml" Id="Re8ced00435b24b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c3dd4cf2394cd2"/>
  </p:sldMasterIdLst>
  <p:notesMasterIdLst>
    <p:notesMasterId xmlns:r="http://schemas.openxmlformats.org/officeDocument/2006/relationships" r:id="Rf93f7a4d421b4e13"/>
  </p:notesMasterIdLst>
  <p:sldIdLst>
    <p:sldId xmlns:r="http://schemas.openxmlformats.org/officeDocument/2006/relationships" id="256" r:id="Rf8bf481d02844602"/>
    <p:sldId xmlns:r="http://schemas.openxmlformats.org/officeDocument/2006/relationships" id="257" r:id="R1c18060758554458"/>
    <p:sldId xmlns:r="http://schemas.openxmlformats.org/officeDocument/2006/relationships" id="258" r:id="R636243495b4b4461"/>
    <p:sldId xmlns:r="http://schemas.openxmlformats.org/officeDocument/2006/relationships" id="259" r:id="R1bfbde4fe4344dd6"/>
    <p:sldId xmlns:r="http://schemas.openxmlformats.org/officeDocument/2006/relationships" id="260" r:id="Rd3d8f95fd1fc4984"/>
    <p:sldId xmlns:r="http://schemas.openxmlformats.org/officeDocument/2006/relationships" id="261" r:id="Rc53a0f3781024e66"/>
    <p:sldId xmlns:r="http://schemas.openxmlformats.org/officeDocument/2006/relationships" id="262" r:id="Rcc49ab8cb49a4907"/>
    <p:sldId xmlns:r="http://schemas.openxmlformats.org/officeDocument/2006/relationships" id="263" r:id="R1e537dc1c1f2423f"/>
    <p:sldId xmlns:r="http://schemas.openxmlformats.org/officeDocument/2006/relationships" id="264" r:id="R441a2e8d88e542b0"/>
    <p:sldId xmlns:r="http://schemas.openxmlformats.org/officeDocument/2006/relationships" id="265" r:id="R0250f9acbb3c443e"/>
    <p:sldId xmlns:r="http://schemas.openxmlformats.org/officeDocument/2006/relationships" id="266" r:id="Rc234d96061d9420c"/>
    <p:sldId xmlns:r="http://schemas.openxmlformats.org/officeDocument/2006/relationships" id="267" r:id="R109fc624888b4188"/>
    <p:sldId xmlns:r="http://schemas.openxmlformats.org/officeDocument/2006/relationships" id="268" r:id="R35a538f599d14b6f"/>
    <p:sldId xmlns:r="http://schemas.openxmlformats.org/officeDocument/2006/relationships" id="269" r:id="R92bdce305964412b"/>
    <p:sldId xmlns:r="http://schemas.openxmlformats.org/officeDocument/2006/relationships" id="270" r:id="Rfe83ecd40c114022"/>
    <p:sldId xmlns:r="http://schemas.openxmlformats.org/officeDocument/2006/relationships" id="271" r:id="R57f5d4655c314d94"/>
    <p:sldId xmlns:r="http://schemas.openxmlformats.org/officeDocument/2006/relationships" id="272" r:id="R40d1a5aa24d4482d"/>
    <p:sldId xmlns:r="http://schemas.openxmlformats.org/officeDocument/2006/relationships" id="273" r:id="R71cbab1aaa7943de"/>
    <p:sldId xmlns:r="http://schemas.openxmlformats.org/officeDocument/2006/relationships" id="274" r:id="R8e8f371e53c042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64bc52829f4d07" /><Relationship Type="http://schemas.openxmlformats.org/officeDocument/2006/relationships/slideMaster" Target="/ppt/slideMasters/slideMaster1.xml" Id="Rf4c3dd4cf2394cd2" /><Relationship Type="http://schemas.openxmlformats.org/officeDocument/2006/relationships/notesMaster" Target="/ppt/notesMasters/notesMaster1.xml" Id="Rf93f7a4d421b4e13" /><Relationship Type="http://schemas.openxmlformats.org/officeDocument/2006/relationships/presProps" Target="/ppt/presProps.xml" Id="R742ce520b82c4570" /><Relationship Type="http://schemas.openxmlformats.org/officeDocument/2006/relationships/viewProps" Target="/ppt/viewProps.xml" Id="R5ac517e6c1c244d3" /><Relationship Type="http://schemas.openxmlformats.org/officeDocument/2006/relationships/tableStyles" Target="/ppt/tableStyles.xml" Id="R9b0de7fd7832465c" /><Relationship Type="http://schemas.openxmlformats.org/officeDocument/2006/relationships/slide" Target="/ppt/slides/slide1.xml" Id="Rf8bf481d02844602" /><Relationship Type="http://schemas.openxmlformats.org/officeDocument/2006/relationships/slide" Target="/ppt/slides/slide2.xml" Id="R1c18060758554458" /><Relationship Type="http://schemas.openxmlformats.org/officeDocument/2006/relationships/slide" Target="/ppt/slides/slide3.xml" Id="R636243495b4b4461" /><Relationship Type="http://schemas.openxmlformats.org/officeDocument/2006/relationships/slide" Target="/ppt/slides/slide4.xml" Id="R1bfbde4fe4344dd6" /><Relationship Type="http://schemas.openxmlformats.org/officeDocument/2006/relationships/slide" Target="/ppt/slides/slide5.xml" Id="Rd3d8f95fd1fc4984" /><Relationship Type="http://schemas.openxmlformats.org/officeDocument/2006/relationships/slide" Target="/ppt/slides/slide6.xml" Id="Rc53a0f3781024e66" /><Relationship Type="http://schemas.openxmlformats.org/officeDocument/2006/relationships/slide" Target="/ppt/slides/slide7.xml" Id="Rcc49ab8cb49a4907" /><Relationship Type="http://schemas.openxmlformats.org/officeDocument/2006/relationships/slide" Target="/ppt/slides/slide8.xml" Id="R1e537dc1c1f2423f" /><Relationship Type="http://schemas.openxmlformats.org/officeDocument/2006/relationships/slide" Target="/ppt/slides/slide9.xml" Id="R441a2e8d88e542b0" /><Relationship Type="http://schemas.openxmlformats.org/officeDocument/2006/relationships/slide" Target="/ppt/slides/slide10.xml" Id="R0250f9acbb3c443e" /><Relationship Type="http://schemas.openxmlformats.org/officeDocument/2006/relationships/slide" Target="/ppt/slides/slide11.xml" Id="Rc234d96061d9420c" /><Relationship Type="http://schemas.openxmlformats.org/officeDocument/2006/relationships/slide" Target="/ppt/slides/slide12.xml" Id="R109fc624888b4188" /><Relationship Type="http://schemas.openxmlformats.org/officeDocument/2006/relationships/slide" Target="/ppt/slides/slide13.xml" Id="R35a538f599d14b6f" /><Relationship Type="http://schemas.openxmlformats.org/officeDocument/2006/relationships/slide" Target="/ppt/slides/slide14.xml" Id="R92bdce305964412b" /><Relationship Type="http://schemas.openxmlformats.org/officeDocument/2006/relationships/slide" Target="/ppt/slides/slide15.xml" Id="Rfe83ecd40c114022" /><Relationship Type="http://schemas.openxmlformats.org/officeDocument/2006/relationships/slide" Target="/ppt/slides/slide16.xml" Id="R57f5d4655c314d94" /><Relationship Type="http://schemas.openxmlformats.org/officeDocument/2006/relationships/slide" Target="/ppt/slides/slide17.xml" Id="R40d1a5aa24d4482d" /><Relationship Type="http://schemas.openxmlformats.org/officeDocument/2006/relationships/slide" Target="/ppt/slides/slide18.xml" Id="R71cbab1aaa7943de" /><Relationship Type="http://schemas.openxmlformats.org/officeDocument/2006/relationships/slide" Target="/ppt/slides/slide19.xml" Id="R8e8f371e53c042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64cd3c908347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0007ae7d3e4017" /><Relationship Type="http://schemas.openxmlformats.org/officeDocument/2006/relationships/notesMaster" Target="/ppt/notesMasters/notesMaster1.xml" Id="R7d16dd6736e34a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f992163c404f37" /><Relationship Type="http://schemas.openxmlformats.org/officeDocument/2006/relationships/notesMaster" Target="/ppt/notesMasters/notesMaster1.xml" Id="R627f84568b314d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b68d0a5c0f4412" /><Relationship Type="http://schemas.openxmlformats.org/officeDocument/2006/relationships/notesMaster" Target="/ppt/notesMasters/notesMaster1.xml" Id="R1e6a96aa61d54d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31aaa101494bb8" /><Relationship Type="http://schemas.openxmlformats.org/officeDocument/2006/relationships/notesMaster" Target="/ppt/notesMasters/notesMaster1.xml" Id="R3882430a85524b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0239b423c04346" /><Relationship Type="http://schemas.openxmlformats.org/officeDocument/2006/relationships/notesMaster" Target="/ppt/notesMasters/notesMaster1.xml" Id="Rbfb80dcab9f04f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977676000f4891" /><Relationship Type="http://schemas.openxmlformats.org/officeDocument/2006/relationships/notesMaster" Target="/ppt/notesMasters/notesMaster1.xml" Id="Re23bf6d66dca48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fcb5a103344826" /><Relationship Type="http://schemas.openxmlformats.org/officeDocument/2006/relationships/notesMaster" Target="/ppt/notesMasters/notesMaster1.xml" Id="R78eac284ae3f44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2d79e6fc9a4026" /><Relationship Type="http://schemas.openxmlformats.org/officeDocument/2006/relationships/notesMaster" Target="/ppt/notesMasters/notesMaster1.xml" Id="Rcfc4e09f757a49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0f5b91d09d46cd" /><Relationship Type="http://schemas.openxmlformats.org/officeDocument/2006/relationships/notesMaster" Target="/ppt/notesMasters/notesMaster1.xml" Id="Rdad230dc86f740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78c8c0319c4f98" /><Relationship Type="http://schemas.openxmlformats.org/officeDocument/2006/relationships/notesMaster" Target="/ppt/notesMasters/notesMaster1.xml" Id="Re0591dd18e6844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0144cde45c4cdd" /><Relationship Type="http://schemas.openxmlformats.org/officeDocument/2006/relationships/notesMaster" Target="/ppt/notesMasters/notesMaster1.xml" Id="R5eb7c510e29448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0c34706a724491" /><Relationship Type="http://schemas.openxmlformats.org/officeDocument/2006/relationships/notesMaster" Target="/ppt/notesMasters/notesMaster1.xml" Id="R2043bf269cda4a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dd89170fdc483f" /><Relationship Type="http://schemas.openxmlformats.org/officeDocument/2006/relationships/notesMaster" Target="/ppt/notesMasters/notesMaster1.xml" Id="Rf4e5680e14aa45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45869d907b4f85" /><Relationship Type="http://schemas.openxmlformats.org/officeDocument/2006/relationships/notesMaster" Target="/ppt/notesMasters/notesMaster1.xml" Id="R1359429ab2b548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5b2ad259424e45" /><Relationship Type="http://schemas.openxmlformats.org/officeDocument/2006/relationships/notesMaster" Target="/ppt/notesMasters/notesMaster1.xml" Id="Raa3112eab5134d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c5b6c22fed480e" /><Relationship Type="http://schemas.openxmlformats.org/officeDocument/2006/relationships/notesMaster" Target="/ppt/notesMasters/notesMaster1.xml" Id="Rd28b1fa2fe4442f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f4581406e74f8c" /><Relationship Type="http://schemas.openxmlformats.org/officeDocument/2006/relationships/notesMaster" Target="/ppt/notesMasters/notesMaster1.xml" Id="R64559a8b4de54f9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706a14512774c0e" /><Relationship Type="http://schemas.openxmlformats.org/officeDocument/2006/relationships/notesMaster" Target="/ppt/notesMasters/notesMaster1.xml" Id="Rf6ac792bcb7f4a6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468cb4c6b794658" /><Relationship Type="http://schemas.openxmlformats.org/officeDocument/2006/relationships/notesMaster" Target="/ppt/notesMasters/notesMaster1.xml" Id="Rf3cefeddc4614b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Land the turn: Phase 00 named the closing bracket; Phase 01 built something real. Today is not a new app — it is proving and understanding what already exists. Generation is cheap now; comprehension and review are the scarce skills. Frame before touching a terminal.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whole phase pivots here. Yesterday 'it compiles' felt like 'it's done'. Generation is abundant; comprehension is the leveraged, scarce skill. A green chat message is not proof; a green CI run is not understanding.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failure classes. The machine-checkable ones are easy; architecture violations are the dangerous ones — tests pass, wiring is wrong. Severity is judgment: why does a security gap outrank a lint warning?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Two pipeline pairs. The scanner reports; you read and judge; then the fixer touches code. Auto-fix without a human reading the report is how you merge comprehension debt faster.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closing bracket is a chain, not one button: scan → read → fix → gate → review → compound. Interactive gates run when a human invokes them; the discipline is reading each report before the next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4× output only becomes 4× value if someone reviewed it. Cite Osmani / DORA directionally — verify exact numbers before teaching. The gap between 'it works' and 'we understand it' is the real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shipping vocabulary precisely. The quality gate is the non-negotiable checklist that blocks a commit until it's clean. Code review — judging correctness, safety, and architecture fit — is the durable human skill, practiced as a process.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 resemble new contractors: capability and confidence vary, and neither a résumé nor a polished answer is proof. Onboard them with the organization's standards, then expand authority only after repeated evidence. Ask what files, tests, history, and observations support every consequential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make every checkpoint pay for the complete evaluation. Run fast changed-file checks at commit, broader checks after push, and the stringent evidence-producing process before human review. The merge gate verifies that every required result applies to the exact commit being merged.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bounded, low-risk, unambiguous failure can be repaired by an agent. Ambiguous business behavior, authorization, architecture, and destructive data changes escalate to a human owner. After any repair, refresh the evidence for the changed commit; serious software may rerun the complete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progression is human inspects everything, AI gathers evidence, AI evaluates and repairs while a human approves, and finally low-risk classes merge autonomously under policy. This is human-on-the-loop governance: people define boundaries, audit outcomes, and handle exceptions instead of repeating mechanical inspection.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compound-interest idea. When /pr-eval finds a new kind of problem, that rule is written into pr-requirements, so every future commit is checked for it. One line beats the same review comment every sprint. Explain why this matters more than any single fix.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pr-requirements lives in the repo — it survives a new hire's laptop. Personal tool memories don't. Who approves org-wide rules is a process question, not a tooling one (adoption kit 04–05, docs/ai-program/).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Ask: what audit trail would you show a customer — a chat log or the GitHub PR? Observability is the diff, the commit message, the test output, and the review — not a green message in the transcript.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Interactive gates only run when invoked; nightly hygiene is the repo immune system. Tier 1 proves build/lint/test on a schedule with no key. Tier 2 opens a maintenance PR — humans still merge. Do not enable Tier 2 in the room without agreed decision boundaries and budget.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moves become the operating model. The point is not blind trust in the pipeline — it's proving and understanding what shipped, and making standards compound so the next ship is harder to get wrong.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interactive chain. Kick it off, then teach while it runs — the scan is fast and the lesson is in the discussion, not the scroll. Read error-report.md and monitor-report.md before /fix-errors or /harden touches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cleaner app is the demonstration; the repeatable discipline is the deliverable. What they carry into every project: the quality chain, the belief that gates are necessary but not sufficient, and observability that lives in diffs, commits, and PRs.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Manufacture the discussion with predict-then-compare. Yesterday's 'done' becomes today's teaching moment. Write guesses on the board, then run the pipeline and compare against the reports. The reflection is the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75635df6774c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8e1a66e3e54e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2e3047e3a548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92076aa1dd4c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b03988ab8240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2f46522e284a6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9b5a24c636432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1d1fe2a97407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374c6c66341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6de1448e8448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b269850a6450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d545ecc2cc402f" /><Relationship Type="http://schemas.openxmlformats.org/officeDocument/2006/relationships/slideLayout" Target="/ppt/slideLayouts/slideLayout1.xml" Id="Re830626c9a384afa" /><Relationship Type="http://schemas.openxmlformats.org/officeDocument/2006/relationships/slideLayout" Target="/ppt/slideLayouts/slideLayout2.xml" Id="R3cd80f5ab3df4d59" /><Relationship Type="http://schemas.openxmlformats.org/officeDocument/2006/relationships/slideLayout" Target="/ppt/slideLayouts/slideLayout3.xml" Id="R1fb8d6839d0a49e4" /><Relationship Type="http://schemas.openxmlformats.org/officeDocument/2006/relationships/slideLayout" Target="/ppt/slideLayouts/slideLayout4.xml" Id="R0189b8157ba04890" /><Relationship Type="http://schemas.openxmlformats.org/officeDocument/2006/relationships/slideLayout" Target="/ppt/slideLayouts/slideLayout5.xml" Id="R608aba294dfd49b8" /><Relationship Type="http://schemas.openxmlformats.org/officeDocument/2006/relationships/slideLayout" Target="/ppt/slideLayouts/slideLayout6.xml" Id="R81e8ca5eb1c049e1" /><Relationship Type="http://schemas.openxmlformats.org/officeDocument/2006/relationships/slideLayout" Target="/ppt/slideLayouts/slideLayout7.xml" Id="Rd8cc3ab18aea48f1" /><Relationship Type="http://schemas.openxmlformats.org/officeDocument/2006/relationships/slideLayout" Target="/ppt/slideLayouts/slideLayout8.xml" Id="R4f3c10a8e767488c" /><Relationship Type="http://schemas.openxmlformats.org/officeDocument/2006/relationships/slideLayout" Target="/ppt/slideLayouts/slideLayout9.xml" Id="Rbed8ead02ad64a1b" /><Relationship Type="http://schemas.openxmlformats.org/officeDocument/2006/relationships/slideLayout" Target="/ppt/slideLayouts/slideLayout10.xml" Id="R972260426ae24c99" /><Relationship Type="http://schemas.openxmlformats.org/officeDocument/2006/relationships/slideLayout" Target="/ppt/slideLayouts/slideLayout11.xml" Id="R328a438189a6443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30626c9a384afa"/>
    <p:sldLayoutId xmlns:r="http://schemas.openxmlformats.org/officeDocument/2006/relationships" id="2147483650" r:id="R3cd80f5ab3df4d59"/>
    <p:sldLayoutId xmlns:r="http://schemas.openxmlformats.org/officeDocument/2006/relationships" id="2147483651" r:id="R1fb8d6839d0a49e4"/>
    <p:sldLayoutId xmlns:r="http://schemas.openxmlformats.org/officeDocument/2006/relationships" id="2147483652" r:id="R0189b8157ba04890"/>
    <p:sldLayoutId xmlns:r="http://schemas.openxmlformats.org/officeDocument/2006/relationships" id="2147483653" r:id="R608aba294dfd49b8"/>
    <p:sldLayoutId xmlns:r="http://schemas.openxmlformats.org/officeDocument/2006/relationships" id="2147483654" r:id="R81e8ca5eb1c049e1"/>
    <p:sldLayoutId xmlns:r="http://schemas.openxmlformats.org/officeDocument/2006/relationships" id="2147483655" r:id="Rd8cc3ab18aea48f1"/>
    <p:sldLayoutId xmlns:r="http://schemas.openxmlformats.org/officeDocument/2006/relationships" id="2147483656" r:id="R4f3c10a8e767488c"/>
    <p:sldLayoutId xmlns:r="http://schemas.openxmlformats.org/officeDocument/2006/relationships" id="2147483657" r:id="Rbed8ead02ad64a1b"/>
    <p:sldLayoutId xmlns:r="http://schemas.openxmlformats.org/officeDocument/2006/relationships" id="2147483658" r:id="R972260426ae24c99"/>
    <p:sldLayoutId xmlns:r="http://schemas.openxmlformats.org/officeDocument/2006/relationships" id="2147483659" r:id="R328a438189a6443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255416ac514658" /><Relationship Type="http://schemas.openxmlformats.org/officeDocument/2006/relationships/notesSlide" Target="/ppt/notesSlides/notesSlide1.xml" Id="R1b3547e6fdb340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827e99a696440f" /><Relationship Type="http://schemas.openxmlformats.org/officeDocument/2006/relationships/notesSlide" Target="/ppt/notesSlides/notesSlide2.xml" Id="R8745eaad532146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e84bef3b1740cf" /><Relationship Type="http://schemas.openxmlformats.org/officeDocument/2006/relationships/notesSlide" Target="/ppt/notesSlides/notesSlide3.xml" Id="Rb0302b8bd6e94b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d1c260480d457f" /><Relationship Type="http://schemas.openxmlformats.org/officeDocument/2006/relationships/notesSlide" Target="/ppt/notesSlides/notesSlide4.xml" Id="Rb571556b7f564c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d9f69298c340df" /><Relationship Type="http://schemas.openxmlformats.org/officeDocument/2006/relationships/notesSlide" Target="/ppt/notesSlides/notesSlide5.xml" Id="R661f0df26fdf4f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70d86887424c3f" /><Relationship Type="http://schemas.openxmlformats.org/officeDocument/2006/relationships/notesSlide" Target="/ppt/notesSlides/notesSlide6.xml" Id="R16ed8e09351444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8286bb415d45dd" /><Relationship Type="http://schemas.openxmlformats.org/officeDocument/2006/relationships/notesSlide" Target="/ppt/notesSlides/notesSlide7.xml" Id="R1facfbeef6bb47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195f6c90cf496c" /><Relationship Type="http://schemas.openxmlformats.org/officeDocument/2006/relationships/notesSlide" Target="/ppt/notesSlides/notesSlide8.xml" Id="R4bb7cc56265847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36006f0d8e41f4" /><Relationship Type="http://schemas.openxmlformats.org/officeDocument/2006/relationships/notesSlide" Target="/ppt/notesSlides/notesSlide9.xml" Id="R710bf8a73a7549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402f851c4e4778" /><Relationship Type="http://schemas.openxmlformats.org/officeDocument/2006/relationships/notesSlide" Target="/ppt/notesSlides/notesSlide10.xml" Id="R51b78872146d40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9e090598b34f8a" /><Relationship Type="http://schemas.openxmlformats.org/officeDocument/2006/relationships/notesSlide" Target="/ppt/notesSlides/notesSlide11.xml" Id="Rd3ba5e7c687249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394d823fa14337" /><Relationship Type="http://schemas.openxmlformats.org/officeDocument/2006/relationships/notesSlide" Target="/ppt/notesSlides/notesSlide12.xml" Id="Rf26d4ec022d84b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395f4f76db45bf" /><Relationship Type="http://schemas.openxmlformats.org/officeDocument/2006/relationships/notesSlide" Target="/ppt/notesSlides/notesSlide13.xml" Id="Rc7adb52165a44c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23d74040da42ef" /><Relationship Type="http://schemas.openxmlformats.org/officeDocument/2006/relationships/notesSlide" Target="/ppt/notesSlides/notesSlide14.xml" Id="Rf57ae08bb5644f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ec63aad3064f24" /><Relationship Type="http://schemas.openxmlformats.org/officeDocument/2006/relationships/notesSlide" Target="/ppt/notesSlides/notesSlide15.xml" Id="Rf75b1a41341647f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f2e0361c494362" /><Relationship Type="http://schemas.openxmlformats.org/officeDocument/2006/relationships/notesSlide" Target="/ppt/notesSlides/notesSlide16.xml" Id="R1fce0a91edb049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669060309144fc" /><Relationship Type="http://schemas.openxmlformats.org/officeDocument/2006/relationships/notesSlide" Target="/ppt/notesSlides/notesSlide17.xml" Id="R639736fc7e2845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17cb861fc34bd9" /><Relationship Type="http://schemas.openxmlformats.org/officeDocument/2006/relationships/notesSlide" Target="/ppt/notesSlides/notesSlide18.xml" Id="R9ff70cb398584e7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371179d8c04762" /><Relationship Type="http://schemas.openxmlformats.org/officeDocument/2006/relationships/notesSlide" Target="/ppt/notesSlides/notesSlide19.xml" Id="R0b89875dff2e4f8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Generation Got Cheap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Review Is the Bottleneck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 engineering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green pipeline is necessary, not sufficient. Someone still has to understand what shipped.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75" b="1"/>
            </a:pPr>
            <a:r>
              <a:rPr sz="337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Phase 01 built it. Phase 02 proves you understand it.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Generation got cheap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Agents write more than you can read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green chat message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4× the output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Comprehension stayed scarce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Reading and judgment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green CI run isn't understanding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review bottleneck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There are three kinds of broken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Build / lint / test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Machine-checkable. It won't compile or a test fails. Scanners find these.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Works, but wired wrong — auth in the wrong layer, secrets in client code. Invisible to tests.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Severity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Not all findings are equal. A security gap outranks a lint warning.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Scanners find only. You judge severity before anything gets fixed.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0B45F1-F22A-49BF-8CAC-22B3F936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1E92-3518-4C3A-8F91-4E5BD804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Scanners find. Fixers fix. Never the same step.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F59D859-B12E-4F4F-A71E-9D818F60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43250"/>
            <a:ext cx="2743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BDD1302-7939-49B9-9B4E-8FDEADCE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43250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/scan-errors</a:t>
            </a:r>
          </a:p>
        </p:txBody>
      </p:sp>
      <p:sp>
        <p:nvSpPr>
          <p:cNvPr id="6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74274385-D43A-4F0E-BBD8-0979BB53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00425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>
            <a:solidFill>
              <a:srgbClr val="3D8D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9F706B2-F9A2-44DF-8ADC-D100393C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43250"/>
            <a:ext cx="2743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B2ACBB-E5C7-45CB-B7C0-B52EE45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43250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/fix-errors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C7AA4BC-A9D1-4F15-A97E-9220D23A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43375"/>
            <a:ext cx="2743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4EB9A70-D56C-45A9-9263-D74A7970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43375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/monitor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C7FFA2C8-6512-46BC-A8C4-69443059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00550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>
            <a:solidFill>
              <a:srgbClr val="3D8D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D5EA37-7B96-405F-86CB-9905F416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43375"/>
            <a:ext cx="2743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76B8E17-AC43-48C1-AE5C-76774919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43375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/harden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4DFADC5-A152-44B0-9A7B-2B0FEB9D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Scanners never change code. That separation is what makes the report trustworthy.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BD7A5F0-B08E-4FEF-AF02-CF121810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67326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closing bracket is a discipline, not a command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Scan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find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judge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Fix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at the root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block if dirty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compound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green pipeline is necessary, not sufficient — someone still has to understand it.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4× the output is not 4× the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Old bottleneck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Can we build it?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Typing code was the constraint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Generation was expensive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New bottleneck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Can anyone understand it?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Reading and judgment are the constraint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Comprehension is expensive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Comprehension debt: when 'it works' and 'we understand it' drift apart.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Ship like a professional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Commit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 checkpoint whose message explains why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Quality gate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build, tests, no violations — blocks until clean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Pull request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changes someone reviews before they join main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Code review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correct? safe? consistent? the durable human skill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Treat every agent like a new contractor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Capability varies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Ability, context, enthusiasm, and reliability vary—even when confidence does not.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Onboard deliberately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Give coding standards, stack, Git, tests, business rules, and decision boundaries.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 progressively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Read → propose → bounded change → broader authority only after evidence.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Confidence is a claim. Evidence earns trust.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Put each check at the right boundary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Edit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seconds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Commit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under 1 min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Push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async checks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 prep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stringent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Merge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current proof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Commit and continue: parallelism reduces waiting, not scrutiny.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800517-047B-4335-931F-0857920D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34003F-2BB1-49B9-988B-09132E6C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failed evaluation starts a repair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FC696D3-DFEB-4A4A-A5B4-8FA252B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CE0F6F9-1E11-4D3A-BEE3-134DD38D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185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Classify failure</a:t>
            </a:r>
          </a:p>
        </p:txBody>
      </p:sp>
      <p:sp>
        <p:nvSpPr>
          <p:cNvPr id="6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159ED15F-98D0-4132-BCB4-D45B04B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67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F64D1B-495B-4A57-84DD-BFFBDE5F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61E2CD-9CFD-4754-B4F9-8BD605B0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18550"/>
            <a:ext cx="179070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Repair or escalate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5BEEE00E-3DCA-415E-9F81-468AAE11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67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22A4AB-0BE0-40FC-A0D0-C6AB5C98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F5259C-C3E1-4D88-8765-5A2179CC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18550"/>
            <a:ext cx="179070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Revalidate commit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87BEC5-EF42-4DCE-82E5-6F2577A1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Rerun the failed check, affected checks, and the final invariant suite.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997A0F-8BAE-438C-B08B-F87FAEC4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86591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Move humans from inspection to oversight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AI gathers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tests, coverage, risk, uncertainty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AI repairs bounded failures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narrow, reversible, no product decision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Humans handle exceptions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ambiguity, policy, and high-risk change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Autonomy is earned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low-risk changes first; audit the outcomes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800517-047B-4335-931F-0857920D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34003F-2BB1-49B9-988B-09132E6C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clever part: standards that compound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FC696D3-DFEB-4A4A-A5B4-8FA252B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CE0F6F9-1E11-4D3A-BEE3-134DD38D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185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Review finds a gap</a:t>
            </a:r>
          </a:p>
        </p:txBody>
      </p:sp>
      <p:sp>
        <p:nvSpPr>
          <p:cNvPr id="6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159ED15F-98D0-4132-BCB4-D45B04B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67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F64D1B-495B-4A57-84DD-BFFBDE5F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61E2CD-9CFD-4754-B4F9-8BD605B0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18550"/>
            <a:ext cx="1790700" cy="4690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/>
            </a:pPr>
            <a:r>
              <a:rPr sz="14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Rule lands in pr-requirements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5BEEE00E-3DCA-415E-9F81-468AAE11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67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22A4AB-0BE0-40FC-A0D0-C6AB5C98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3855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F5259C-C3E1-4D88-8765-5A2179CC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18550"/>
            <a:ext cx="1790700" cy="4443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Every future commit checked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87BEC5-EF42-4DCE-82E5-6F2577A1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bar rises by itself. The same mistake can't pass twice.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997A0F-8BAE-438C-B08B-F87FAEC4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286591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279CBF-FFFC-47F6-9764-1CCAC50D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C84583-3F7B-4CE7-B55A-B8119A90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Committed rules beat personal memory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5CE752-2C56-4B79-AB68-E8F0A8CF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D83C70-21DB-4EA4-86E6-7E94709F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Committed rules (git)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974DFD-7BE7-453E-9524-8232E32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118DD8-926D-47F7-91C3-10400F5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Survive a new hire's laptop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632494-AE0F-4F91-BEC0-629BDBDA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8441E1-9DD7-4276-920D-A6088E92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Team truth, versioned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35A5A1-8449-40BB-A63B-58006785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DBCA9B-7F53-4B84-AD32-95DFA56F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Reviewed like code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8EEC51-53D8-41CF-9F62-C270B0CC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13BD351-8721-4B9C-9215-87306257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Tool Memories (personal)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8ABC7D-E7FC-4918-85A4-13ADC799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5294174-EE77-4EC5-B86D-EA3465A1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Local to one machine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E84ABBF-69B1-4703-BC6F-96F50A57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6DE242D-E522-414A-9CC9-1AD890B6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Not shared with the team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2719D3D-0638-4DEB-809F-09940235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705570C-17E6-45C5-A6BD-3A818433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Lost on reset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890C93C-D7A9-460C-AE13-257AB50B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Team truth lives in git. Personal memory doesn't.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BF159B6-CDBE-46E3-AE96-E26ED16E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9539053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Observability lives in the diff, not the chat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audit trail you'd show a customer is not a green chat message.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Diffs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what actually changed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Commits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why it changed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 output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proof it runs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Pull requests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who reviewed and approved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8BDA0C-B9DC-4586-B08E-D159B9AC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0B451D7-437A-401C-8627-1A6DFD6E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closing bracket runs on a schedule too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A3C6EF-3427-4596-94EA-C31B5259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F2D75C2-396F-458D-ABC0-D5562084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Tier 1 — build · lint · test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B5DDAA-3AD2-4485-8A7A-7D8F50CE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CBDCDA5-FA48-4F06-8178-64E64D41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Runs on a cron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56DA2E-EEE7-48CB-BF4E-DB120A10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27903F-6E1A-43B8-8F7F-C79E24F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 agent API key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09608C-3806-466B-AEE8-4E4A7D1F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11FBD9D-BA43-464F-AC86-0EB64722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Proves the repo still compiles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C4E2443-AF29-4E8C-AA8E-04C9E8C4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6A5AE4-50DB-471C-8B78-5503D47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Tier 2 — scan → fix → monitor → harden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72932D6-23BE-4FF7-B451-8DB88417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295951-675F-4A82-8380-B031D07D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Opens a maintenance PR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F633F28-CC8F-4366-BE09-A93EF5AE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B176E0-DDAD-49F8-83B6-F656DDD1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Humans still merge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5C9A7B7-D47C-4895-B1DB-43E78E1B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B5E7A5-5CEF-4BFE-B1CC-E3DB91D0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Needs boundaries + budget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AC7F080-47F5-49A8-81FC-F7F99FC1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Auto-merge to main is out of scope until your team documents the exception.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7552784-47B6-4B90-97AF-2B515629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6566808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D73F2E-46E2-408D-BED1-B8001F0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35C2869-EFC0-4E1D-8551-EBCB71F2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This phase teaches the closing bracket as a process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B1ACAA-7358-468A-9FB9-9E2515F7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Scan honestly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60E22C-3A4D-4E2C-ACD4-D35546AB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classify before you fix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C0B67F-232B-47D3-A6DC-0147DBD0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Fix at the root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01DD57-9646-4866-B340-53E2DAEF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not whack-a-mole symptoms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6B5C8CD-0BB3-4807-8D1E-1F938540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Gate before ship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3C9ACA-25A5-4367-B30D-852D9AD3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clean, or it doesn't go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F4551C7-0BAA-4109-825B-3814C6D9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Review to compound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8B2D521-40FA-4032-94F4-0CB9FFAA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every gap becomes a rule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A4C6306-8551-483D-AC2C-64B22668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We don't teach people to trust the pipeline. We teach them to prove what shipped.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B977301-8BDC-4E94-AAF9-CB208FF2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7942849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5B7EF6-A4C3-4B83-8678-AAF4638D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1B0D38-0E35-4A47-B51D-C5A507BA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What runs in the lab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9FA3557A-99A9-4BB4-9228-3A65822C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9403E7-164A-4765-8AED-D6324C54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/scan-errors</a:t>
            </a:r>
          </a:p>
        </p:txBody>
      </p:sp>
      <p:sp>
        <p:nvSpPr>
          <p:cNvPr id="6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F0DE41F5-691F-4B28-81D7-3F4F7B1B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33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94784B2-D9A9-4646-B2B4-BFA334F4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CB269BB-6258-4755-B638-446FB89C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/fix-errors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3C1A8400-E746-432D-9918-7C2D9781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162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7578D0-FE3C-431E-B5A2-6872B947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8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04B194E-6227-4652-A7C5-D3A63292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8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/monitor</a:t>
            </a:r>
          </a:p>
        </p:txBody>
      </p:sp>
      <p:sp>
        <p:nvSpPr>
          <p:cNvPr id="12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82F80952-9EE9-4C9B-8E8F-886DC5AD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D433DDC6-947B-4F3F-B9ED-2D42772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21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529FEBF-2CB5-4D4B-93CC-2C1CB15D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21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/harden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B59D8903-9FDE-4D1C-936B-FD5DBC88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812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133E37C-CC50-4A12-A5BA-9D313E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3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4CC2058-4CC7-432A-A951-4DF12AEA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3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/commit pr</a:t>
            </a:r>
          </a:p>
        </p:txBody>
      </p:sp>
      <p:sp>
        <p:nvSpPr>
          <p:cNvPr id="18" name="Right Arrow 17">
            <a:extLst xmlns:a="http://schemas.openxmlformats.org/drawingml/2006/main">
              <a:ext uri="{FF2B5EF4-FFF2-40B4-BE49-F238E27FC236}">
                <a16:creationId xmlns:a16="http://schemas.microsoft.com/office/drawing/2014/main" id="{B44F0DF1-134C-4A46-A992-50552EEF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517076F-803D-4BCA-A9DC-516E586F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86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651F12C-18B7-47F6-AF7B-2BC3EA4D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86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/pr-eval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9A268C1-B1BF-48D0-AF30-8CC52039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Read each report before the fixer runs. Nobody watches the scroll.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C8B6CD-6ECB-4EDC-BC08-FEA7D8E4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0172507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02 QUALITY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app gets cleaner. The discipline is the deliverable.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 the repo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Cleaner Phase 01 app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Error + monitor reports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Stronger pr-requirements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Optional nightly Tier 1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 your head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quality chain before every ship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Gates are necessary, not sufficient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Observability in diffs and PRs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path to org guardrails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Now predict, then run.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Before the scanner runs, guess what will break in the app you were proud of yesterday.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Prediction prompts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lint or type errors are hiding?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will /monitor find that the tests missed?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Which AI-written function can nobody explain?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would you refuse to merge even if CI is green?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2026-08-06T13:17:25.6740000Z</dcterms:created>
  <dcterms:modified xsi:type="dcterms:W3CDTF">2026-08-06T13:17:25.6740000Z</dcterms:modified>
</coreProperties>
</file>