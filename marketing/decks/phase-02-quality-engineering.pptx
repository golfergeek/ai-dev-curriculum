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039766eae442d" /><Relationship Type="http://schemas.openxmlformats.org/officeDocument/2006/relationships/extended-properties" Target="/docProps/app.xml" Id="R62296e454d274f3a" /><Relationship Type="http://schemas.openxmlformats.org/officeDocument/2006/relationships/officeDocument" Target="/ppt/presentation.xml" Id="R1119e2f666634d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079370c084596"/>
  </p:sldMasterIdLst>
  <p:notesMasterIdLst>
    <p:notesMasterId xmlns:r="http://schemas.openxmlformats.org/officeDocument/2006/relationships" r:id="Rf01790fc17354399"/>
  </p:notesMasterIdLst>
  <p:sldIdLst>
    <p:sldId xmlns:r="http://schemas.openxmlformats.org/officeDocument/2006/relationships" id="256" r:id="R7dff66553a6a46b3"/>
    <p:sldId xmlns:r="http://schemas.openxmlformats.org/officeDocument/2006/relationships" id="257" r:id="R74d0e78cdcb941df"/>
    <p:sldId xmlns:r="http://schemas.openxmlformats.org/officeDocument/2006/relationships" id="258" r:id="R26ee56fb10094ecd"/>
    <p:sldId xmlns:r="http://schemas.openxmlformats.org/officeDocument/2006/relationships" id="259" r:id="Radce22e0aa364056"/>
    <p:sldId xmlns:r="http://schemas.openxmlformats.org/officeDocument/2006/relationships" id="260" r:id="R8e854fbac648479b"/>
    <p:sldId xmlns:r="http://schemas.openxmlformats.org/officeDocument/2006/relationships" id="261" r:id="R4e6f331a2c5c4aaa"/>
    <p:sldId xmlns:r="http://schemas.openxmlformats.org/officeDocument/2006/relationships" id="262" r:id="R394220541ddc4e5d"/>
    <p:sldId xmlns:r="http://schemas.openxmlformats.org/officeDocument/2006/relationships" id="263" r:id="R5b6a6312c0da4b0d"/>
    <p:sldId xmlns:r="http://schemas.openxmlformats.org/officeDocument/2006/relationships" id="264" r:id="R2aa703c8a56545d1"/>
    <p:sldId xmlns:r="http://schemas.openxmlformats.org/officeDocument/2006/relationships" id="265" r:id="R17d6c0dbe27f4172"/>
    <p:sldId xmlns:r="http://schemas.openxmlformats.org/officeDocument/2006/relationships" id="266" r:id="R2c21363020444e71"/>
    <p:sldId xmlns:r="http://schemas.openxmlformats.org/officeDocument/2006/relationships" id="267" r:id="Rb00e2e76b72b4047"/>
    <p:sldId xmlns:r="http://schemas.openxmlformats.org/officeDocument/2006/relationships" id="268" r:id="R2610170581794479"/>
    <p:sldId xmlns:r="http://schemas.openxmlformats.org/officeDocument/2006/relationships" id="269" r:id="R0727b1a26c304fa1"/>
    <p:sldId xmlns:r="http://schemas.openxmlformats.org/officeDocument/2006/relationships" id="270" r:id="Rd827cdd087bd4bae"/>
    <p:sldId xmlns:r="http://schemas.openxmlformats.org/officeDocument/2006/relationships" id="271" r:id="R4f78dd9d63dd4391"/>
    <p:sldId xmlns:r="http://schemas.openxmlformats.org/officeDocument/2006/relationships" id="272" r:id="R0947ec912af74684"/>
    <p:sldId xmlns:r="http://schemas.openxmlformats.org/officeDocument/2006/relationships" id="273" r:id="R2e48fe4fad27489e"/>
    <p:sldId xmlns:r="http://schemas.openxmlformats.org/officeDocument/2006/relationships" id="274" r:id="R26d528c1437d4b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50decd53a40a6" /><Relationship Type="http://schemas.openxmlformats.org/officeDocument/2006/relationships/slideMaster" Target="/ppt/slideMasters/slideMaster1.xml" Id="R30a079370c084596" /><Relationship Type="http://schemas.openxmlformats.org/officeDocument/2006/relationships/notesMaster" Target="/ppt/notesMasters/notesMaster1.xml" Id="Rf01790fc17354399" /><Relationship Type="http://schemas.openxmlformats.org/officeDocument/2006/relationships/presProps" Target="/ppt/presProps.xml" Id="Ra16be14fbcb04bef" /><Relationship Type="http://schemas.openxmlformats.org/officeDocument/2006/relationships/viewProps" Target="/ppt/viewProps.xml" Id="Ra1c2f2748b62425c" /><Relationship Type="http://schemas.openxmlformats.org/officeDocument/2006/relationships/tableStyles" Target="/ppt/tableStyles.xml" Id="R20db4b4774ef44e9" /><Relationship Type="http://schemas.openxmlformats.org/officeDocument/2006/relationships/slide" Target="/ppt/slides/slide1.xml" Id="R7dff66553a6a46b3" /><Relationship Type="http://schemas.openxmlformats.org/officeDocument/2006/relationships/slide" Target="/ppt/slides/slide2.xml" Id="R74d0e78cdcb941df" /><Relationship Type="http://schemas.openxmlformats.org/officeDocument/2006/relationships/slide" Target="/ppt/slides/slide3.xml" Id="R26ee56fb10094ecd" /><Relationship Type="http://schemas.openxmlformats.org/officeDocument/2006/relationships/slide" Target="/ppt/slides/slide4.xml" Id="Radce22e0aa364056" /><Relationship Type="http://schemas.openxmlformats.org/officeDocument/2006/relationships/slide" Target="/ppt/slides/slide5.xml" Id="R8e854fbac648479b" /><Relationship Type="http://schemas.openxmlformats.org/officeDocument/2006/relationships/slide" Target="/ppt/slides/slide6.xml" Id="R4e6f331a2c5c4aaa" /><Relationship Type="http://schemas.openxmlformats.org/officeDocument/2006/relationships/slide" Target="/ppt/slides/slide7.xml" Id="R394220541ddc4e5d" /><Relationship Type="http://schemas.openxmlformats.org/officeDocument/2006/relationships/slide" Target="/ppt/slides/slide8.xml" Id="R5b6a6312c0da4b0d" /><Relationship Type="http://schemas.openxmlformats.org/officeDocument/2006/relationships/slide" Target="/ppt/slides/slide9.xml" Id="R2aa703c8a56545d1" /><Relationship Type="http://schemas.openxmlformats.org/officeDocument/2006/relationships/slide" Target="/ppt/slides/slide10.xml" Id="R17d6c0dbe27f4172" /><Relationship Type="http://schemas.openxmlformats.org/officeDocument/2006/relationships/slide" Target="/ppt/slides/slide11.xml" Id="R2c21363020444e71" /><Relationship Type="http://schemas.openxmlformats.org/officeDocument/2006/relationships/slide" Target="/ppt/slides/slide12.xml" Id="Rb00e2e76b72b4047" /><Relationship Type="http://schemas.openxmlformats.org/officeDocument/2006/relationships/slide" Target="/ppt/slides/slide13.xml" Id="R2610170581794479" /><Relationship Type="http://schemas.openxmlformats.org/officeDocument/2006/relationships/slide" Target="/ppt/slides/slide14.xml" Id="R0727b1a26c304fa1" /><Relationship Type="http://schemas.openxmlformats.org/officeDocument/2006/relationships/slide" Target="/ppt/slides/slide15.xml" Id="Rd827cdd087bd4bae" /><Relationship Type="http://schemas.openxmlformats.org/officeDocument/2006/relationships/slide" Target="/ppt/slides/slide16.xml" Id="R4f78dd9d63dd4391" /><Relationship Type="http://schemas.openxmlformats.org/officeDocument/2006/relationships/slide" Target="/ppt/slides/slide17.xml" Id="R0947ec912af74684" /><Relationship Type="http://schemas.openxmlformats.org/officeDocument/2006/relationships/slide" Target="/ppt/slides/slide18.xml" Id="R2e48fe4fad27489e" /><Relationship Type="http://schemas.openxmlformats.org/officeDocument/2006/relationships/slide" Target="/ppt/slides/slide19.xml" Id="R26d528c1437d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fd9a42b48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b80e90fe94a0d" /><Relationship Type="http://schemas.openxmlformats.org/officeDocument/2006/relationships/notesMaster" Target="/ppt/notesMasters/notesMaster1.xml" Id="Re37c0f5b44334c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1cf3ef57e34971" /><Relationship Type="http://schemas.openxmlformats.org/officeDocument/2006/relationships/notesMaster" Target="/ppt/notesMasters/notesMaster1.xml" Id="Rea2db242aea94d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e7672981a94d25" /><Relationship Type="http://schemas.openxmlformats.org/officeDocument/2006/relationships/notesMaster" Target="/ppt/notesMasters/notesMaster1.xml" Id="R46de12e2e2e5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9533e6bf54b35" /><Relationship Type="http://schemas.openxmlformats.org/officeDocument/2006/relationships/notesMaster" Target="/ppt/notesMasters/notesMaster1.xml" Id="R97212d986829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fa1baac484ec7" /><Relationship Type="http://schemas.openxmlformats.org/officeDocument/2006/relationships/notesMaster" Target="/ppt/notesMasters/notesMaster1.xml" Id="R73ff0282097f4e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649a3c74ed42f9" /><Relationship Type="http://schemas.openxmlformats.org/officeDocument/2006/relationships/notesMaster" Target="/ppt/notesMasters/notesMaster1.xml" Id="Rdb8856d950414e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abb7a95c974273" /><Relationship Type="http://schemas.openxmlformats.org/officeDocument/2006/relationships/notesMaster" Target="/ppt/notesMasters/notesMaster1.xml" Id="Rbd7ea018340c42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302a92ea34f4f" /><Relationship Type="http://schemas.openxmlformats.org/officeDocument/2006/relationships/notesMaster" Target="/ppt/notesMasters/notesMaster1.xml" Id="Re1e479e886894c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c3820d9219473e" /><Relationship Type="http://schemas.openxmlformats.org/officeDocument/2006/relationships/notesMaster" Target="/ppt/notesMasters/notesMaster1.xml" Id="R37ad433832af4f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c811d745f4bd2" /><Relationship Type="http://schemas.openxmlformats.org/officeDocument/2006/relationships/notesMaster" Target="/ppt/notesMasters/notesMaster1.xml" Id="Ra2ea72a9429341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2b6a6d44004ced" /><Relationship Type="http://schemas.openxmlformats.org/officeDocument/2006/relationships/notesMaster" Target="/ppt/notesMasters/notesMaster1.xml" Id="R69ae71a01aed4c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2f03e4659f4111" /><Relationship Type="http://schemas.openxmlformats.org/officeDocument/2006/relationships/notesMaster" Target="/ppt/notesMasters/notesMaster1.xml" Id="R803bba086a424d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79273ddef44873" /><Relationship Type="http://schemas.openxmlformats.org/officeDocument/2006/relationships/notesMaster" Target="/ppt/notesMasters/notesMaster1.xml" Id="R3a52df9817c44e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3dde455b7149d9" /><Relationship Type="http://schemas.openxmlformats.org/officeDocument/2006/relationships/notesMaster" Target="/ppt/notesMasters/notesMaster1.xml" Id="Rd08a9ec22e394b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047d27bc344937" /><Relationship Type="http://schemas.openxmlformats.org/officeDocument/2006/relationships/notesMaster" Target="/ppt/notesMasters/notesMaster1.xml" Id="Rc7652cf9f07f4d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d1761fad964727" /><Relationship Type="http://schemas.openxmlformats.org/officeDocument/2006/relationships/notesMaster" Target="/ppt/notesMasters/notesMaster1.xml" Id="R9d4257b870b84b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14614b98b6465d" /><Relationship Type="http://schemas.openxmlformats.org/officeDocument/2006/relationships/notesMaster" Target="/ppt/notesMasters/notesMaster1.xml" Id="R15c1ec3031f94b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570674239b4cc1" /><Relationship Type="http://schemas.openxmlformats.org/officeDocument/2006/relationships/notesMaster" Target="/ppt/notesMasters/notesMaster1.xml" Id="Re0018933d3d84f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d7194d6305448e" /><Relationship Type="http://schemas.openxmlformats.org/officeDocument/2006/relationships/notesMaster" Target="/ppt/notesMasters/notesMaster1.xml" Id="R66640fcbf30b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 the turn: Phase 00 named the closing bracket; Phase 01 built something real. Today is not a new app — it is proving and understanding what already exists. Generation is cheap now; comprehension and review are the scarce skills. Frame before touching a terminal.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whole phase pivots here. Yesterday 'it compiles' felt like 'it's done'. Generation is abundant; comprehension is the leveraged, scarce skill. A green chat message is not proof; a green CI run is not understanding.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failure classes. The machine-checkable ones are easy; architecture violations are the dangerous ones — tests pass, wiring is wrong. Severity is judgment: why does a security gap outrank a lint warning?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pipeline pairs. The scanner reports; you read and judge; then the fixer touches code. Auto-fix without a human reading the report is how you merge comprehension debt faster.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closing bracket is a chain, not one button: scan → read → fix → gate → review → compound. Interactive gates run when a human invokes them; the discipline is reading each report before the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4× output only becomes 4× value if someone reviewed it. Cite Osmani / DORA directionally — verify exact numbers before teaching. The gap between 'it works' and 'we understand it' is the real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shipping vocabulary precisely. The quality gate is the non-negotiable checklist that blocks a commit until it's clean. Code review — judging correctness, safety, and architecture fit — is the durable human skill, practiced as a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 resemble new contractors: capability and confidence vary, and neither a résumé nor a polished answer is proof. Onboard them with the organization's standards, then expand authority only after repeated evidence. Ask what files, tests, history, and observations support every consequential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make every checkpoint pay for the complete evaluation. Run fast changed-file checks at commit, broader checks after push, and the stringent evidence-producing process before human review. The merge gate verifies that every required result applies to the exact commit being merged.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bounded, low-risk, unambiguous failure can be repaired by an agent. Ambiguous business behavior, authorization, architecture, and destructive data changes escalate to a human owner. After any repair, refresh the evidence for the changed commit; serious software may rerun the complete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progression is human inspects everything, AI gathers evidence, AI evaluates and repairs while a human approves, and finally low-risk classes merge autonomously under policy. This is human-on-the-loop governance: people define boundaries, audit outcomes, and handle exceptions instead of repeating mechanical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compound-interest idea. When /pr-eval finds a new kind of problem, that rule is written into pr-requirements, so every future commit is checked for it. One line beats the same review comment every sprint. Explain why this matters more than any single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pr-requirements lives in the repo — it survives a new hire's laptop. Personal tool memories don't. Who approves org-wide rules is a process question, not a tooling one (adoption kit 04–05, docs/ai-program/).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what audit trail would you show a customer — a chat log or the GitHub PR? Observability is the diff, the commit message, the test output, and the review — not a green message in the transcript.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gates only run when invoked; nightly hygiene is the repo immune system. Tier 1 proves build/lint/test on a schedule with no key. Tier 2 opens a maintenance PR — humans still merge. Do not enable Tier 2 in the room without agreed decision boundaries and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moves become the operating model. The point is not blind trust in the pipeline — it's proving and understanding what shipped, and making standards compound so the next ship is harder to get wrong.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interactive chain. Kick it off, then teach while it runs — the scan is fast and the lesson is in the discussion, not the scroll. Read error-report.md and monitor-report.md before /fix-errors or /harden touches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cleaner app is the demonstration; the repeatable discipline is the deliverable. What they carry into every project: the quality chain, the belief that gates are necessary but not sufficient, and observability that lives in diffs, commits, and PRs.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Manufacture the discussion with predict-then-compare. Yesterday's 'done' becomes today's teaching moment. Write guesses on the board, then run the pipeline and compare against the reports. The reflection is the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742acb77540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cf437557a44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e6d2b216543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74e490c9640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9cd3816484a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fcd08c44d43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0bc30464342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dd02bc52248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9d92fde1741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e3de3b8a548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162abd6ef444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66ED5-5EA4-4351-AAEF-28B3444C2D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FB35226-7D4A-4AC1-B04C-467D25BED0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8D92C5-8743-4321-AADF-AA47A4A670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38B896-E3B6-4217-80FF-E3A09A221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DDDE1-8E65-411B-BA80-18A621392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2CE1D9-515A-4EC4-9CBD-4D04F825A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0FD2B2-ED59-41F9-9AFF-36766BAC94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98CB91-97A0-49E9-9E9B-6F9390519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C184A2-BD01-41E7-ACDA-C3C22F47CF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9BFC32-DC90-4462-A707-DDA21DFE00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CD49A-1605-4505-8B6A-2807F0609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C8DA8-5BB4-4C89-BFE1-CFA35F6B3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34D2CF-5978-4792-BD71-546F647E02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8B2FF0-2F8E-4EAB-A68C-E9F06B9C8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E411C2-E6BF-4F97-B0E5-E3AD59768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90CDBF-52D0-4705-98DD-E5F6D77D0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9F5CAB-B5E4-4B9F-AD32-B773118E31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0EB05A-840F-4E98-B366-16F15A8DA3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CF6EEC5-F350-45DC-A015-16D7CF64BA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407C25-D0F1-465C-BC86-6257ED6D9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2F1C7D-FF27-47FB-B77F-62C8BCDC90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3738EC-0FC7-463B-9987-35654CE5F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D12A41-81FD-451A-84E9-59A6D0762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03D7474-EBD7-4AC1-A218-94B463E3D5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22B64F-023F-45A6-980F-B2B6099E6EE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A2B339-F0F7-44CB-BEF2-D25307D4A7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59FEB9E-9D7C-42F8-BAA4-9A3ED2ABB6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DA8A412-48F7-4862-98FC-40A2269B34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B484D89-3F44-439D-A705-8FF9D43CB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2728-0047-4738-84E3-7854EAE9B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6B506B-A866-45F3-B62F-C55AF0C233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03FEBFE-4C9F-4158-A36E-CF88150FB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BA7CC41-A6E2-40BE-A123-3FA1939B8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D72295-06A6-4ACF-AF62-9054B25C5B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E148E6-D096-4F81-A8EE-DA3E1F59B0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E84D2E-7CA1-49C9-84C2-0F77B4F6F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6F25DC-FF0A-486A-8889-D69E1D536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4EBC5A-AFCD-435C-AA39-2CC9AAAC1E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A67298-FCB8-48C2-8776-B45D98A4F1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64FA38-7C5B-4AFE-9B13-26A7C59574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2EDB11-E59F-490A-92C0-3E84681592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40C0EA-EDDA-491B-9876-1C57084F6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4E41A6-BE11-4CBF-B2F0-003BB8B7F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5AC807-E97F-4E77-9445-51D4B0FD6B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7C9BC9-B896-4375-9850-C66D190A32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7B465B-0AC5-4F1C-9EC6-1E6947364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9BD5430-DB36-411E-804E-6635A302F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95A352-0D07-499F-95AE-B2546A256C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EACF2B-5A44-4B5A-ADB4-60B87B7AF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F40783-FD83-4868-B410-73255E1CF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162D6F-2838-424C-B3A5-9606623A1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955218-6E4F-4783-91F2-3CFD30ED2F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E8E674-7087-41CA-A8A6-19D8C27DC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52557FB-82D1-4A3B-B9F4-3844CC7FD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EE512D-5C32-488F-BF1C-3A739F3F0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DA4D74-410C-438B-9FD4-723AA6C2B3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8BDD6B-2672-4F16-8BA1-4EC0BC8653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7BACB1-4245-4CC7-AA89-6915D752C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da4007fe224e8e" /><Relationship Type="http://schemas.openxmlformats.org/officeDocument/2006/relationships/slideLayout" Target="/ppt/slideLayouts/slideLayout1.xml" Id="R424f7f3e330b4a83" /><Relationship Type="http://schemas.openxmlformats.org/officeDocument/2006/relationships/slideLayout" Target="/ppt/slideLayouts/slideLayout2.xml" Id="R598fb1941cb3436a" /><Relationship Type="http://schemas.openxmlformats.org/officeDocument/2006/relationships/slideLayout" Target="/ppt/slideLayouts/slideLayout3.xml" Id="R741bf9da32824afb" /><Relationship Type="http://schemas.openxmlformats.org/officeDocument/2006/relationships/slideLayout" Target="/ppt/slideLayouts/slideLayout4.xml" Id="R5e0fd860781044d6" /><Relationship Type="http://schemas.openxmlformats.org/officeDocument/2006/relationships/slideLayout" Target="/ppt/slideLayouts/slideLayout5.xml" Id="Re577134c4dce414f" /><Relationship Type="http://schemas.openxmlformats.org/officeDocument/2006/relationships/slideLayout" Target="/ppt/slideLayouts/slideLayout6.xml" Id="R3494143900e4401a" /><Relationship Type="http://schemas.openxmlformats.org/officeDocument/2006/relationships/slideLayout" Target="/ppt/slideLayouts/slideLayout7.xml" Id="Re947e04267b14489" /><Relationship Type="http://schemas.openxmlformats.org/officeDocument/2006/relationships/slideLayout" Target="/ppt/slideLayouts/slideLayout8.xml" Id="Rfc45f316cf67444d" /><Relationship Type="http://schemas.openxmlformats.org/officeDocument/2006/relationships/slideLayout" Target="/ppt/slideLayouts/slideLayout9.xml" Id="R6220512644fa4167" /><Relationship Type="http://schemas.openxmlformats.org/officeDocument/2006/relationships/slideLayout" Target="/ppt/slideLayouts/slideLayout10.xml" Id="R00289ac3ed1941df" /><Relationship Type="http://schemas.openxmlformats.org/officeDocument/2006/relationships/slideLayout" Target="/ppt/slideLayouts/slideLayout11.xml" Id="Re1ca201c61fe46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C4BB7E-9529-4984-8F99-B61B3046A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5FD18-6B8F-43D5-B54F-5BB583295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F543DB-9511-479A-BC79-698E863386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11118-513A-44EC-9B6E-FF50728550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F268-63CA-43D5-B9B7-B263B157FE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4f7f3e330b4a83"/>
    <p:sldLayoutId xmlns:r="http://schemas.openxmlformats.org/officeDocument/2006/relationships" id="2147483650" r:id="R598fb1941cb3436a"/>
    <p:sldLayoutId xmlns:r="http://schemas.openxmlformats.org/officeDocument/2006/relationships" id="2147483651" r:id="R741bf9da32824afb"/>
    <p:sldLayoutId xmlns:r="http://schemas.openxmlformats.org/officeDocument/2006/relationships" id="2147483652" r:id="R5e0fd860781044d6"/>
    <p:sldLayoutId xmlns:r="http://schemas.openxmlformats.org/officeDocument/2006/relationships" id="2147483653" r:id="Re577134c4dce414f"/>
    <p:sldLayoutId xmlns:r="http://schemas.openxmlformats.org/officeDocument/2006/relationships" id="2147483654" r:id="R3494143900e4401a"/>
    <p:sldLayoutId xmlns:r="http://schemas.openxmlformats.org/officeDocument/2006/relationships" id="2147483655" r:id="Re947e04267b14489"/>
    <p:sldLayoutId xmlns:r="http://schemas.openxmlformats.org/officeDocument/2006/relationships" id="2147483656" r:id="Rfc45f316cf67444d"/>
    <p:sldLayoutId xmlns:r="http://schemas.openxmlformats.org/officeDocument/2006/relationships" id="2147483657" r:id="R6220512644fa4167"/>
    <p:sldLayoutId xmlns:r="http://schemas.openxmlformats.org/officeDocument/2006/relationships" id="2147483658" r:id="R00289ac3ed1941df"/>
    <p:sldLayoutId xmlns:r="http://schemas.openxmlformats.org/officeDocument/2006/relationships" id="2147483659" r:id="Re1ca201c61fe463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b120aee30443fc" /><Relationship Type="http://schemas.openxmlformats.org/officeDocument/2006/relationships/notesSlide" Target="/ppt/notesSlides/notesSlide1.xml" Id="R36059c1fab8b41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8dce1edab14740" /><Relationship Type="http://schemas.openxmlformats.org/officeDocument/2006/relationships/notesSlide" Target="/ppt/notesSlides/notesSlide2.xml" Id="R977849376d6343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a5fac5c4db4a2f" /><Relationship Type="http://schemas.openxmlformats.org/officeDocument/2006/relationships/notesSlide" Target="/ppt/notesSlides/notesSlide3.xml" Id="R0c9e9ffdd0784e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354363f51e4c01" /><Relationship Type="http://schemas.openxmlformats.org/officeDocument/2006/relationships/notesSlide" Target="/ppt/notesSlides/notesSlide4.xml" Id="R48e0280379bc4b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6ffa5593db4ff8" /><Relationship Type="http://schemas.openxmlformats.org/officeDocument/2006/relationships/notesSlide" Target="/ppt/notesSlides/notesSlide5.xml" Id="R0ae4b39442e548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a59be5e285423a" /><Relationship Type="http://schemas.openxmlformats.org/officeDocument/2006/relationships/notesSlide" Target="/ppt/notesSlides/notesSlide6.xml" Id="Rf84c2e1e093a49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98630d3a544e8c" /><Relationship Type="http://schemas.openxmlformats.org/officeDocument/2006/relationships/notesSlide" Target="/ppt/notesSlides/notesSlide7.xml" Id="R0dd8470d1841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6aa243d27d4329" /><Relationship Type="http://schemas.openxmlformats.org/officeDocument/2006/relationships/notesSlide" Target="/ppt/notesSlides/notesSlide8.xml" Id="R926f0cb97c3242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7e2827ed924bcc" /><Relationship Type="http://schemas.openxmlformats.org/officeDocument/2006/relationships/notesSlide" Target="/ppt/notesSlides/notesSlide9.xml" Id="R60505208844c49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71c3a53b0b41d5" /><Relationship Type="http://schemas.openxmlformats.org/officeDocument/2006/relationships/notesSlide" Target="/ppt/notesSlides/notesSlide10.xml" Id="R7870172b98ae4b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af81eb86ff4321" /><Relationship Type="http://schemas.openxmlformats.org/officeDocument/2006/relationships/notesSlide" Target="/ppt/notesSlides/notesSlide11.xml" Id="R558c52d354f64b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9ced244c5a42d6" /><Relationship Type="http://schemas.openxmlformats.org/officeDocument/2006/relationships/notesSlide" Target="/ppt/notesSlides/notesSlide12.xml" Id="R87727bfb3b1d41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d94ca32dfb4089" /><Relationship Type="http://schemas.openxmlformats.org/officeDocument/2006/relationships/notesSlide" Target="/ppt/notesSlides/notesSlide13.xml" Id="Ra11cf35b4c734e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8d7e599f6414c" /><Relationship Type="http://schemas.openxmlformats.org/officeDocument/2006/relationships/notesSlide" Target="/ppt/notesSlides/notesSlide14.xml" Id="Re5c2d5cdd29f4a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59e5ec56f14b8d" /><Relationship Type="http://schemas.openxmlformats.org/officeDocument/2006/relationships/notesSlide" Target="/ppt/notesSlides/notesSlide15.xml" Id="Rd0f56362c1524f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05bdd17b434e53" /><Relationship Type="http://schemas.openxmlformats.org/officeDocument/2006/relationships/notesSlide" Target="/ppt/notesSlides/notesSlide16.xml" Id="R53e0bcdc7bcf43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b01f7e1d1f4aa6" /><Relationship Type="http://schemas.openxmlformats.org/officeDocument/2006/relationships/notesSlide" Target="/ppt/notesSlides/notesSlide17.xml" Id="R08632671ad164d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8cba646d224594" /><Relationship Type="http://schemas.openxmlformats.org/officeDocument/2006/relationships/notesSlide" Target="/ppt/notesSlides/notesSlide18.xml" Id="Ra01ce58b2cac41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6c5103229a4ae1" /><Relationship Type="http://schemas.openxmlformats.org/officeDocument/2006/relationships/notesSlide" Target="/ppt/notesSlides/notesSlide19.xml" Id="Re64bc90a431e4d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Generation Got Cheap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Review Is the Bottleneck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 engineering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green pipeline is necessary, not sufficient. Someone still has to understand what shipped.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5FC31F-B11B-478F-A634-2C8F600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BD8FC9-E334-48BD-A697-6488F5B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Phase 01 built it. Phase 02 proves you understand it.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562BDE-CBD9-4D56-B795-675E03D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500193-E75D-42A7-83E3-F2B88BA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Generation got cheap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42B017-3DCB-40BB-A3A9-F60C768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39460-1E14-46DC-86C8-3F4496B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Agents write more than you can read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4BC2C72-AF7A-4E30-B475-3B4BE1C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F1087B-49F5-4838-A0B2-E249A0E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green chat message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4779C2-35C8-40CC-8D5F-6E11CDE1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D16D73-83E8-4D4E-8D28-0B99FC3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4× the output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B0BCD-3005-4E48-8A31-6075F88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82E0B2-C9B8-4170-B852-B772006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Comprehension stayed scarce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898AF2-D75E-4499-9E56-D863FFC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A39975-2A75-4391-9F68-10C459B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Reading and judgment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AEB453-1E32-47CF-A818-BD6E2B0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A01A3B-BC9E-4494-BFF7-2F2B1A6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green CI run isn't understanding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5F6AD5-BCD2-4F5D-8F0A-41DD3ABC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0798D3-34BB-43E7-BF79-DD08DDD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review bottleneck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32043C-3FF0-42E3-8EF4-E1322EBA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9271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There are three kinds of broken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Build / lint / test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Machine-checkable. It won't compile or a test fails. Scanners find these.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Works, but wired wrong — auth in the wrong layer, secrets in client code. Invisible to tests.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Severity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Not all findings are equal. A security gap outranks a lint warning.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Scanners find only. You judge severity before anything gets fixed.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80B45F1-F22A-49BF-8CAC-22B3F936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691E92-3518-4C3A-8F91-4E5BD80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Scanners find. Fixers fix. Never the same step.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F59D859-B12E-4F4F-A71E-9D818F60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2743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BDD1302-7939-49B9-9B4E-8FDEADCE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/scan-errors</a:t>
            </a: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74274385-D43A-4F0E-BBD8-0979BB5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00425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>
            <a:solidFill>
              <a:srgbClr val="3D8D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F706B2-F9A2-44DF-8ADC-D100393C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2743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B2ACBB-E5C7-45CB-B7C0-B52EE45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/fix-errors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7AA4BC-A9D1-4F15-A97E-9220D23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2743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EB9A70-D56C-45A9-9263-D74A7970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/monitor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C7FFA2C8-6512-46BC-A8C4-6944305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00550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>
            <a:solidFill>
              <a:srgbClr val="3D8D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FD5EA37-7B96-405F-86CB-9905F416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43375"/>
            <a:ext cx="2743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76B8E17-AC43-48C1-AE5C-76774919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43375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/harden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4DFADC5-A152-44B0-9A7B-2B0FEB9D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Scanners never change code. That separation is what makes the report trustworthy.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BD7A5F0-B08E-4FEF-AF02-CF121810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6732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closing bracket is a discipline, not a command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Scan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find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judge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Fix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at the root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block if dirty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compound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green pipeline is necessary, not sufficient — someone still has to understand it.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3FE74F-0809-423E-8C90-DB0B77A8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35B76BE-D0BA-4695-9A8A-825ECBA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4× the output is not 4× the value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774963-A93D-4F44-A3F3-E02D5880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E25FBF-1B53-43AB-BE51-F42D2B1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Old bottleneck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2F9951-DE69-47D4-B2D8-23B47D9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01CC13-E99C-4431-B7D3-F3120D2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 we build it?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54F0B5-5276-473C-A6C3-61DBC56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F54065-B256-46AA-8EB9-CCDA86D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Typing code was the constraint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BB7C7E-154A-4FF7-BA0E-96C7769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60F9CA-AE4A-42C6-BB0D-5B8A150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Generation was expensive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276CC7-957D-4AAA-957E-28900A9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E66595-9FCC-485C-B6FA-6A7DAB6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bottleneck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71878F-F7DC-4D5F-99EA-937F876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52FEDF-1B3B-414A-B8FE-01A037E7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 anyone understand it?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FBF6AE-7B76-4EDA-B35A-48B9C971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7B6E5A-147A-4863-91D5-DDF6A28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Reading and judgment are the constraint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36A6EB-454C-4539-85B8-791C281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E621DB-4542-4190-B893-01C1C89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Comprehension is expensive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4D6BCC-6CC6-4061-BF82-9D8D61D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Comprehension debt: when 'it works' and 'we understand it' drift apart.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1012BD-4392-499D-83F3-C34EF1C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96256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1F54D3-C0A2-442D-AC8B-CFC8D2E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CCE8D1-62A8-47ED-AAD8-A8CD228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Ship like a professional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37B3D1-282E-40D4-9207-9A644A4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Commit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B787D-5CEC-48CA-B9A9-1115DDC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 checkpoint whose message explains why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7E6CE-3DA9-488D-AAE8-DB27B48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Quality gate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5A098B-E7E2-4B9B-BBE0-D75ACA7F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build, tests, no violations — blocks until clean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F29470-A6F5-474E-8882-BAE98461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Pull request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1EE6CA-87CA-40C8-A6D5-780B214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changes someone reviews before they join main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DC2060-A2AE-4FBA-B558-40518F5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Code review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78C60E-5D00-42DF-9ACC-439ED19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correct? safe? consistent? the durable human skill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6056DC-A527-42BD-9730-A743B6A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77224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Treat every agent like a new contractor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 varies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Ability, context, enthusiasm, and reliability vary—even when confidence does not.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Onboard deliberately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Give coding standards, stack, Git, tests, business rules, and decision boundaries.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Trust progressively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Read → propose → bounded change → broader authority only after evidence.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Confidence is a claim. Evidence earns trust.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Put each check at the right boundary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seconds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Commit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under 1 min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Push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async checks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 prep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stringent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Merge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current proof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Commit and continue: parallelism reduces waiting, not scrutiny.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7800517-047B-4335-931F-0857920D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34003F-2BB1-49B9-988B-09132E6C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failed evaluation starts a repair loop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C696D3-DFEB-4A4A-A5B4-8FA252BA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E0F6F9-1E11-4D3A-BEE3-134DD38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85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Classify failure</a:t>
            </a: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159ED15F-98D0-4132-BCB4-D45B04B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F64D1B-495B-4A57-84DD-BFFBDE5F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1E2CD-9CFD-4754-B4F9-8BD605B0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1855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Repair or escalate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5BEEE00E-3DCA-415E-9F81-468AAE11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22A4AB-0BE0-40FC-A0D0-C6AB5C9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F5259C-C3E1-4D88-8765-5A2179CC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1855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Revalidate commit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87BEC5-EF42-4DCE-82E5-6F2577A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Rerun the failed check, affected checks, and the final invariant suite.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997A0F-8BAE-438C-B08B-F87FAEC4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86591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1F54D3-C0A2-442D-AC8B-CFC8D2E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CCE8D1-62A8-47ED-AAD8-A8CD228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Move humans from inspection to oversight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37B3D1-282E-40D4-9207-9A644A4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AI gathers evidence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B787D-5CEC-48CA-B9A9-1115DDC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tests, coverage, risk, uncertainty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7E6CE-3DA9-488D-AAE8-DB27B48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AI repairs bounded failures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5A098B-E7E2-4B9B-BBE0-D75ACA7F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narrow, reversible, no product decision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F29470-A6F5-474E-8882-BAE98461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Humans handle exceptions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1EE6CA-87CA-40C8-A6D5-780B214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ambiguity, policy, and high-risk change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DC2060-A2AE-4FBA-B558-40518F5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Autonomy is earned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78C60E-5D00-42DF-9ACC-439ED19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low-risk changes first; audit the outcomes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6056DC-A527-42BD-9730-A743B6A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77224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7800517-047B-4335-931F-0857920D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34003F-2BB1-49B9-988B-09132E6C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clever part: standards that compound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C696D3-DFEB-4A4A-A5B4-8FA252BA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E0F6F9-1E11-4D3A-BEE3-134DD38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85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 finds a gap</a:t>
            </a: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159ED15F-98D0-4132-BCB4-D45B04B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F64D1B-495B-4A57-84DD-BFFBDE5F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1E2CD-9CFD-4754-B4F9-8BD605B0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185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Rule lands in pr-requirements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5BEEE00E-3DCA-415E-9F81-468AAE11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22A4AB-0BE0-40FC-A0D0-C6AB5C9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F5259C-C3E1-4D88-8765-5A2179CC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185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Every future commit checked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87BEC5-EF42-4DCE-82E5-6F2577A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bar rises by itself. The same mistake can't pass twice.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997A0F-8BAE-438C-B08B-F87FAEC4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86591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279CBF-FFFC-47F6-9764-1CCAC50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C84583-3F7B-4CE7-B55A-B8119A90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Committed rules beat personal memory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5CE752-2C56-4B79-AB68-E8F0A8C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4D83C70-21DB-4EA4-86E6-7E94709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Committed rules (git)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974DFD-7BE7-453E-9524-8232E32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118DD8-926D-47F7-91C3-10400F58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Survive a new hire's laptop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632494-AE0F-4F91-BEC0-629BDBD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8441E1-9DD7-4276-920D-A6088E92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Team truth, versioned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35A5A1-8449-40BB-A63B-58006785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DBCA9B-7F53-4B84-AD32-95DFA56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Reviewed like code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8EEC51-53D8-41CF-9F62-C270B0C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3BD351-8721-4B9C-9215-87306257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 Memories (personal)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8ABC7D-E7FC-4918-85A4-13ADC79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5294174-EE77-4EC5-B86D-EA3465A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 to one machine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84ABBF-69B1-4703-BC6F-96F50A57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DE242D-E522-414A-9CC9-1AD890B6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 shared with the team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2719D3D-0638-4DEB-809F-09940235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705570C-17E6-45C5-A6BD-3A818433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Lost on reset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890C93C-D7A9-460C-AE13-257AB50B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Team truth lives in git. Personal memory doesn't.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F159B6-CDBE-46E3-AE96-E26ED16E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953905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3899A8D-4177-4777-B1E5-D45D13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9CFC8-372D-44CF-92DE-E166885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Observability lives in the diff, not the chat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4B767C-1418-4233-8758-07AB9259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The audit trail you'd show a customer is not a green chat message.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094C99-2458-4B33-AD71-94B7A0E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E537EB-E8E5-44CC-BFAA-4B49433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249FA1-C810-4F74-8BDF-4966F34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0520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what actually changed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46363B-135B-4871-9B7E-64E6DE0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A23EBE-B518-41AD-9AA5-12F61A7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Commits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C69078-1E6A-4C4B-B19C-82A0AA2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7192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why it changed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324D23-580C-4246-973C-77E517B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0CE280-A269-42D8-B2C8-0E504F3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output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E3CA5B-CCEE-43FC-8B58-E41671E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proof it runs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2FC61D-D6C2-42D2-B050-95C65CF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54B7DD1-75F5-4DA4-B029-0A01FA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Pull requests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7C48FF-ECD4-41D4-86A5-8998E6D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0537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who reviewed and approved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6B087E-A351-456D-B61F-63D70D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28374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8BDA0C-B9DC-4586-B08E-D159B9AC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B451D7-437A-401C-8627-1A6DFD6E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closing bracket runs on a schedule too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A3C6EF-3427-4596-94EA-C31B5259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2D75C2-396F-458D-ABC0-D5562084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Tier 1 — build · lint · test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B5DDAA-3AD2-4485-8A7A-7D8F50C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CBDCDA5-FA48-4F06-8178-64E64D41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Runs on a cron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D56DA2E-EEE7-48CB-BF4E-DB120A1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F27903F-6E1A-43B8-8F7F-C79E24F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 agent API key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09608C-3806-466B-AEE8-4E4A7D1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1FBD9D-BA43-464F-AC86-0EB6472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Proves the repo still compiles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C4E2443-AF29-4E8C-AA8E-04C9E8C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6A5AE4-50DB-471C-8B78-5503D47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Tier 2 — scan → fix → monitor → harden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2932D6-23BE-4FF7-B451-8DB88417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295951-675F-4A82-8380-B031D07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Opens a maintenance PR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F633F28-CC8F-4366-BE09-A93EF5A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B176E0-DDAD-49F8-83B6-F656DDD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Humans still merge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5C9A7B7-D47C-4895-B1DB-43E78E1B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5E7A5-5CEF-4BFE-B1CC-E3DB91D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Needs boundaries + budget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AC7F080-47F5-49A8-81FC-F7F99FC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Auto-merge to main is out of scope until your team documents the exception.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7552784-47B6-4B90-97AF-2B51562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6566808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4D73F2E-46E2-408D-BED1-B8001F0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5C2869-EFC0-4E1D-8551-EBCB71F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This phase teaches the closing bracket as a process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AB1ACAA-7358-468A-9FB9-9E2515F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Scan honestly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160E22C-3A4D-4E2C-ACD4-D35546A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classify before you fix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C0B67F-232B-47D3-A6DC-0147DBD0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Fix at the root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101DD57-9646-4866-B340-53E2DAE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not whack-a-mole symptoms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6B5C8CD-0BB3-4807-8D1E-1F938540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Gate before ship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E3C9ACA-25A5-4367-B30D-852D9AD3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clean, or it doesn't go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F4551C7-0BAA-4109-825B-3814C6D9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Review to compound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B2D521-40FA-4032-94F4-0CB9FFA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every gap becomes a rule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4C6306-8551-483D-AC2C-64B22668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We don't teach people to trust the pipeline. We teach them to prove what shipped.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977301-8BDC-4E94-AAF9-CB208FF2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794284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A5B7EF6-A4C3-4B83-8678-AAF4638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D1B0D38-0E35-4A47-B51D-C5A507BA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What runs in the lab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FA3557A-99A9-4BB4-9228-3A65822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9403E7-164A-4765-8AED-D6324C54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/scan-errors</a:t>
            </a: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F0DE41F5-691F-4B28-81D7-3F4F7B1B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7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4784B2-D9A9-4646-B2B4-BFA334F4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B269BB-6258-4755-B638-446FB89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/fix-errors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3C1A8400-E746-432D-9918-7C2D9781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2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97578D0-FE3C-431E-B5A2-6872B94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7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4B194E-6227-4652-A7C5-D3A63292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7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/monitor</a:t>
            </a: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82F80952-9EE9-4C9B-8E8F-886DC5A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7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433DDC6-947B-4F3F-B9ED-2D42772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2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29FEBF-2CB5-4D4B-93CC-2C1CB15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2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/harden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B59D8903-9FDE-4D1C-936B-FD5DBC88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2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133E37C-CC50-4A12-A5BA-9D313E33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7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4CC2058-4CC7-432A-A951-4DF12AE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7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/commit pr</a:t>
            </a:r>
          </a:p>
        </p:txBody>
      </p:sp>
      <p:sp>
        <p:nvSpPr>
          <p:cNvPr id="18" name="Right Arrow 17">
            <a:extLst xmlns:a="http://schemas.openxmlformats.org/drawingml/2006/main">
              <a:ext uri="{FF2B5EF4-FFF2-40B4-BE49-F238E27FC236}">
                <a16:creationId xmlns:a16="http://schemas.microsoft.com/office/drawing/2014/main" id="{B44F0DF1-134C-4A46-A992-50552EEF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7" y="3843337"/>
            <a:ext cx="2000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517076F-803D-4BCA-A9DC-516E586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2" y="3600450"/>
            <a:ext cx="1676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51F12C-18B7-47F6-AF7B-2BC3EA4D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2" y="3600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/pr-eval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A268C1-B1BF-48D0-AF30-8CC5203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Read each report before the fixer runs. Nobody watches the scroll.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C8B6CD-6ECB-4EDC-BC08-FEA7D8E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017250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02 QUALITY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app gets cleaner. The discipline is the deliverable.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the repo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Cleaner Phase 01 app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Error + monitor reports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Stronger pr-requirements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Optional nightly Tier 1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your head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quality chain before every ship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Gates are necessary, not sufficient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Observability in diffs and PRs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path to org guardrails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B21ACF-620B-40C9-B220-C3D13395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Now predict, then run.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5775F2-43BD-48FD-B7FA-C752A9C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Before the scanner runs, guess what will break in the app you were proud of yesterday.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5276D5-814B-4F6E-A917-AE604E8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Prediction prompts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DD915C-0D3F-4C87-9C07-1AA15F9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EE523B-D0FF-4D35-B31A-2DC74B4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lint or type errors are hiding?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1F4381-F411-4E87-94B9-6780532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696FD64-6812-436A-99DA-D116EDB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will /monitor find that the tests missed?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B7670A-86BE-4724-9018-2188A70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6C9B19-AC43-4FDB-811F-F1FE1DF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Which AI-written function can nobody explain?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BA07BE-4C64-4525-B260-B3E5F02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470166-B36F-473B-B901-56DFE0E8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would you refuse to merge even if CI is green?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E78472-E93F-4686-8876-181F822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481334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2026-07-27T18:11:06.1460000Z</dcterms:created>
  <dcterms:modified xsi:type="dcterms:W3CDTF">2026-07-27T18:11:06.1460000Z</dcterms:modified>
</coreProperties>
</file>